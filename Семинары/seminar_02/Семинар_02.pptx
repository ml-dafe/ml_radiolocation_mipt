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7"/>
  </p:notesMasterIdLst>
  <p:sldIdLst>
    <p:sldId id="266" r:id="rId2"/>
    <p:sldId id="305" r:id="rId3"/>
    <p:sldId id="257" r:id="rId4"/>
    <p:sldId id="319" r:id="rId5"/>
    <p:sldId id="355" r:id="rId6"/>
    <p:sldId id="354" r:id="rId7"/>
    <p:sldId id="340" r:id="rId8"/>
    <p:sldId id="335" r:id="rId9"/>
    <p:sldId id="261" r:id="rId10"/>
    <p:sldId id="312" r:id="rId11"/>
    <p:sldId id="356" r:id="rId12"/>
    <p:sldId id="320" r:id="rId13"/>
    <p:sldId id="357" r:id="rId14"/>
    <p:sldId id="313" r:id="rId15"/>
    <p:sldId id="370" r:id="rId16"/>
    <p:sldId id="321" r:id="rId17"/>
    <p:sldId id="358" r:id="rId18"/>
    <p:sldId id="363" r:id="rId19"/>
    <p:sldId id="365" r:id="rId20"/>
    <p:sldId id="364" r:id="rId21"/>
    <p:sldId id="366" r:id="rId22"/>
    <p:sldId id="368" r:id="rId23"/>
    <p:sldId id="367" r:id="rId24"/>
    <p:sldId id="359" r:id="rId25"/>
    <p:sldId id="369" r:id="rId26"/>
    <p:sldId id="360" r:id="rId27"/>
    <p:sldId id="339" r:id="rId28"/>
    <p:sldId id="361" r:id="rId29"/>
    <p:sldId id="362" r:id="rId30"/>
    <p:sldId id="374" r:id="rId31"/>
    <p:sldId id="375" r:id="rId32"/>
    <p:sldId id="376" r:id="rId33"/>
    <p:sldId id="371" r:id="rId34"/>
    <p:sldId id="372" r:id="rId35"/>
    <p:sldId id="373" r:id="rId36"/>
    <p:sldId id="315" r:id="rId37"/>
    <p:sldId id="334" r:id="rId38"/>
    <p:sldId id="377" r:id="rId39"/>
    <p:sldId id="378" r:id="rId40"/>
    <p:sldId id="379" r:id="rId41"/>
    <p:sldId id="380" r:id="rId42"/>
    <p:sldId id="381" r:id="rId43"/>
    <p:sldId id="383" r:id="rId44"/>
    <p:sldId id="384" r:id="rId45"/>
    <p:sldId id="385" r:id="rId46"/>
    <p:sldId id="386" r:id="rId47"/>
    <p:sldId id="389" r:id="rId48"/>
    <p:sldId id="388" r:id="rId49"/>
    <p:sldId id="390" r:id="rId50"/>
    <p:sldId id="391" r:id="rId51"/>
    <p:sldId id="382" r:id="rId52"/>
    <p:sldId id="393" r:id="rId53"/>
    <p:sldId id="394" r:id="rId54"/>
    <p:sldId id="395" r:id="rId55"/>
    <p:sldId id="392" r:id="rId5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58"/>
      <p:bold r:id="rId59"/>
      <p:italic r:id="rId60"/>
      <p:boldItalic r:id="rId61"/>
    </p:embeddedFont>
    <p:embeddedFont>
      <p:font typeface="Cambria Math" panose="02040503050406030204" pitchFamily="18" charset="0"/>
      <p:regular r:id="rId62"/>
    </p:embeddedFont>
    <p:embeddedFont>
      <p:font typeface="Nunito" panose="020B0604020202020204" charset="-52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0B6F39-8058-48A1-B1E6-BB775B942AAB}">
  <a:tblStyle styleId="{2B0B6F39-8058-48A1-B1E6-BB775B942A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1901" autoAdjust="0"/>
  </p:normalViewPr>
  <p:slideViewPr>
    <p:cSldViewPr snapToGrid="0">
      <p:cViewPr varScale="1">
        <p:scale>
          <a:sx n="200" d="100"/>
          <a:sy n="200" d="100"/>
        </p:scale>
        <p:origin x="55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6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8138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8ea1e0c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8ea1e0c8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5242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903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278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О разбиении и возможной утечке.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Мы используем официальное разбиение авторов OS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Пары 256×256 — это четвертинки снимков 512×512, и в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train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test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встречаются </a:t>
            </a:r>
            <a:r>
              <a:rPr lang="ru-RU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соседние фрагменты одной и той же сцены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с общими дорогами и кварталами. Модель может частично «узнавать» местность, а не учиться сопоставлять модальности, поэтому метрики на тесте, скорее всего, </a:t>
            </a:r>
            <a:r>
              <a:rPr lang="ru-RU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завышены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В конце семинара проверим модель на другом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датасете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и посмотрим, насколько метрики переносятся. Честный вариант — делить данные по исходным сценам, чтобы фрагменты одной сцены не попадали в разные части выборки.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5911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7563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4251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390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2345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6032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981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 режиме обучения применяем аугментации: отражение и поворот на 90°, </a:t>
            </a:r>
            <a:r>
              <a:rPr lang="ru-RU" sz="11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одинаковые для SAR и </a:t>
            </a:r>
            <a:r>
              <a:rPr lang="ru-RU" sz="1100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sz="11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– иначе пара перестанет совпадать.</a:t>
            </a:r>
          </a:p>
        </p:txBody>
      </p:sp>
    </p:spTree>
    <p:extLst>
      <p:ext uri="{BB962C8B-B14F-4D97-AF65-F5344CB8AC3E}">
        <p14:creationId xmlns:p14="http://schemas.microsoft.com/office/powerpoint/2010/main" val="3385627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 режиме обучения применяем аугментации: отражение и поворот на 90°, </a:t>
            </a:r>
            <a:r>
              <a:rPr lang="ru-RU" sz="11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одинаковые для SAR и </a:t>
            </a:r>
            <a:r>
              <a:rPr lang="ru-RU" sz="1100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sz="11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– иначе пара перестанет совпадать.</a:t>
            </a:r>
          </a:p>
        </p:txBody>
      </p:sp>
    </p:spTree>
    <p:extLst>
      <p:ext uri="{BB962C8B-B14F-4D97-AF65-F5344CB8AC3E}">
        <p14:creationId xmlns:p14="http://schemas.microsoft.com/office/powerpoint/2010/main" val="2201870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3490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05151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76965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144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SAR заметно темнее оптики, и почти в каждом SAR-снимке есть и 0, и 255: авторы уже растянули контраст с насыщением ярких точек. Распределения яркости двух модальностей сильно различаются — поэтому нормализуем каждый снимок отдельно (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InstanceNorm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на входе сети).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87591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SAR заметно темнее оптики, и почти в каждом SAR-снимке есть и 0, и 255: авторы уже растянули контраст с насыщением ярких точек. Распределения яркости двух модальностей сильно различаются — поэтому нормализуем каждый снимок отдельно (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InstanceNorm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на входе сети).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16131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Корреляция пикселей внутри пар </a:t>
            </a:r>
            <a:r>
              <a:rPr lang="ru-RU" dirty="0"/>
              <a:t>в среднем около нуля и меняет знак от сцены к сцене — по яркости пары сопоставлять нельзя. 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Именно поэтому прямое сравнение пикселей (NCC) здесь не работает и нужна обученная метрика — сеть, которая находит общие для двух модальностей структурные признаки.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59663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46681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4031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57732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07811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Почему трудный негатив: случайный чужой снимок почти всегда и так далеко, </a:t>
            </a:r>
            <a:r>
              <a:rPr lang="ru-RU" sz="11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лосс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быстро </a:t>
            </a:r>
            <a:r>
              <a:rPr lang="ru-RU" sz="11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зануляется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 сеть перестаёт учиться. Обратите внимание: размер </a:t>
            </a:r>
            <a:r>
              <a:rPr lang="ru-RU" sz="11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батча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здесь — это ещё и число кандидатов в негативы.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11600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88352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Размер галереи N указываем всегда!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5746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Размер галереи N указываем всегда!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0340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Размер галереи N указываем всегда!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24302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45780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35151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8216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449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Валидационный</a:t>
            </a:r>
            <a:r>
              <a:rPr lang="ru-RU" dirty="0"/>
              <a:t> загрузчик не перемешивает данные, соседние фрагменты одной сцены попадают в один </a:t>
            </a:r>
            <a:r>
              <a:rPr lang="ru-RU" dirty="0" err="1"/>
              <a:t>батч</a:t>
            </a:r>
            <a:r>
              <a:rPr lang="ru-RU" dirty="0"/>
              <a:t>, и трудные негативы там труднее. На вопрос «когда можно было прекращать?» ответ виден: Recall@1 выходит на плато к 10–15-й эпохе.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82363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7278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44664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Случайный выбор дал бы Recall@1 = 1/N (для теста около 0.0006) — модель лучше на порядки.</a:t>
            </a:r>
          </a:p>
          <a:p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Precision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Recall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/ F1 считаются по всем N² парам, из которых истинных всего N. Поэтому даже небольшая доля ложных срабатываний заметно снижает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Precision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Это ещё одна причина смотреть на ROC-AUC и FPR95.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37169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5014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Для миллионов снимков используют приближённый поиск ближайших соседей (например, FAISS).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02130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Для SAR-запроса показываем 5 ближайших </a:t>
            </a:r>
            <a:r>
              <a:rPr lang="ru-RU" b="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b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из галереи. Зелёная рамка — правильный снимок.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поиске он найден верно, а при проверке по порогу получил бы ответ «разные места».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15220347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Для SAR-запроса показываем 5 ближайших </a:t>
            </a:r>
            <a:r>
              <a:rPr lang="ru-RU" b="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b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из галереи. Зелёная рамка — правильный снимок.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На что обратить внимание в ошибках: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обычно путаются однородные сцены (поля, вода, лес) и похожие кварталы. Часто ближайшим оказывается </a:t>
            </a:r>
            <a:r>
              <a:rPr lang="ru-RU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соседний фрагмент той же сцены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— это и есть те «почти одинаковые» снимки, из-за которых Recall@1 падает не по вине модели.</a:t>
            </a:r>
            <a:endParaRPr lang="ru-RU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19350081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Для SAR-запроса показываем 5 ближайших </a:t>
            </a:r>
            <a:r>
              <a:rPr lang="ru-RU" b="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b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из галереи. Зелёная рамка — правильный снимок.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40257147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Для SAR-запроса показываем 5 ближайших </a:t>
            </a:r>
            <a:r>
              <a:rPr lang="ru-RU" b="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b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из галереи. Зелёная рамка — правильный снимок.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42791965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Для SAR-запроса показываем 5 ближайших </a:t>
            </a:r>
            <a:r>
              <a:rPr lang="ru-RU" b="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b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из галереи. Зелёная рамка — правильный снимок.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12909787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На новом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датасете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метрики заметно хуже, чем на тесте OS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хотя тип данных тот же. Две причины: смена домена (другие города, застройка, условия съёмки) и, вероятно, завышенные метрики на OS из-за соседних фрагментов одной сцены в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train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test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36002517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Порог, подобранный на OS, на новом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датасете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тоже уже не оптимален — распределения расстояний сдвинулись. На этом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датасете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будет ДЗ 1. 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10265586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673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7071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2649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576551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66497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4777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2359958"/>
            <a:ext cx="9144000" cy="2783691"/>
          </a:xfrm>
          <a:prstGeom prst="rect">
            <a:avLst/>
          </a:prstGeom>
          <a:solidFill>
            <a:srgbClr val="0069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871950"/>
            <a:ext cx="8520600" cy="13625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4400" dirty="0" err="1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Машинное</a:t>
            </a:r>
            <a:r>
              <a:rPr lang="en-GB" sz="44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 </a:t>
            </a:r>
            <a:r>
              <a:rPr lang="en-GB" sz="4400" dirty="0" err="1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Обучение</a:t>
            </a:r>
            <a:endParaRPr lang="ru-RU" sz="4400" dirty="0">
              <a:solidFill>
                <a:schemeClr val="dk1"/>
              </a:solidFill>
              <a:latin typeface="Nunito" panose="020B0604020202020204" charset="-52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-RU" sz="44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В Задачах Радиолокации</a:t>
            </a:r>
            <a:endParaRPr sz="4400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t="31266" b="27950"/>
          <a:stretch/>
        </p:blipFill>
        <p:spPr>
          <a:xfrm>
            <a:off x="153000" y="147925"/>
            <a:ext cx="1775250" cy="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3282" y="202886"/>
            <a:ext cx="801467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11700" y="4271550"/>
            <a:ext cx="2359959" cy="7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b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МФТИ, ПИШ РПИ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Осень</a:t>
            </a: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2026/2027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68BDA-96CA-4ADC-BAD7-9D151CF9ADAA}"/>
              </a:ext>
            </a:extLst>
          </p:cNvPr>
          <p:cNvSpPr txBox="1"/>
          <p:nvPr/>
        </p:nvSpPr>
        <p:spPr>
          <a:xfrm>
            <a:off x="4289212" y="3663571"/>
            <a:ext cx="48205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Авторы:</a:t>
            </a:r>
          </a:p>
          <a:p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Гнатов Михаил Андреевич</a:t>
            </a:r>
          </a:p>
          <a:p>
            <a:r>
              <a:rPr lang="ru-RU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Доброжанский</a:t>
            </a:r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Владимир Алексеевич</a:t>
            </a: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FBCDC-6F83-4920-A6D3-701104C497C5}"/>
              </a:ext>
            </a:extLst>
          </p:cNvPr>
          <p:cNvSpPr txBox="1"/>
          <p:nvPr/>
        </p:nvSpPr>
        <p:spPr>
          <a:xfrm>
            <a:off x="1358396" y="2359958"/>
            <a:ext cx="62295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Семинар 2</a:t>
            </a:r>
            <a:br>
              <a:rPr lang="ru-RU" sz="36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ru-RU" sz="36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ru-RU" sz="36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Optical</a:t>
            </a:r>
            <a:r>
              <a:rPr lang="ru-RU" sz="36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6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Patch</a:t>
            </a:r>
            <a:r>
              <a:rPr lang="ru-RU" sz="36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6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Matching</a:t>
            </a:r>
            <a:endParaRPr lang="ru-RU" sz="36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3696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Темы на сегодня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032187"/>
            <a:ext cx="8520600" cy="3536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Patch Matching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OS dataset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План решения задачи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Домашнее задание 1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51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0" y="1636621"/>
            <a:ext cx="9144000" cy="15048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b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-GB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Patch Matching</a:t>
            </a: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60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Matching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Google Shape;86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663327"/>
                <a:ext cx="8520600" cy="390552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07950" lvl="0" indent="0">
                  <a:buClr>
                    <a:schemeClr val="dk1"/>
                  </a:buClr>
                  <a:buSzPts val="1900"/>
                  <a:buNone/>
                </a:pP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Цель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: Найти соответствия между SAR и </a:t>
                </a:r>
                <a:r>
                  <a:rPr lang="en-US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изображениями одной и той же местности.</a:t>
                </a:r>
                <a:endParaRPr lang="en-US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107950" lvl="0" indent="0">
                  <a:buClr>
                    <a:schemeClr val="dk1"/>
                  </a:buClr>
                  <a:buSzPts val="1900"/>
                  <a:buNone/>
                </a:pPr>
                <a:r>
                  <a:rPr lang="en-US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Patch matching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.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Осуществить сопоставление между наборами из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𝑁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SAR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изображений и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изображений 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одного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физического размера. Для каждого SAR-изображения найти соответствующее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-изображение из набора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.</a:t>
                </a:r>
              </a:p>
              <a:p>
                <a:pPr marL="107950" lvl="0" indent="0">
                  <a:buClr>
                    <a:schemeClr val="dk1"/>
                  </a:buClr>
                  <a:buSzPts val="1900"/>
                  <a:buNone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В данном семинаре мы не будем решать задачу поиска оптимальной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гомографии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.</a:t>
                </a:r>
              </a:p>
            </p:txBody>
          </p:sp>
        </mc:Choice>
        <mc:Fallback xmlns="">
          <p:sp>
            <p:nvSpPr>
              <p:cNvPr id="86" name="Google Shape;86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663327"/>
                <a:ext cx="8520600" cy="3905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0519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3834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Matching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83803" y="714884"/>
            <a:ext cx="8520600" cy="502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 кадров для данной задачи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6C2F82-8154-40EC-9F53-AFCD24AB6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12" y="1100468"/>
            <a:ext cx="8574250" cy="351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1800"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fld id="{00000000-1234-1234-1234-123412341234}" type="slidenum">
              <a:rPr lang="en-GB">
                <a:solidFill>
                  <a:schemeClr val="lt1"/>
                </a:solidFill>
              </a:rPr>
              <a:pPr/>
              <a:t>6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611825"/>
            <a:ext cx="9144000" cy="152962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/>
          <a:p>
            <a:pPr lvl="0">
              <a:buSzPts val="990"/>
            </a:pPr>
            <a:r>
              <a:rPr lang="en-US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OS dataset</a:t>
            </a:r>
            <a:endParaRPr lang="ru-RU" b="1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6" y="3973563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3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152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1800"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pPr lvl="0"/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OS dataset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2"/>
            <a:ext cx="8520600" cy="39506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107948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500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Датасет</a:t>
            </a:r>
            <a:r>
              <a:rPr lang="ru-RU" sz="15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с которым будем работать на семинаре: </a:t>
            </a:r>
            <a:r>
              <a:rPr lang="en-US" sz="15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OS dataset</a:t>
            </a:r>
            <a:r>
              <a:rPr lang="ru-RU" sz="15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07948" indent="0">
              <a:lnSpc>
                <a:spcPct val="11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Это набор данных высокого разрешения, состоящий из совместно зарегистрированных </a:t>
            </a:r>
            <a:r>
              <a:rPr lang="en-US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 </a:t>
            </a: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 </a:t>
            </a:r>
            <a:r>
              <a:rPr lang="en-US" sz="15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изображений.</a:t>
            </a:r>
          </a:p>
          <a:p>
            <a:pPr marL="393690" indent="-285743">
              <a:lnSpc>
                <a:spcPct val="110000"/>
              </a:lnSpc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Радиолокационные изображения получены с китайского спутника C-диапазона Gaofen-3 в режиме </a:t>
            </a:r>
            <a:r>
              <a:rPr lang="ru-RU" sz="15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Spotlight</a:t>
            </a: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393690" indent="-285743">
              <a:lnSpc>
                <a:spcPct val="110000"/>
              </a:lnSpc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Оптические изображения собраны с платформы </a:t>
            </a:r>
            <a:r>
              <a:rPr lang="ru-RU" sz="15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Google</a:t>
            </a: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Earth.</a:t>
            </a:r>
            <a:endParaRPr lang="ru-RU" sz="15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690" indent="-285743">
              <a:lnSpc>
                <a:spcPct val="110000"/>
              </a:lnSpc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Все фрагменты обрезаны из изображений с </a:t>
            </a:r>
            <a:r>
              <a:rPr lang="ru-RU" sz="15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геокодированием</a:t>
            </a: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393690" indent="-285743">
              <a:lnSpc>
                <a:spcPct val="110000"/>
              </a:lnSpc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Разрешение изображений составляет 1 м. </a:t>
            </a:r>
            <a:endParaRPr lang="en-US" sz="15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690" indent="-285743">
              <a:lnSpc>
                <a:spcPct val="110000"/>
              </a:lnSpc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Набор данных состоит из 2673 неперекрывающихся пар размером 512х512 и 10692 неперекрывающихся пар размером 256х256.</a:t>
            </a:r>
          </a:p>
          <a:p>
            <a:pPr marL="393690" indent="-285743">
              <a:lnSpc>
                <a:spcPct val="110000"/>
              </a:lnSpc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Все изображения 8-битные одноканальные.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fld id="{00000000-1234-1234-1234-123412341234}" type="slidenum">
              <a:rPr lang="en-GB">
                <a:solidFill>
                  <a:schemeClr val="lt1"/>
                </a:solidFill>
              </a:rPr>
              <a:pPr/>
              <a:t>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1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1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5944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1800"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pPr lvl="0"/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OS dataset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2"/>
            <a:ext cx="8520600" cy="39506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107948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Примеры пар изображений в наборе данных</a:t>
            </a: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fld id="{00000000-1234-1234-1234-123412341234}" type="slidenum">
              <a:rPr lang="en-GB">
                <a:solidFill>
                  <a:schemeClr val="lt1"/>
                </a:solidFill>
              </a:rPr>
              <a:pPr/>
              <a:t>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1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1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56EECB-604A-4FBC-B597-D49A8E2B7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178" y="1293821"/>
            <a:ext cx="1481471" cy="148147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456C2E-6661-44CC-A3CA-26DCECDF95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1" y="1293819"/>
            <a:ext cx="1481473" cy="14814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7F351F-ED47-4212-A929-09A2C2D781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3" y="1293818"/>
            <a:ext cx="1481472" cy="148147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9B94C8-7DA8-44A1-A99F-6D7754686E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2718" y="1293822"/>
            <a:ext cx="1481473" cy="14814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7E68F8-2812-41B5-83AC-8FAEB2C9D9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9178" y="2952652"/>
            <a:ext cx="1480610" cy="148061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068944-AAE5-4313-B07F-67EC33A1AD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1" y="2950290"/>
            <a:ext cx="1480610" cy="148061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9940B15-BC85-4B7F-B767-BC9462E8F4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35" y="2952652"/>
            <a:ext cx="1480610" cy="148061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B6DE0FE-AE8B-4C7A-9781-ABBD9F8FF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82718" y="2952653"/>
            <a:ext cx="1481473" cy="148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48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9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611824"/>
            <a:ext cx="9144000" cy="15296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>
              <a:buSzPts val="990"/>
            </a:pP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План решения задачи</a:t>
            </a: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10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0CA073-579D-4EB5-9316-635C57A495E0}"/>
              </a:ext>
            </a:extLst>
          </p:cNvPr>
          <p:cNvSpPr txBox="1"/>
          <p:nvPr/>
        </p:nvSpPr>
        <p:spPr>
          <a:xfrm>
            <a:off x="226208" y="901981"/>
            <a:ext cx="8520600" cy="307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AutoNum type="arabicPeriod"/>
            </a:pPr>
            <a:r>
              <a:rPr lang="ru-RU" sz="1800" dirty="0">
                <a:latin typeface="Nunito" panose="020B0604020202020204" charset="-52"/>
              </a:rPr>
              <a:t>Постановка целевых метрик.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ru-RU" sz="1800" dirty="0">
                <a:latin typeface="Nunito" panose="020B0604020202020204" charset="-52"/>
              </a:rPr>
              <a:t>Подготовка данных и разведочный анализ (EDA). </a:t>
            </a:r>
            <a:endParaRPr lang="en-US" sz="1800" dirty="0">
              <a:latin typeface="Nunito" panose="020B0604020202020204" charset="-52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ru-RU" sz="1800" dirty="0">
                <a:latin typeface="Nunito" panose="020B0604020202020204" charset="-52"/>
              </a:rPr>
              <a:t>Подготовка модели: сиамская сеть + </a:t>
            </a:r>
            <a:r>
              <a:rPr lang="ru-RU" sz="1800" dirty="0" err="1">
                <a:latin typeface="Nunito" panose="020B0604020202020204" charset="-52"/>
              </a:rPr>
              <a:t>triplet</a:t>
            </a:r>
            <a:r>
              <a:rPr lang="ru-RU" sz="1800" dirty="0">
                <a:latin typeface="Nunito" panose="020B0604020202020204" charset="-52"/>
              </a:rPr>
              <a:t> </a:t>
            </a:r>
            <a:r>
              <a:rPr lang="ru-RU" sz="1800" dirty="0" err="1">
                <a:latin typeface="Nunito" panose="020B0604020202020204" charset="-52"/>
              </a:rPr>
              <a:t>loss</a:t>
            </a:r>
            <a:r>
              <a:rPr lang="ru-RU" sz="1800" dirty="0">
                <a:latin typeface="Nunito" panose="020B0604020202020204" charset="-52"/>
              </a:rPr>
              <a:t> с самым трудным негативом в </a:t>
            </a:r>
            <a:r>
              <a:rPr lang="ru-RU" sz="1800" dirty="0" err="1">
                <a:latin typeface="Nunito" panose="020B0604020202020204" charset="-52"/>
              </a:rPr>
              <a:t>батче</a:t>
            </a:r>
            <a:r>
              <a:rPr lang="ru-RU" sz="1800" dirty="0">
                <a:latin typeface="Nunito" panose="020B0604020202020204" charset="-52"/>
              </a:rPr>
              <a:t>. </a:t>
            </a:r>
            <a:endParaRPr lang="en-US" sz="1800" dirty="0">
              <a:latin typeface="Nunito" panose="020B0604020202020204" charset="-52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ru-RU" sz="1800" dirty="0">
                <a:latin typeface="Nunito" panose="020B0604020202020204" charset="-52"/>
              </a:rPr>
              <a:t>Обучение модели. </a:t>
            </a:r>
            <a:endParaRPr lang="en-US" sz="1800" dirty="0">
              <a:latin typeface="Nunito" panose="020B0604020202020204" charset="-52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ru-RU" sz="1800" dirty="0">
                <a:latin typeface="Nunito" panose="020B0604020202020204" charset="-52"/>
              </a:rPr>
              <a:t>Проверка метрик сопоставления: </a:t>
            </a:r>
            <a:r>
              <a:rPr lang="ru-RU" sz="1800" dirty="0" err="1">
                <a:latin typeface="Nunito" panose="020B0604020202020204" charset="-52"/>
              </a:rPr>
              <a:t>Recall@K</a:t>
            </a:r>
            <a:r>
              <a:rPr lang="ru-RU" sz="1800" dirty="0">
                <a:latin typeface="Nunito" panose="020B0604020202020204" charset="-52"/>
              </a:rPr>
              <a:t>, MRR, ROC-AUC, FPR95, </a:t>
            </a:r>
            <a:r>
              <a:rPr lang="ru-RU" sz="1800" dirty="0" err="1">
                <a:latin typeface="Nunito" panose="020B0604020202020204" charset="-52"/>
              </a:rPr>
              <a:t>Precision</a:t>
            </a:r>
            <a:r>
              <a:rPr lang="ru-RU" sz="1800" dirty="0">
                <a:latin typeface="Nunito" panose="020B0604020202020204" charset="-52"/>
              </a:rPr>
              <a:t>/</a:t>
            </a:r>
            <a:r>
              <a:rPr lang="ru-RU" sz="1800" dirty="0" err="1">
                <a:latin typeface="Nunito" panose="020B0604020202020204" charset="-52"/>
              </a:rPr>
              <a:t>Recall</a:t>
            </a:r>
            <a:r>
              <a:rPr lang="ru-RU" sz="1800" dirty="0">
                <a:latin typeface="Nunito" panose="020B0604020202020204" charset="-52"/>
              </a:rPr>
              <a:t>/F1 при пороге, выбранном на валидации, время работы. </a:t>
            </a:r>
            <a:endParaRPr lang="en-US" sz="1800" dirty="0">
              <a:latin typeface="Nunito" panose="020B0604020202020204" charset="-52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ru-RU" sz="1800" dirty="0">
                <a:latin typeface="Nunito" panose="020B0604020202020204" charset="-52"/>
              </a:rPr>
              <a:t>Разбор ошибок и проверка на другом </a:t>
            </a:r>
            <a:r>
              <a:rPr lang="ru-RU" sz="1800" dirty="0" err="1">
                <a:latin typeface="Nunito" panose="020B0604020202020204" charset="-52"/>
              </a:rPr>
              <a:t>датасете</a:t>
            </a:r>
            <a:r>
              <a:rPr lang="ru-RU" sz="1800" dirty="0">
                <a:latin typeface="Nunito" panose="020B0604020202020204" charset="-52"/>
              </a:rPr>
              <a:t> (QXS-SAROPT) — смена домена.</a:t>
            </a:r>
          </a:p>
        </p:txBody>
      </p:sp>
      <p:sp>
        <p:nvSpPr>
          <p:cNvPr id="7" name="Google Shape;85;p16">
            <a:extLst>
              <a:ext uri="{FF2B5EF4-FFF2-40B4-BE49-F238E27FC236}">
                <a16:creationId xmlns:a16="http://schemas.microsoft.com/office/drawing/2014/main" id="{0197865B-EBCC-4FD4-8959-7A9400CB39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0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План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762527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60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План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63327"/>
            <a:ext cx="8520600" cy="390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 чём идея самого решения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обучим сеть, которая переводит снимок 256×256 в вектор (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эмбеддинг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 длины 1024 так, чтобы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эмбеддинги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SAR и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одного места были близки, а разных мест — далеки.</a:t>
            </a:r>
          </a:p>
          <a:p>
            <a:pPr marL="107950" lvl="0" indent="0"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Тогда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поиск пары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выглядит так: считаем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эмбеддинги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всех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снимков (это галерея), для SAR-запроса сортируем галерею по расстоянию и смотрим, какой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снимок оказался ближе.</a:t>
            </a:r>
            <a:b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Для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оценки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метрик смотрим на каком месте (ранге) оказался правильный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снимок.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6948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План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70425" y="622748"/>
            <a:ext cx="7359100" cy="8218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Примеры, каким мы бы хотели видеть результат поиска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E97809-2DE5-4D67-B512-2915631D4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37" y="2824876"/>
            <a:ext cx="8721725" cy="16541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42FE282-C209-461E-8134-68EB34FBC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137" y="1096630"/>
            <a:ext cx="8721725" cy="161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73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60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План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63327"/>
            <a:ext cx="8520600" cy="390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Целевые метрики: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Recall@1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&gt; 0.9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MRR &gt; 0.9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Время поиска топ-10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для одного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&lt; 1c</a:t>
            </a:r>
          </a:p>
          <a:p>
            <a:pPr marL="107950" lvl="0" indent="0">
              <a:buClr>
                <a:schemeClr val="dk1"/>
              </a:buClr>
              <a:buSzPts val="1900"/>
              <a:buNone/>
            </a:pP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Остальные метрики, упомянутые ранее в лекции также посмотрим, но без заранее выбранного целевого значения.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1427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14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611824"/>
            <a:ext cx="9144000" cy="21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07950">
              <a:lnSpc>
                <a:spcPct val="150000"/>
              </a:lnSpc>
              <a:buClr>
                <a:schemeClr val="dk1"/>
              </a:buClr>
              <a:buSzPts val="1900"/>
            </a:pPr>
            <a:r>
              <a:rPr lang="ru-RU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2785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30253"/>
            <a:ext cx="8520600" cy="3145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Где код?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Код семинара можно будет посмотреть целиком в ноутбуке, который выложен в соответствующую папку в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GitHub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курса. 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Он же пригодится для домашнего задания.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236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30254"/>
            <a:ext cx="8520600" cy="4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Класс датасета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F1C7EB3-FAA8-4327-B0E7-FD80D3320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5825" y="686396"/>
            <a:ext cx="6563708" cy="389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41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6498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Разведочный анализ данных (EDA)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Посмотрим на :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несколько случайных пар и гистограммы яркости;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структуру выборок: все ли SAR имеют пару;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размеры, каналы и статистики интенсивности;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корреляцию пикселей внутри пар;</a:t>
            </a:r>
            <a:endParaRPr lang="en-US"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ct val="1000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Статистики считаем по случайной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подвыборке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пар из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train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этого достаточно, чтобы увидеть общую картину.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1044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19125"/>
            <a:ext cx="8520600" cy="3743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EDA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Несколько случайных пар и гистограммы яркости</a:t>
            </a:r>
            <a:endParaRPr lang="ru-RU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22D9B0-FB02-4A18-B672-DE47276C8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67" y="1342487"/>
            <a:ext cx="8761391" cy="247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19125"/>
            <a:ext cx="8520600" cy="3743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EDA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Несколько случайных пар и гистограммы яркости</a:t>
            </a:r>
            <a:endParaRPr lang="ru-RU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1C75779-FCC1-4DA4-96F1-C04CFD261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37" y="1071366"/>
            <a:ext cx="7142325" cy="353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45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19125"/>
            <a:ext cx="8520600" cy="3743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EDA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Структура выборок: все ли SAR имеют пару</a:t>
            </a:r>
            <a:endParaRPr lang="ru-RU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20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EC08E1-CD14-404A-9D1F-5B99E7303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050" y="1577628"/>
            <a:ext cx="8604250" cy="262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10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19125"/>
            <a:ext cx="8520600" cy="3743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EDA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Размеры, каналы и статистики интенсивности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DE06461-F2C1-46CE-93E6-7CE401088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4" y="1447800"/>
            <a:ext cx="5788423" cy="28384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981B18-AE16-4342-83E6-D3F10BD1AC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123" y="1441972"/>
            <a:ext cx="2739531" cy="284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40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19125"/>
            <a:ext cx="8520600" cy="3743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EDA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Размеры, каналы и статистики интенсивности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9D88CF-3B74-4108-9917-D617ACD8465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2969" b="30119"/>
          <a:stretch/>
        </p:blipFill>
        <p:spPr>
          <a:xfrm>
            <a:off x="485775" y="1066801"/>
            <a:ext cx="5670550" cy="127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778765-D5B9-4EF1-9C89-0E630BB9E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075" y="2490787"/>
            <a:ext cx="8658225" cy="209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8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19125"/>
            <a:ext cx="8520600" cy="3743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EDA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Корреляция пикселей внутри пар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24D2D8-77C8-4567-9E97-405F26A1B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2621" y="1468737"/>
            <a:ext cx="3775004" cy="242095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BDAB51-0326-4441-857A-C1E87433C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94" y="1303550"/>
            <a:ext cx="4978702" cy="264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34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184150" y="712601"/>
            <a:ext cx="8837008" cy="37546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Модель: 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Архитектура – 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Сиамская сеть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один и тот же </a:t>
            </a:r>
            <a:r>
              <a:rPr lang="ru-RU" sz="1600" i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EmbeddingNet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(с общими весами) обрабатывает и SAR, и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i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EmbeddingNet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переводит снимок 256×256 в вектор длины 1024: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Tx/>
              <a:buChar char="-"/>
            </a:pPr>
            <a:r>
              <a:rPr lang="ru-RU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InstanceNorm2d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нормализация каждого снимка по его собственной статистике;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Tx/>
              <a:buChar char="-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5 стадий по три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свёрточных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блока 3×3 (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Conv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→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BatchNorm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→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); первая свёртка стадии со </a:t>
            </a:r>
            <a:r>
              <a:rPr lang="ru-RU" sz="1600" i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stride</a:t>
            </a:r>
            <a:r>
              <a:rPr lang="ru-RU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=2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уменьшает размер вдвое: 256 → 128 → 64 → 32 → 16 → 8;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Tx/>
              <a:buChar char="-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свёртка 8×8 сворачивает карту 8×8×512 в вектор 1×1×1024;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Tx/>
              <a:buChar char="-"/>
            </a:pPr>
            <a:r>
              <a:rPr lang="ru-RU" sz="1600" i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LocalResponseNorm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делит вектор на его длину, то есть это 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L2-нормировка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все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эмбеддинги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лежат на единичной сфере, и расстояние между ними от 0 до 2.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457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7546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Модель: </a:t>
            </a: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Как выглядит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свёрточный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блок</a:t>
            </a:r>
            <a:endParaRPr lang="ru-RU" sz="1600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9B4C7A1-11FF-4D8A-AD95-F98F29BA5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89" y="1855971"/>
            <a:ext cx="7731856" cy="209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18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2"/>
            <a:ext cx="1851533" cy="12601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Итоговая модель для 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эмбеддингов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B5FC63B-361C-4285-88E9-9ABF77784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334" y="757767"/>
            <a:ext cx="6313366" cy="381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97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подходы к решению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486647"/>
            <a:ext cx="8520600" cy="43550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Выбор функции потерь: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399B65-2002-4710-BF80-73B00B888E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26" t="4108" r="51291" b="22365"/>
          <a:stretch/>
        </p:blipFill>
        <p:spPr>
          <a:xfrm>
            <a:off x="346116" y="1732711"/>
            <a:ext cx="4197988" cy="221336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AA9037-F6C4-4A1C-8C80-01B816779A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321" t="4332" r="1307" b="35103"/>
          <a:stretch/>
        </p:blipFill>
        <p:spPr>
          <a:xfrm>
            <a:off x="4599898" y="1797802"/>
            <a:ext cx="4322612" cy="18332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340381-8C8D-421A-AD39-282A4CC6192C}"/>
              </a:ext>
            </a:extLst>
          </p:cNvPr>
          <p:cNvSpPr txBox="1"/>
          <p:nvPr/>
        </p:nvSpPr>
        <p:spPr>
          <a:xfrm>
            <a:off x="311700" y="4056842"/>
            <a:ext cx="8610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unito" panose="020B0604020202020204" charset="-52"/>
              </a:rPr>
              <a:t>[1] Hadsell, Chopra, </a:t>
            </a:r>
            <a:r>
              <a:rPr lang="en-US" dirty="0" err="1">
                <a:latin typeface="Nunito" panose="020B0604020202020204" charset="-52"/>
              </a:rPr>
              <a:t>LeCun</a:t>
            </a:r>
            <a:r>
              <a:rPr lang="en-US" dirty="0">
                <a:latin typeface="Nunito" panose="020B0604020202020204" charset="-52"/>
              </a:rPr>
              <a:t>, «Dimensionality Reduction by Learning an Invariant Mapping», CVPR 2006</a:t>
            </a:r>
          </a:p>
          <a:p>
            <a:r>
              <a:rPr lang="en-US" dirty="0">
                <a:latin typeface="Nunito" panose="020B0604020202020204" charset="-52"/>
              </a:rPr>
              <a:t>[2] </a:t>
            </a:r>
            <a:r>
              <a:rPr lang="en-US" dirty="0" err="1">
                <a:latin typeface="Nunito" panose="020B0604020202020204" charset="-52"/>
              </a:rPr>
              <a:t>FaceNet</a:t>
            </a:r>
            <a:r>
              <a:rPr lang="en-US" dirty="0">
                <a:latin typeface="Nunito" panose="020B0604020202020204" charset="-52"/>
              </a:rPr>
              <a:t>: A Unified Embedding for Face Recognition and Clustering</a:t>
            </a:r>
          </a:p>
        </p:txBody>
      </p:sp>
    </p:spTree>
    <p:extLst>
      <p:ext uri="{BB962C8B-B14F-4D97-AF65-F5344CB8AC3E}">
        <p14:creationId xmlns:p14="http://schemas.microsoft.com/office/powerpoint/2010/main" val="2443121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Google Shape;86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49767" y="712601"/>
                <a:ext cx="8582533" cy="386390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fontScale="85000" lnSpcReduction="10000"/>
              </a:bodyPr>
              <a:lstStyle/>
              <a:p>
                <a:pPr marL="107950" lvl="0" indent="0" algn="l" rtl="0">
                  <a:spcBef>
                    <a:spcPts val="0"/>
                  </a:spcBef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Будем использовать </a:t>
                </a:r>
                <a:r>
                  <a:rPr lang="ru-RU" sz="2100" b="1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Triplet</a:t>
                </a:r>
                <a:r>
                  <a:rPr lang="ru-RU" sz="2100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2100" b="1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loss</a:t>
                </a:r>
                <a:r>
                  <a:rPr lang="ru-RU" sz="2100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с самым трудным негативом в 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батче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(</a:t>
                </a:r>
                <a:r>
                  <a:rPr lang="en-US" sz="2100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hard-negative</a:t>
                </a:r>
                <a:r>
                  <a:rPr lang="en-US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).</a:t>
                </a:r>
                <a:endParaRPr lang="ru-RU" sz="21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Пусть 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батч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состоит из B пар (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SAR_i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, 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Opt_i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). Тогда для пары i:</a:t>
                </a:r>
              </a:p>
              <a:p>
                <a:pPr marL="450850" lvl="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Arial" panose="020B0604020202020204" pitchFamily="34" charset="0"/>
                  <a:buChar char="•"/>
                </a:pP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позитив — расстояние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𝑑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𝑝𝑜𝑠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=</m:t>
                    </m:r>
                    <m:r>
                      <a:rPr lang="nn-NO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𝑑</m:t>
                    </m:r>
                    <m:r>
                      <a:rPr lang="nn-NO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(</m:t>
                    </m:r>
                    <m:r>
                      <a:rPr lang="nn-NO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𝑆𝐴𝑅</m:t>
                    </m:r>
                    <m:r>
                      <a:rPr lang="nn-NO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_</m:t>
                    </m:r>
                    <m:r>
                      <a:rPr lang="nn-NO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𝑖</m:t>
                    </m:r>
                    <m:r>
                      <a:rPr lang="nn-NO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, </m:t>
                    </m:r>
                    <m:r>
                      <a:rPr lang="nn-NO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𝑂𝑝𝑡</m:t>
                    </m:r>
                    <m:r>
                      <a:rPr lang="nn-NO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_</m:t>
                    </m:r>
                    <m:r>
                      <a:rPr lang="nn-NO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𝑖</m:t>
                    </m:r>
                    <m:r>
                      <a:rPr lang="nn-NO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)</m:t>
                    </m:r>
                  </m:oMath>
                </a14:m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;</a:t>
                </a:r>
              </a:p>
              <a:p>
                <a:pPr marL="450850" lvl="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Arial" panose="020B0604020202020204" pitchFamily="34" charset="0"/>
                  <a:buChar char="•"/>
                </a:pP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негатив — самое </a:t>
                </a:r>
                <a:r>
                  <a:rPr lang="ru-RU" sz="2100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маленькое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расстояние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Nunito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Nunito"/>
                          </a:rPr>
                          <m:t>𝑑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Nunito"/>
                          </a:rPr>
                          <m:t>𝑛𝑒𝑔</m:t>
                        </m:r>
                      </m:sub>
                    </m:sSub>
                    <m:r>
                      <a:rPr lang="en-US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sym typeface="Nunito"/>
                      </a:rPr>
                      <m:t> </m:t>
                    </m:r>
                  </m:oMath>
                </a14:m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до чужого снимка в 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батче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: среди d(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SAR_i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, 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Opt_j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) и d(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SAR_j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, 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Opt_i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) при j ≠ i (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hard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negative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mining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).</a:t>
                </a:r>
              </a:p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Лосс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штрафует пару, если чужой снимок ближе своего или расстояние между ними меньше чем </a:t>
                </a:r>
                <a:r>
                  <a:rPr lang="ru-RU" sz="21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margin</a:t>
                </a:r>
                <a:r>
                  <a:rPr lang="ru-RU" sz="21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:</a:t>
                </a:r>
              </a:p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L</m:t>
                      </m:r>
                      <m:r>
                        <a:rPr lang="en-US" sz="21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=</m:t>
                      </m:r>
                      <m:f>
                        <m:fPr>
                          <m:ctrlPr>
                            <a:rPr lang="en-US" sz="21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Nunito"/>
                              <a:cs typeface="Nunito"/>
                              <a:sym typeface="Nunito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Nunito"/>
                              <a:cs typeface="Nunito"/>
                              <a:sym typeface="Nunito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Nunito"/>
                              <a:cs typeface="Nunito"/>
                              <a:sym typeface="Nunito"/>
                            </a:rPr>
                            <m:t>𝐵</m:t>
                          </m:r>
                        </m:den>
                      </m:f>
                      <m:sSup>
                        <m:sSupPr>
                          <m:ctrlPr>
                            <a:rPr lang="en-US" sz="21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Nunito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1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Nunito"/>
                                </a:rPr>
                              </m:ctrlPr>
                            </m:naryPr>
                            <m:sub/>
                            <m:sup/>
                            <m:e>
                              <m:func>
                                <m:funcPr>
                                  <m:ctrlPr>
                                    <a:rPr lang="en-US" sz="21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Nunito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100" i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Nunito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1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sym typeface="Nunito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sym typeface="Nunito"/>
                                        </a:rPr>
                                        <m:t>0, </m:t>
                                      </m:r>
                                      <m:sSub>
                                        <m:sSubPr>
                                          <m:ctrlPr>
                                            <a:rPr lang="en-US" sz="21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sym typeface="Nunito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1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sym typeface="Nunito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21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sym typeface="Nunito"/>
                                            </a:rPr>
                                            <m:t>𝑝𝑜𝑠</m:t>
                                          </m:r>
                                        </m:sub>
                                      </m:sSub>
                                      <m:r>
                                        <a:rPr lang="en-US" sz="21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sym typeface="Nunito"/>
                                        </a:rPr>
                                        <m:t>− </m:t>
                                      </m:r>
                                      <m:sSub>
                                        <m:sSubPr>
                                          <m:ctrlPr>
                                            <a:rPr lang="en-US" sz="21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sym typeface="Nunito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1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sym typeface="Nunito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21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sym typeface="Nunito"/>
                                            </a:rPr>
                                            <m:t>𝑛𝑒𝑔</m:t>
                                          </m:r>
                                        </m:sub>
                                      </m:sSub>
                                      <m:r>
                                        <a:rPr lang="en-US" sz="21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sym typeface="Nunito"/>
                                        </a:rPr>
                                        <m:t>+ </m:t>
                                      </m:r>
                                      <m:r>
                                        <a:rPr lang="en-US" sz="21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sym typeface="Nunito"/>
                                        </a:rPr>
                                        <m:t>𝑚𝑎𝑟𝑔𝑖𝑛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  <m:sup>
                          <m:r>
                            <a:rPr lang="en-US" sz="21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Nunito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21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86" name="Google Shape;86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9767" y="712601"/>
                <a:ext cx="8582533" cy="3863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739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1906567" cy="24666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Итоговая архитектура модели: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5F1FC4-8E48-4597-9C66-9D3268D6F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512" y="737858"/>
            <a:ext cx="5804087" cy="389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10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298900" cy="3950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Метрики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Функции метрик нужны и для контроля обучения, и для итоговой оценки, поэтому определяем их до обучения. Все считаются по матрице расстояний D размера N×N между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эмбеддингами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SAR (строки) и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(столбцы); правильная пара — на диагонали. 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Recall@K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— доля SAR-запросов, у которых правильный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попал в K ближайших.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MRR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среднее 1/ранг правильного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ROC-AUC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вероятность того, что случайная истинная пара ближе случайной ложной; от порога не зависит.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FPR95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доля ложных пар, принятых за истинные, при пороге, который находит 95% истинных пар.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Precision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/ </a:t>
            </a:r>
            <a:r>
              <a:rPr lang="ru-RU" sz="1600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Recall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/ F1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— при конкретном пороге «одно место / разные места». Порог выбираем на валидации, применяем на тесте.</a:t>
            </a:r>
            <a:endParaRPr lang="ru-RU" sz="14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30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9965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298900" cy="3950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Метрики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подготовка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7D36AAC-E326-449E-8E47-29282EDB5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6780" y="712591"/>
            <a:ext cx="5986045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0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298900" cy="3950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Метрики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реализация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DA0285-B4A0-43F7-8152-C11556339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866" y="672498"/>
            <a:ext cx="5452534" cy="390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35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298900" cy="3647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Обучение модели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Первые </a:t>
            </a:r>
            <a:r>
              <a:rPr lang="ru-RU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WARMUP_EPOCHS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эпох — разогрев с маленьким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learning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rate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затем </a:t>
            </a:r>
            <a:r>
              <a:rPr lang="ru-RU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TRAIN_LR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 уменьшением вдвое каждые 20 эпох.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После каждой эпохи считаем на валидации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лосс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Recall@1 и MRR. Сохраняем веса 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лучшей по Recall@1 на валидации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эпохи и историю обучения.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 </a:t>
            </a:r>
            <a:r>
              <a:rPr lang="ru-RU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TRAIN_MODEL = </a:t>
            </a:r>
            <a:r>
              <a:rPr lang="en-US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True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происходит обучение модели с заданными параметрами.</a:t>
            </a:r>
            <a:endParaRPr lang="en-US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 </a:t>
            </a:r>
            <a:r>
              <a:rPr lang="ru-RU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TRAIN_MODEL = </a:t>
            </a:r>
            <a:r>
              <a:rPr lang="ru-RU" sz="1600" i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False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обучение пропускается, а ниже строятся кривые из сохранённой истории обучения готовых весов.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2944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2084367" cy="1166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Обучение</a:t>
            </a: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одна эпоха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8C7EC5-3492-4448-BC6D-CB73602B9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868" y="608512"/>
            <a:ext cx="5359399" cy="4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325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Подготовка и обучение модели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1906567" cy="24666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Обучение</a:t>
            </a: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целиком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7C26DB-E027-4285-920F-309B72962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9764" y="651933"/>
            <a:ext cx="6291681" cy="384810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676634-B7CF-4C82-9FEE-5D930909FA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443" y="2020704"/>
            <a:ext cx="1914420" cy="212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02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36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611824"/>
            <a:ext cx="9144000" cy="15296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>
              <a:buSzPts val="990"/>
            </a:pP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8822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История обучения</a:t>
            </a: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Когда можно было уже прекращать обучение?</a:t>
            </a:r>
            <a:endParaRPr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809pAUul3zUAAAAABJRU5ErkJggg== (1790×390)">
            <a:extLst>
              <a:ext uri="{FF2B5EF4-FFF2-40B4-BE49-F238E27FC236}">
                <a16:creationId xmlns:a16="http://schemas.microsoft.com/office/drawing/2014/main" id="{FECEF264-98B8-4BF6-96C0-4FAB051BD4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48"/>
          <a:stretch/>
        </p:blipFill>
        <p:spPr bwMode="auto">
          <a:xfrm>
            <a:off x="51840" y="1508447"/>
            <a:ext cx="9040319" cy="29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1895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Как загружать готовую модель?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Данная функция понимает и полный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чекпоинт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(с состоянием оптимизатора), и файл только с весами модели.</a:t>
            </a:r>
            <a:endParaRPr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4B1EF0-7CCD-4CD7-A361-2FCD9B4DB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056" y="1964297"/>
            <a:ext cx="7658100" cy="204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879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Метрики на валидации и тесте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Сначала считаем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эмбеддинги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валидации и подбираем на ней порог для «одно место / разные места». На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тесте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этот порог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только применяем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BEDBD7B-DF1C-4EAB-BA14-898424C6200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51"/>
          <a:stretch/>
        </p:blipFill>
        <p:spPr>
          <a:xfrm>
            <a:off x="398056" y="1821112"/>
            <a:ext cx="8495575" cy="27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396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3728589" cy="40077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Полные результаты на тестовой и валидационной выборках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Порог подобран на валидации; если бы мы подбирали его на тесте, F1 на тесте вышел бы чуть выше — но это была бы утечка.</a:t>
            </a:r>
          </a:p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Целевые метрики достигнуты: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Recall@1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0.9711 &gt; 0.9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MRR = 0.9799 &gt; 0.9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40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5CBC3-7B1C-470B-8D7F-223E1E790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502" y="323977"/>
            <a:ext cx="3633297" cy="416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091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Итоговое распределение расстояний в тестовой выборке</a:t>
            </a:r>
            <a:endParaRPr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+l4PduERFfHcSVchRJd6cqJSO1iAhvpa3t7GBAwfOkpOGAgBQXSqtAQC6AZXWhKjEjuA6ej5HX2sAAOiJhNYAAAAAABSGEzECAAAAAFAYQmsAAAAAAApDaA0AAAAAQGEIrQEAAAAAKAyhNQAAAAAAhSG0BgAAAACgMITWAAAAAAAUhtAaAAAAAIBUFP8PhZqOExR+GeQAAAAASUVORK5CYII= (1453×701)">
            <a:extLst>
              <a:ext uri="{FF2B5EF4-FFF2-40B4-BE49-F238E27FC236}">
                <a16:creationId xmlns:a16="http://schemas.microsoft.com/office/drawing/2014/main" id="{C0B7DF3A-C54A-4F89-BF47-D9F784784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566" y="1088445"/>
            <a:ext cx="7217834" cy="348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5926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122842" y="674300"/>
            <a:ext cx="3168563" cy="38511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Время работы модели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Галерея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эмбеддингов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считается один раз заранее, поэтому для нового SAR-снимка цена поиска — один проход через сеть плюс сравнение с готовыми векторами. Сравнение растёт линейно с размером галереи</a:t>
            </a:r>
          </a:p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Целевая метрика достигнута:</a:t>
            </a:r>
          </a:p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Время поиска топ-10 </a:t>
            </a:r>
            <a:r>
              <a:rPr lang="en-US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для одного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&lt; 1c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4757786-5482-4C56-A9CA-993B70193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3907" y="404913"/>
            <a:ext cx="5627251" cy="412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194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Примеры удачного и неудачного поиска</a:t>
            </a:r>
            <a:endParaRPr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f+15z5wRWh87wAAAABJRU5ErkJggg== (1550×579)">
            <a:extLst>
              <a:ext uri="{FF2B5EF4-FFF2-40B4-BE49-F238E27FC236}">
                <a16:creationId xmlns:a16="http://schemas.microsoft.com/office/drawing/2014/main" id="{FF2FE274-C69B-479A-A4A9-3885DE79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99" y="1096433"/>
            <a:ext cx="8928717" cy="333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3766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Примеры удачного и неудачного поиска</a:t>
            </a:r>
            <a:endParaRPr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wBAH1v4+C8YWwAAAABJRU5ErkJggg== (1550×1174)">
            <a:extLst>
              <a:ext uri="{FF2B5EF4-FFF2-40B4-BE49-F238E27FC236}">
                <a16:creationId xmlns:a16="http://schemas.microsoft.com/office/drawing/2014/main" id="{1BC3DE27-595B-4E43-B273-CFF4BA017E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25345" y="1079499"/>
            <a:ext cx="8743442" cy="331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3156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Примеры удачного и неудачного поиска</a:t>
            </a:r>
            <a:endParaRPr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2" name="Picture 2" descr="wBAH1v4+C8YWwAAAABJRU5ErkJggg== (1550×1174)">
            <a:extLst>
              <a:ext uri="{FF2B5EF4-FFF2-40B4-BE49-F238E27FC236}">
                <a16:creationId xmlns:a16="http://schemas.microsoft.com/office/drawing/2014/main" id="{F7AB332B-914B-4056-9AA4-0424A56753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184168" y="1092200"/>
            <a:ext cx="8734488" cy="330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3369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Примеры удачного и неудачного поиска</a:t>
            </a:r>
            <a:endParaRPr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6" name="Picture 2" descr="A8AVNfMV4iwSAAAAAElFTkSuQmCC (1550×579)">
            <a:extLst>
              <a:ext uri="{FF2B5EF4-FFF2-40B4-BE49-F238E27FC236}">
                <a16:creationId xmlns:a16="http://schemas.microsoft.com/office/drawing/2014/main" id="{199A9F5E-6535-4860-BF7C-4EF9FF0E2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17" y="1049416"/>
            <a:ext cx="8827941" cy="3298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8251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Примеры удачного и неудачного поиска</a:t>
            </a:r>
            <a:endParaRPr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0" name="Picture 2" descr="yWxT50AWJEQAAAAASUVORK5CYII= (1550×1174)">
            <a:extLst>
              <a:ext uri="{FF2B5EF4-FFF2-40B4-BE49-F238E27FC236}">
                <a16:creationId xmlns:a16="http://schemas.microsoft.com/office/drawing/2014/main" id="{CECE6F4A-C3F2-445E-872F-4ED918567D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83009" y="1037027"/>
            <a:ext cx="8804358" cy="333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058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Проверка на другом 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датасете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QXS-SAROPT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Модель обучена на OS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Посмотрим, что будет на QXS-SAROPT— это тоже Gaofen-3 +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Google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Earth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но другие города (Сан-Диего, Шанхай, Циндао). 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Берём 1000 случайных пар из его валидационной выборки и считаем те же метрики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без 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дообучения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BEA905-C653-495A-AC9E-7295F1AA3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900" y="2526532"/>
            <a:ext cx="3397829" cy="195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727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Проверка модели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Проверка на другом 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датасете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QXS-SAROPT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ADOGMFyQNwa4AAAAAElFTkSuQmCC (1466×701)">
            <a:extLst>
              <a:ext uri="{FF2B5EF4-FFF2-40B4-BE49-F238E27FC236}">
                <a16:creationId xmlns:a16="http://schemas.microsoft.com/office/drawing/2014/main" id="{DEC6FD36-9CC2-420D-AC42-FC173BF21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49" y="1088440"/>
            <a:ext cx="7375525" cy="352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1194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50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611824"/>
            <a:ext cx="9144000" cy="11694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07950">
              <a:lnSpc>
                <a:spcPct val="150000"/>
              </a:lnSpc>
              <a:buClr>
                <a:schemeClr val="dk1"/>
              </a:buClr>
              <a:buSzPts val="1900"/>
            </a:pPr>
            <a:r>
              <a:rPr lang="ru-RU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Домашнее задание 1</a:t>
            </a: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6319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Домашнее задание 1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Задача и данные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Нужно обучить 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псевдосиамскую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сеть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которая переводит SAR и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снимки в общее пространство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эмбеддингов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так, чтобы для каждого SAR снимка правильный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снимок оказывался среди ближайших. Это вариант 1 из лекции про SAR–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Matching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—сопоставление пар без оценки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Данные —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QXS-SAROPT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20 000 пар SAR (спутник Gaofen-3) и оптики (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Google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Earth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 размером 256×256 и разрешением около 1 м, снятых над тремя городами. Это тот же тип данных, что OS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но другая местность и другие условия съёмки.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51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95954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Домашнее задание 1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Задача и данные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Разбиение фиксировано по номерам файлов: 1–16 868 — </a:t>
            </a:r>
            <a:r>
              <a:rPr lang="ru-RU" sz="1600" i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train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(16 868 пар), 16 869–18968 — </a:t>
            </a:r>
            <a:r>
              <a:rPr lang="ru-RU" sz="1600" i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val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(2 100 пар). Пары 19 001–20 000 — закрытый тест, в выданных данных их нет. 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Переделывать разбиение нельзя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Номера 18 969–19 000 исключены из выборки.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Что на входе и на выходе модели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снимок 256×256 → вектор фиксированной длины (число каналов у каждой модальности — проверьте в EDA). Сравнение — по расстоянию между векторами (евклидово или косинусное — на выбор, с обоснованием).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52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28135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Домашнее задание 1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436034"/>
            <a:ext cx="158652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Критерии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53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2324B67-E758-4F3C-80CA-045766D35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994268"/>
              </p:ext>
            </p:extLst>
          </p:nvPr>
        </p:nvGraphicFramePr>
        <p:xfrm>
          <a:off x="450689" y="984747"/>
          <a:ext cx="8521625" cy="3558087"/>
        </p:xfrm>
        <a:graphic>
          <a:graphicData uri="http://schemas.openxmlformats.org/drawingml/2006/table">
            <a:tbl>
              <a:tblPr firstRow="1" bandRow="1">
                <a:tableStyleId>{2B0B6F39-8058-48A1-B1E6-BB775B942AAB}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855785662"/>
                    </a:ext>
                  </a:extLst>
                </a:gridCol>
                <a:gridCol w="1972734">
                  <a:extLst>
                    <a:ext uri="{9D8B030D-6E8A-4147-A177-3AD203B41FA5}">
                      <a16:colId xmlns:a16="http://schemas.microsoft.com/office/drawing/2014/main" val="1556444511"/>
                    </a:ext>
                  </a:extLst>
                </a:gridCol>
                <a:gridCol w="5088466">
                  <a:extLst>
                    <a:ext uri="{9D8B030D-6E8A-4147-A177-3AD203B41FA5}">
                      <a16:colId xmlns:a16="http://schemas.microsoft.com/office/drawing/2014/main" val="3217238055"/>
                    </a:ext>
                  </a:extLst>
                </a:gridCol>
                <a:gridCol w="507925">
                  <a:extLst>
                    <a:ext uri="{9D8B030D-6E8A-4147-A177-3AD203B41FA5}">
                      <a16:colId xmlns:a16="http://schemas.microsoft.com/office/drawing/2014/main" val="3386714858"/>
                    </a:ext>
                  </a:extLst>
                </a:gridCol>
              </a:tblGrid>
              <a:tr h="670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 err="1">
                          <a:effectLst/>
                        </a:rPr>
                        <a:t>Блок</a:t>
                      </a:r>
                      <a:endParaRPr lang="ru-R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effectLst/>
                        </a:rPr>
                        <a:t>Пункт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>
                          <a:effectLst/>
                        </a:rPr>
                        <a:t>Что нужно сделать</a:t>
                      </a:r>
                      <a:endParaRPr lang="ru-RU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dirty="0" err="1">
                          <a:effectLst/>
                        </a:rPr>
                        <a:t>Балл</a:t>
                      </a:r>
                      <a:endParaRPr lang="ru-R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extLst>
                  <a:ext uri="{0D108BD9-81ED-4DB2-BD59-A6C34878D82A}">
                    <a16:rowId xmlns:a16="http://schemas.microsoft.com/office/drawing/2014/main" val="3313663075"/>
                  </a:ext>
                </a:extLst>
              </a:tr>
              <a:tr h="55820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 err="1">
                          <a:effectLst/>
                        </a:rPr>
                        <a:t>Данные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1.1 </a:t>
                      </a:r>
                      <a:r>
                        <a:rPr lang="en-US" sz="1000" dirty="0" err="1">
                          <a:effectLst/>
                        </a:rPr>
                        <a:t>Загрузка</a:t>
                      </a:r>
                      <a:r>
                        <a:rPr lang="en-US" sz="1000" dirty="0">
                          <a:effectLst/>
                        </a:rPr>
                        <a:t> и </a:t>
                      </a:r>
                      <a:r>
                        <a:rPr lang="en-US" sz="1000" dirty="0" err="1">
                          <a:effectLst/>
                        </a:rPr>
                        <a:t>предобработка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dirty="0">
                          <a:effectLst/>
                        </a:rPr>
                        <a:t>Класс </a:t>
                      </a:r>
                      <a:r>
                        <a:rPr lang="en-US" sz="1000" b="1" dirty="0">
                          <a:effectLst/>
                        </a:rPr>
                        <a:t>Dataset</a:t>
                      </a:r>
                      <a:r>
                        <a:rPr lang="ru-RU" sz="1000" dirty="0">
                          <a:effectLst/>
                        </a:rPr>
                        <a:t> и </a:t>
                      </a:r>
                      <a:r>
                        <a:rPr lang="en-US" sz="1000" b="1" dirty="0" err="1">
                          <a:effectLst/>
                        </a:rPr>
                        <a:t>DataLoader</a:t>
                      </a:r>
                      <a:r>
                        <a:rPr lang="ru-RU" sz="1000" dirty="0">
                          <a:effectLst/>
                        </a:rPr>
                        <a:t> по выданному разбиению; нормализация и аугментации с объяснением, почему выбраны именно они. Аугментации не ломают соответствие пары: геометрические применяются одинаково к </a:t>
                      </a:r>
                      <a:r>
                        <a:rPr lang="en-US" sz="1000" dirty="0">
                          <a:effectLst/>
                        </a:rPr>
                        <a:t>SAR</a:t>
                      </a:r>
                      <a:r>
                        <a:rPr lang="ru-RU" sz="1000" dirty="0">
                          <a:effectLst/>
                        </a:rPr>
                        <a:t> и </a:t>
                      </a:r>
                      <a:r>
                        <a:rPr lang="en-US" sz="1000" dirty="0" err="1">
                          <a:effectLst/>
                        </a:rPr>
                        <a:t>Opt</a:t>
                      </a:r>
                      <a:r>
                        <a:rPr lang="ru-RU" sz="1000" dirty="0">
                          <a:effectLst/>
                        </a:rPr>
                        <a:t>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0.5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extLst>
                  <a:ext uri="{0D108BD9-81ED-4DB2-BD59-A6C34878D82A}">
                    <a16:rowId xmlns:a16="http://schemas.microsoft.com/office/drawing/2014/main" val="1758767087"/>
                  </a:ext>
                </a:extLst>
              </a:tr>
              <a:tr h="698535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1.2 </a:t>
                      </a:r>
                      <a:r>
                        <a:rPr lang="en-US" sz="1000" dirty="0" err="1">
                          <a:effectLst/>
                        </a:rPr>
                        <a:t>Разведочный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анализ</a:t>
                      </a:r>
                      <a:r>
                        <a:rPr lang="en-US" sz="1000" dirty="0">
                          <a:effectLst/>
                        </a:rPr>
                        <a:t> (EDA)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</a:rPr>
                        <a:t>Все пункты</a:t>
                      </a:r>
                      <a:r>
                        <a:rPr lang="ru-RU" sz="1000" dirty="0">
                          <a:effectLst/>
                        </a:rPr>
                        <a:t>: число пар и проверка, что у каждого </a:t>
                      </a:r>
                      <a:r>
                        <a:rPr lang="en-US" sz="1000" dirty="0">
                          <a:effectLst/>
                        </a:rPr>
                        <a:t>SAR</a:t>
                      </a:r>
                      <a:r>
                        <a:rPr lang="ru-RU" sz="1000" dirty="0">
                          <a:effectLst/>
                        </a:rPr>
                        <a:t> есть </a:t>
                      </a:r>
                      <a:r>
                        <a:rPr lang="en-US" sz="1000" dirty="0" err="1">
                          <a:effectLst/>
                        </a:rPr>
                        <a:t>Opt</a:t>
                      </a:r>
                      <a:r>
                        <a:rPr lang="ru-RU" sz="1000" dirty="0">
                          <a:effectLst/>
                        </a:rPr>
                        <a:t>; размеры и число каналов; статистики интенсивности по модальностям; примеры пар; корреляция пикселей внутри пар; оценка </a:t>
                      </a:r>
                      <a:r>
                        <a:rPr lang="ru-RU" sz="1000" dirty="0" err="1">
                          <a:effectLst/>
                        </a:rPr>
                        <a:t>спекл</a:t>
                      </a:r>
                      <a:r>
                        <a:rPr lang="ru-RU" sz="1000" dirty="0">
                          <a:effectLst/>
                        </a:rPr>
                        <a:t>-шума; описание разбиения и проверка, что </a:t>
                      </a:r>
                      <a:r>
                        <a:rPr lang="en-US" sz="1000" dirty="0">
                          <a:effectLst/>
                        </a:rPr>
                        <a:t>train</a:t>
                      </a:r>
                      <a:r>
                        <a:rPr lang="ru-RU" sz="1000" dirty="0">
                          <a:effectLst/>
                        </a:rPr>
                        <a:t> и </a:t>
                      </a:r>
                      <a:r>
                        <a:rPr lang="en-US" sz="1000" dirty="0" err="1">
                          <a:effectLst/>
                        </a:rPr>
                        <a:t>val</a:t>
                      </a:r>
                      <a:r>
                        <a:rPr lang="ru-RU" sz="1000" dirty="0">
                          <a:effectLst/>
                        </a:rPr>
                        <a:t> не пересекаются. После каждого пункта — вывод.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0.5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extLst>
                  <a:ext uri="{0D108BD9-81ED-4DB2-BD59-A6C34878D82A}">
                    <a16:rowId xmlns:a16="http://schemas.microsoft.com/office/drawing/2014/main" val="1707239350"/>
                  </a:ext>
                </a:extLst>
              </a:tr>
              <a:tr h="628371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 err="1">
                          <a:effectLst/>
                        </a:rPr>
                        <a:t>Модель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2.1 Архитектура и лосс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 err="1">
                          <a:effectLst/>
                        </a:rPr>
                        <a:t>Псевдосиамская</a:t>
                      </a:r>
                      <a:r>
                        <a:rPr lang="ru-RU" sz="1000" b="1" dirty="0">
                          <a:effectLst/>
                        </a:rPr>
                        <a:t> сеть</a:t>
                      </a:r>
                      <a:r>
                        <a:rPr lang="ru-RU" sz="1000" dirty="0">
                          <a:effectLst/>
                        </a:rPr>
                        <a:t>: две ветки с раздельными весами для </a:t>
                      </a:r>
                      <a:r>
                        <a:rPr lang="en-US" sz="1000" dirty="0">
                          <a:effectLst/>
                        </a:rPr>
                        <a:t>SAR</a:t>
                      </a:r>
                      <a:r>
                        <a:rPr lang="ru-RU" sz="1000" dirty="0">
                          <a:effectLst/>
                        </a:rPr>
                        <a:t> и </a:t>
                      </a:r>
                      <a:r>
                        <a:rPr lang="en-US" sz="1000" dirty="0" err="1">
                          <a:effectLst/>
                        </a:rPr>
                        <a:t>Opt</a:t>
                      </a:r>
                      <a:r>
                        <a:rPr lang="ru-RU" sz="1000" dirty="0">
                          <a:effectLst/>
                        </a:rPr>
                        <a:t>. </a:t>
                      </a:r>
                      <a:r>
                        <a:rPr lang="ru-RU" sz="1000" b="1" dirty="0" err="1">
                          <a:effectLst/>
                        </a:rPr>
                        <a:t>Лосс</a:t>
                      </a:r>
                      <a:r>
                        <a:rPr lang="ru-RU" sz="1000" b="1" dirty="0">
                          <a:effectLst/>
                        </a:rPr>
                        <a:t> на выбор</a:t>
                      </a:r>
                      <a:r>
                        <a:rPr lang="ru-RU" sz="1000" dirty="0">
                          <a:effectLst/>
                        </a:rPr>
                        <a:t> — </a:t>
                      </a:r>
                      <a:r>
                        <a:rPr lang="en-US" sz="1000" dirty="0">
                          <a:effectLst/>
                        </a:rPr>
                        <a:t>contrastive</a:t>
                      </a:r>
                      <a:r>
                        <a:rPr lang="ru-RU" sz="1000" dirty="0">
                          <a:effectLst/>
                        </a:rPr>
                        <a:t> или </a:t>
                      </a:r>
                      <a:r>
                        <a:rPr lang="en-US" sz="1000" dirty="0">
                          <a:effectLst/>
                        </a:rPr>
                        <a:t>triplet</a:t>
                      </a:r>
                      <a:r>
                        <a:rPr lang="ru-RU" sz="1000" dirty="0">
                          <a:effectLst/>
                        </a:rPr>
                        <a:t> — реализован вручную, вместе с отбором негативных пар. Текстом </a:t>
                      </a:r>
                      <a:r>
                        <a:rPr lang="ru-RU" sz="1000">
                          <a:effectLst/>
                        </a:rPr>
                        <a:t>объяснено, как </a:t>
                      </a:r>
                      <a:r>
                        <a:rPr lang="ru-RU" sz="1000" dirty="0">
                          <a:effectLst/>
                        </a:rPr>
                        <a:t>выбираются негативы (например, случайные, </a:t>
                      </a:r>
                      <a:r>
                        <a:rPr lang="en-US" sz="1000" dirty="0">
                          <a:effectLst/>
                        </a:rPr>
                        <a:t>hard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en-US" sz="1000" dirty="0">
                          <a:effectLst/>
                        </a:rPr>
                        <a:t>semi</a:t>
                      </a:r>
                      <a:r>
                        <a:rPr lang="ru-RU" sz="1000" dirty="0">
                          <a:effectLst/>
                        </a:rPr>
                        <a:t>-</a:t>
                      </a:r>
                      <a:r>
                        <a:rPr lang="en-US" sz="1000" dirty="0">
                          <a:effectLst/>
                        </a:rPr>
                        <a:t>hard</a:t>
                      </a:r>
                      <a:r>
                        <a:rPr lang="ru-RU" sz="1000" dirty="0">
                          <a:effectLst/>
                        </a:rPr>
                        <a:t> и т.п.).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0.5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extLst>
                  <a:ext uri="{0D108BD9-81ED-4DB2-BD59-A6C34878D82A}">
                    <a16:rowId xmlns:a16="http://schemas.microsoft.com/office/drawing/2014/main" val="1451620685"/>
                  </a:ext>
                </a:extLst>
              </a:tr>
              <a:tr h="488043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2.2 Обучение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</a:rPr>
                        <a:t>Кривые обучения по эпохам</a:t>
                      </a:r>
                      <a:r>
                        <a:rPr lang="ru-RU" sz="1000" dirty="0">
                          <a:effectLst/>
                        </a:rPr>
                        <a:t>: </a:t>
                      </a:r>
                      <a:r>
                        <a:rPr lang="ru-RU" sz="1000" dirty="0" err="1">
                          <a:effectLst/>
                        </a:rPr>
                        <a:t>лосс</a:t>
                      </a:r>
                      <a:r>
                        <a:rPr lang="ru-RU" sz="1000" dirty="0">
                          <a:effectLst/>
                        </a:rPr>
                        <a:t> на </a:t>
                      </a:r>
                      <a:r>
                        <a:rPr lang="en-US" sz="1000" dirty="0">
                          <a:effectLst/>
                        </a:rPr>
                        <a:t>train</a:t>
                      </a:r>
                      <a:r>
                        <a:rPr lang="ru-RU" sz="1000" dirty="0">
                          <a:effectLst/>
                        </a:rPr>
                        <a:t> и </a:t>
                      </a:r>
                      <a:r>
                        <a:rPr lang="en-US" sz="1000" dirty="0" err="1">
                          <a:effectLst/>
                        </a:rPr>
                        <a:t>val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en-US" sz="1000" dirty="0">
                          <a:effectLst/>
                        </a:rPr>
                        <a:t>Recall</a:t>
                      </a:r>
                      <a:r>
                        <a:rPr lang="ru-RU" sz="1000" dirty="0">
                          <a:effectLst/>
                        </a:rPr>
                        <a:t>@1 на </a:t>
                      </a:r>
                      <a:r>
                        <a:rPr lang="en-US" sz="1000" dirty="0" err="1">
                          <a:effectLst/>
                        </a:rPr>
                        <a:t>val</a:t>
                      </a:r>
                      <a:r>
                        <a:rPr lang="ru-RU" sz="1000" dirty="0">
                          <a:effectLst/>
                        </a:rPr>
                        <a:t>. Финальные веса выбраны по метрике на валидации. Обоснован выбор </a:t>
                      </a:r>
                      <a:r>
                        <a:rPr lang="en-US" sz="1000" dirty="0">
                          <a:effectLst/>
                        </a:rPr>
                        <a:t>learning rate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en-US" sz="1000" dirty="0">
                          <a:effectLst/>
                        </a:rPr>
                        <a:t>batch size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en-US" sz="1000" dirty="0">
                          <a:effectLst/>
                        </a:rPr>
                        <a:t>margin</a:t>
                      </a:r>
                      <a:r>
                        <a:rPr lang="ru-RU" sz="1000" dirty="0">
                          <a:effectLst/>
                        </a:rPr>
                        <a:t>, числа эпох и аугментаций.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0.5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extLst>
                  <a:ext uri="{0D108BD9-81ED-4DB2-BD59-A6C34878D82A}">
                    <a16:rowId xmlns:a16="http://schemas.microsoft.com/office/drawing/2014/main" val="927054960"/>
                  </a:ext>
                </a:extLst>
              </a:tr>
              <a:tr h="768698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 err="1">
                          <a:effectLst/>
                        </a:rPr>
                        <a:t>Валидация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3.1 Метрики и время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</a:rPr>
                        <a:t>Метрики реализованы и посчитаны на валидации</a:t>
                      </a:r>
                      <a:r>
                        <a:rPr lang="ru-RU" sz="1000" dirty="0">
                          <a:effectLst/>
                        </a:rPr>
                        <a:t>: </a:t>
                      </a:r>
                      <a:r>
                        <a:rPr lang="en-US" sz="1000" dirty="0">
                          <a:effectLst/>
                        </a:rPr>
                        <a:t>Recall</a:t>
                      </a:r>
                      <a:r>
                        <a:rPr lang="ru-RU" sz="1000" dirty="0">
                          <a:effectLst/>
                        </a:rPr>
                        <a:t>@1, </a:t>
                      </a:r>
                      <a:r>
                        <a:rPr lang="en-US" sz="1000" dirty="0">
                          <a:effectLst/>
                        </a:rPr>
                        <a:t>Recall</a:t>
                      </a:r>
                      <a:r>
                        <a:rPr lang="ru-RU" sz="1000" dirty="0">
                          <a:effectLst/>
                        </a:rPr>
                        <a:t>@5, </a:t>
                      </a:r>
                      <a:r>
                        <a:rPr lang="en-US" sz="1000" dirty="0">
                          <a:effectLst/>
                        </a:rPr>
                        <a:t>Recall</a:t>
                      </a:r>
                      <a:r>
                        <a:rPr lang="ru-RU" sz="1000" dirty="0">
                          <a:effectLst/>
                        </a:rPr>
                        <a:t>@10, </a:t>
                      </a:r>
                      <a:r>
                        <a:rPr lang="en-US" sz="1000" dirty="0">
                          <a:effectLst/>
                        </a:rPr>
                        <a:t>MRR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en-US" sz="1000" dirty="0">
                          <a:effectLst/>
                        </a:rPr>
                        <a:t>FPR</a:t>
                      </a:r>
                      <a:r>
                        <a:rPr lang="ru-RU" sz="1000" dirty="0">
                          <a:effectLst/>
                        </a:rPr>
                        <a:t>95 — с указанием размера галереи. Измерено время работы (в любом виде: на один снимок, на сопоставление всех пар) и вашим комментарием, хороший это результат или плохой и почему. Само </a:t>
                      </a:r>
                      <a:r>
                        <a:rPr lang="ru-RU" sz="1000" b="1" dirty="0">
                          <a:effectLst/>
                        </a:rPr>
                        <a:t>значение времени на оценку не влияет</a:t>
                      </a:r>
                      <a:r>
                        <a:rPr lang="ru-RU" sz="1000" dirty="0">
                          <a:effectLst/>
                        </a:rPr>
                        <a:t>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0.5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extLst>
                  <a:ext uri="{0D108BD9-81ED-4DB2-BD59-A6C34878D82A}">
                    <a16:rowId xmlns:a16="http://schemas.microsoft.com/office/drawing/2014/main" val="4236197757"/>
                  </a:ext>
                </a:extLst>
              </a:tr>
              <a:tr h="207387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3.2 Закрытый тест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Recall</a:t>
                      </a:r>
                      <a:r>
                        <a:rPr lang="ru-RU" sz="1000" dirty="0">
                          <a:effectLst/>
                        </a:rPr>
                        <a:t>@10 на закрытом тесте из 1000 пар </a:t>
                      </a:r>
                      <a:r>
                        <a:rPr lang="ru-RU" sz="1000" b="1" dirty="0">
                          <a:effectLst/>
                        </a:rPr>
                        <a:t>не ниже целевого значения 0.8</a:t>
                      </a:r>
                      <a:endParaRPr lang="ru-R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0.5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6824" marR="26824" marT="0" marB="0"/>
                </a:tc>
                <a:extLst>
                  <a:ext uri="{0D108BD9-81ED-4DB2-BD59-A6C34878D82A}">
                    <a16:rowId xmlns:a16="http://schemas.microsoft.com/office/drawing/2014/main" val="3120794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1633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Домашнее задание 1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Закрытый тест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Я запускаю вашу модель на 1000 парах, которых нет в выданных данных, и считаю Recall@10: долю SAR-снимков, для которых правильный оптический снимок попал в 10 ближайших среди всех 1000 оптических.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Чтобы это было возможно, в конце ноутбука есть ячейка «Интерфейс для закрытого теста» с классом </a:t>
            </a:r>
            <a:r>
              <a:rPr lang="ru-RU" sz="1600" i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Submission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Её нужно заполнить так, чтобы она работала сама по себе — без остальных ячеек ноутбука, только с стандартными библиотеками (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torch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torchvision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numpy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opencv-python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).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 стартовом ноутбуке есть функция самопроверки: она создаёт </a:t>
            </a:r>
            <a:r>
              <a:rPr lang="ru-RU" sz="1600" i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Submission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из ваших весов и считает Recall@10 на 1000 парах валидации тем же способом, что и на закрытом тесте. Если самопроверка проходит без ошибок, с закрытым тестом проблем тоже не будет.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54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40171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Домашнее задание 1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Сроки и сдача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ДЗ 1 стоит 3 балла из 10 в итоговой оценке и выполняется индивидуально.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55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A811106-EB71-4C9B-97F6-4F3C53783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56014"/>
              </p:ext>
            </p:extLst>
          </p:nvPr>
        </p:nvGraphicFramePr>
        <p:xfrm>
          <a:off x="1135870" y="1676401"/>
          <a:ext cx="6872259" cy="2459566"/>
        </p:xfrm>
        <a:graphic>
          <a:graphicData uri="http://schemas.openxmlformats.org/drawingml/2006/table">
            <a:tbl>
              <a:tblPr firstRow="1" bandRow="1">
                <a:tableStyleId>{2B0B6F39-8058-48A1-B1E6-BB775B942AAB}</a:tableStyleId>
              </a:tblPr>
              <a:tblGrid>
                <a:gridCol w="1452033">
                  <a:extLst>
                    <a:ext uri="{9D8B030D-6E8A-4147-A177-3AD203B41FA5}">
                      <a16:colId xmlns:a16="http://schemas.microsoft.com/office/drawing/2014/main" val="403704345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14900688"/>
                    </a:ext>
                  </a:extLst>
                </a:gridCol>
                <a:gridCol w="3362826">
                  <a:extLst>
                    <a:ext uri="{9D8B030D-6E8A-4147-A177-3AD203B41FA5}">
                      <a16:colId xmlns:a16="http://schemas.microsoft.com/office/drawing/2014/main" val="3899798826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>
                          <a:effectLst/>
                        </a:rPr>
                        <a:t>Этап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>
                          <a:effectLst/>
                        </a:rPr>
                        <a:t>Дата</a:t>
                      </a:r>
                      <a:endParaRPr lang="ru-R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 err="1">
                          <a:effectLst/>
                        </a:rPr>
                        <a:t>Что</a:t>
                      </a:r>
                      <a:r>
                        <a:rPr lang="en-US" sz="1100" b="1" dirty="0">
                          <a:effectLst/>
                        </a:rPr>
                        <a:t> </a:t>
                      </a:r>
                      <a:r>
                        <a:rPr lang="en-US" sz="1100" b="1" dirty="0" err="1">
                          <a:effectLst/>
                        </a:rPr>
                        <a:t>означает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1631901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Выдача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16 октября</a:t>
                      </a:r>
                      <a:r>
                        <a:rPr lang="en-US" sz="1100">
                          <a:effectLst/>
                        </a:rPr>
                        <a:t> 2026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После семинара выдаётся стартовый ноутбук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9460223"/>
                  </a:ext>
                </a:extLst>
              </a:tr>
              <a:tr h="7085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Мягкий дедлайн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16 ноября</a:t>
                      </a:r>
                      <a:r>
                        <a:rPr lang="en-US" sz="1100">
                          <a:effectLst/>
                        </a:rPr>
                        <a:t> 2026, 23:59 МСК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Работа сданная до этого дедлайна оценивается максимум в 3 балла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1872967"/>
                  </a:ext>
                </a:extLst>
              </a:tr>
              <a:tr h="8620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 err="1">
                          <a:effectLst/>
                        </a:rPr>
                        <a:t>Жёсткий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дедлайн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30 ноября</a:t>
                      </a:r>
                      <a:r>
                        <a:rPr lang="en-US" sz="1100" dirty="0">
                          <a:effectLst/>
                        </a:rPr>
                        <a:t> 2026, 23:59 МСК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Работа, сданная после мягкого дедлайна, оценивается по тем же критериям, но итог не выше 2 баллов. </a:t>
                      </a:r>
                      <a:r>
                        <a:rPr lang="en-US" sz="1100" dirty="0" err="1">
                          <a:effectLst/>
                        </a:rPr>
                        <a:t>После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жёсткого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дедлайна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работы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не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принимаются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2729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04314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18510</TotalTime>
  <Words>2896</Words>
  <Application>Microsoft Office PowerPoint</Application>
  <PresentationFormat>Экран (16:9)</PresentationFormat>
  <Paragraphs>308</Paragraphs>
  <Slides>55</Slides>
  <Notes>55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60" baseType="lpstr">
      <vt:lpstr>Calibri</vt:lpstr>
      <vt:lpstr>Arial</vt:lpstr>
      <vt:lpstr>Cambria Math</vt:lpstr>
      <vt:lpstr>Nunito</vt:lpstr>
      <vt:lpstr>Simple Light</vt:lpstr>
      <vt:lpstr> МФТИ, ПИШ РПИ Осень 2026/2027</vt:lpstr>
      <vt:lpstr>Темы на сегодня</vt:lpstr>
      <vt:lpstr>Постановка задачи  SAR-Opt Patch Matching</vt:lpstr>
      <vt:lpstr>Постановка задачи SAR-Opt Matching</vt:lpstr>
      <vt:lpstr>Постановка задачи SAR-Opt Matching</vt:lpstr>
      <vt:lpstr>OS dataset</vt:lpstr>
      <vt:lpstr>OS dataset</vt:lpstr>
      <vt:lpstr>OS dataset</vt:lpstr>
      <vt:lpstr>План решения задачи</vt:lpstr>
      <vt:lpstr>План решения задачи</vt:lpstr>
      <vt:lpstr>План решения задачи</vt:lpstr>
      <vt:lpstr>План решения задачи</vt:lpstr>
      <vt:lpstr>План решения задачи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ML-подходы к решению задачи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Подготовка и обучение модели</vt:lpstr>
      <vt:lpstr>Проверка модели</vt:lpstr>
      <vt:lpstr>Проверка модели</vt:lpstr>
      <vt:lpstr>Проверка модели</vt:lpstr>
      <vt:lpstr>Проверка модели</vt:lpstr>
      <vt:lpstr>Проверка модели</vt:lpstr>
      <vt:lpstr>Проверка модели</vt:lpstr>
      <vt:lpstr>Проверка модели</vt:lpstr>
      <vt:lpstr>Проверка модели</vt:lpstr>
      <vt:lpstr>Проверка модели</vt:lpstr>
      <vt:lpstr>Проверка модели</vt:lpstr>
      <vt:lpstr>Проверка модели</vt:lpstr>
      <vt:lpstr>Проверка модели</vt:lpstr>
      <vt:lpstr>Проверка модели</vt:lpstr>
      <vt:lpstr>Проверка модели</vt:lpstr>
      <vt:lpstr>Домашнее задание 1</vt:lpstr>
      <vt:lpstr>Домашнее задание 1</vt:lpstr>
      <vt:lpstr>Домашнее задание 1</vt:lpstr>
      <vt:lpstr>Домашнее задание 1</vt:lpstr>
      <vt:lpstr>Домашнее задание 1</vt:lpstr>
      <vt:lpstr>Домашнее задание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#0: Вводная Лекция   Песоцкая Алиса МФТИ, ПИШ РПИ Осень 2026/2027</dc:title>
  <dc:creator>Михаил Гнатов</dc:creator>
  <cp:lastModifiedBy>Михаил Гнатов</cp:lastModifiedBy>
  <cp:revision>205</cp:revision>
  <dcterms:modified xsi:type="dcterms:W3CDTF">2026-10-16T17:04:39Z</dcterms:modified>
</cp:coreProperties>
</file>