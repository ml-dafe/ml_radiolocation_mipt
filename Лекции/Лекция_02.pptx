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305" r:id="rId3"/>
    <p:sldId id="257" r:id="rId4"/>
    <p:sldId id="318" r:id="rId5"/>
    <p:sldId id="359" r:id="rId6"/>
    <p:sldId id="319" r:id="rId7"/>
    <p:sldId id="328" r:id="rId8"/>
    <p:sldId id="298" r:id="rId9"/>
    <p:sldId id="306" r:id="rId10"/>
    <p:sldId id="322" r:id="rId11"/>
    <p:sldId id="323" r:id="rId12"/>
    <p:sldId id="324" r:id="rId13"/>
    <p:sldId id="334" r:id="rId14"/>
    <p:sldId id="321" r:id="rId15"/>
    <p:sldId id="35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7" r:id="rId24"/>
    <p:sldId id="307" r:id="rId25"/>
    <p:sldId id="325" r:id="rId26"/>
    <p:sldId id="308" r:id="rId27"/>
    <p:sldId id="309" r:id="rId28"/>
    <p:sldId id="326" r:id="rId29"/>
    <p:sldId id="327" r:id="rId30"/>
    <p:sldId id="297" r:id="rId31"/>
    <p:sldId id="304" r:id="rId32"/>
    <p:sldId id="313" r:id="rId33"/>
    <p:sldId id="311" r:id="rId34"/>
    <p:sldId id="314" r:id="rId35"/>
    <p:sldId id="331" r:id="rId36"/>
    <p:sldId id="330" r:id="rId37"/>
    <p:sldId id="310" r:id="rId38"/>
    <p:sldId id="315" r:id="rId39"/>
    <p:sldId id="329" r:id="rId40"/>
    <p:sldId id="316" r:id="rId41"/>
    <p:sldId id="317" r:id="rId42"/>
    <p:sldId id="332" r:id="rId43"/>
    <p:sldId id="261" r:id="rId44"/>
    <p:sldId id="292" r:id="rId45"/>
    <p:sldId id="333" r:id="rId46"/>
    <p:sldId id="320" r:id="rId4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Cambria Math" panose="02040503050406030204" pitchFamily="18" charset="0"/>
      <p:regular r:id="rId53"/>
    </p:embeddedFont>
    <p:embeddedFont>
      <p:font typeface="Consolas" panose="020B0609020204030204" pitchFamily="49" charset="0"/>
      <p:regular r:id="rId54"/>
      <p:bold r:id="rId55"/>
      <p:italic r:id="rId56"/>
      <p:boldItalic r:id="rId57"/>
    </p:embeddedFont>
    <p:embeddedFont>
      <p:font typeface="Montserrat" panose="020B0604020202020204" charset="0"/>
      <p:regular r:id="rId58"/>
      <p:bold r:id="rId59"/>
      <p:italic r:id="rId60"/>
      <p:boldItalic r:id="rId61"/>
    </p:embeddedFont>
    <p:embeddedFont>
      <p:font typeface="Nunito" panose="020B0604020202020204" charset="-52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ладимир Д" initials="ВД" lastIdx="11" clrIdx="0">
    <p:extLst>
      <p:ext uri="{19B8F6BF-5375-455C-9EA6-DF929625EA0E}">
        <p15:presenceInfo xmlns:p15="http://schemas.microsoft.com/office/powerpoint/2012/main" userId="9d447c9bbd4df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0B6F39-8058-48A1-B1E6-BB775B942AAB}">
  <a:tblStyle styleId="{2B0B6F39-8058-48A1-B1E6-BB775B942A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660"/>
  </p:normalViewPr>
  <p:slideViewPr>
    <p:cSldViewPr snapToGrid="0">
      <p:cViewPr varScale="1">
        <p:scale>
          <a:sx n="205" d="100"/>
          <a:sy n="205" d="100"/>
        </p:scale>
        <p:origin x="41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font" Target="fonts/font15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61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9T10:30:20.215" idx="4">
    <p:pos x="5268" y="1165"/>
    <p:text>Может дополнить фразой "для возможности донастройки при неправильном результате". Или это надо будет обязательно сказать.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138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ea1e0c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8ea1e0c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9202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20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569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3015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0595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934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759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7254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84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ea1e0c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8ea1e0c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744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078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2148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777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9476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91129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62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00874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299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8359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376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ea1e0c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8ea1e0c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3155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815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398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4997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0733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5172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ea1e0c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8ea1e0c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5155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2782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6781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4558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Domain</a:t>
            </a:r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1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Randomization</a:t>
            </a:r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(DR)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— это техника в машинном обучении (особенно в робототехнике и компьютерном зрении), которая решает проблему «разрыва между симуляцией и реальностью» (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reality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gap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 Её суть в том, чтобы на этапе обучения искусственно и систематически менять параметры симулятора — текстуры, освещение, геометрию сцены, физические свойства объектов и другие детали. В результате модель, сталкиваясь с реальным миром, воспринимает его как ещё одну вариацию из того разнообразного распределения, которое она уже видела в обучении. </a:t>
            </a:r>
            <a:br>
              <a:rPr lang="ru-RU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43203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68175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28809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10699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0039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4780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07297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3554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2102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3674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20525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611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jpe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jpe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comments" Target="../comments/comment1.xml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2359958"/>
            <a:ext cx="9144000" cy="2783691"/>
          </a:xfrm>
          <a:prstGeom prst="rect">
            <a:avLst/>
          </a:prstGeom>
          <a:solidFill>
            <a:srgbClr val="0069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871950"/>
            <a:ext cx="8520600" cy="1362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Машинное</a:t>
            </a:r>
            <a:r>
              <a:rPr lang="en-GB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 </a:t>
            </a:r>
            <a:r>
              <a:rPr lang="ru-RU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о</a:t>
            </a: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бучение</a:t>
            </a:r>
            <a:endParaRPr lang="ru-RU" sz="4400" dirty="0">
              <a:solidFill>
                <a:schemeClr val="dk1"/>
              </a:solidFill>
              <a:latin typeface="Nunito" panose="020B0604020202020204" charset="-52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-RU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в задачах радиолокации</a:t>
            </a:r>
            <a:endParaRPr sz="4400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t="31266" b="27950"/>
          <a:stretch/>
        </p:blipFill>
        <p:spPr>
          <a:xfrm>
            <a:off x="153000" y="147925"/>
            <a:ext cx="1775250" cy="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3282" y="202886"/>
            <a:ext cx="801467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0" y="4271550"/>
            <a:ext cx="2359959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b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МФТИ, ПИШ РПИ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Осень</a:t>
            </a: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2026/2027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68BDA-96CA-4ADC-BAD7-9D151CF9ADAA}"/>
              </a:ext>
            </a:extLst>
          </p:cNvPr>
          <p:cNvSpPr txBox="1"/>
          <p:nvPr/>
        </p:nvSpPr>
        <p:spPr>
          <a:xfrm>
            <a:off x="4323450" y="4041287"/>
            <a:ext cx="4820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Авторы:</a:t>
            </a:r>
          </a:p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Гнатов Михаил Андреевич</a:t>
            </a:r>
          </a:p>
          <a:p>
            <a:r>
              <a:rPr lang="ru-RU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Доброжанский</a:t>
            </a:r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Владимир Алексеевич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FBCDC-6F83-4920-A6D3-701104C497C5}"/>
              </a:ext>
            </a:extLst>
          </p:cNvPr>
          <p:cNvSpPr txBox="1"/>
          <p:nvPr/>
        </p:nvSpPr>
        <p:spPr>
          <a:xfrm>
            <a:off x="1245611" y="2481343"/>
            <a:ext cx="6652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</a:t>
            </a:r>
            <a:r>
              <a:rPr lang="ru-RU" sz="32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-GB" sz="32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sz="32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Современные </a:t>
            </a:r>
            <a:r>
              <a:rPr lang="en-US" sz="32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sz="32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технологии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3696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Темы на сегодня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18167"/>
            <a:ext cx="8520600" cy="33506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Обнаружение и классификация на изображениях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 обнаружения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Сопровождение по траекторным отметкам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Фундаментальные проблемы МЛ в задачах радиолокации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Генерация реалистичных данных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1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5240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0" y="1525034"/>
            <a:ext cx="9144000" cy="14072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ru-RU" sz="4800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Обнаружение и классификация на изображениях </a:t>
            </a: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566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  <a:sym typeface="Nunito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01335"/>
            <a:ext cx="8520600" cy="3967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Термины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393700" indent="-285750">
              <a:lnSpc>
                <a:spcPct val="13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Распознавание образов </a:t>
            </a:r>
            <a:r>
              <a:rPr lang="ru-RU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ru-RU" dirty="0" err="1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pattern</a:t>
            </a:r>
            <a:r>
              <a:rPr lang="ru-RU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recognition</a:t>
            </a:r>
            <a:r>
              <a:rPr lang="ru-RU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) – область машинного обучения, изучающая методы автоматического отнесения наблюдаемых объектов к классам, описания их структуры или принятия решений по данным</a:t>
            </a:r>
          </a:p>
          <a:p>
            <a:pPr marL="393700" indent="-285750">
              <a:lnSpc>
                <a:spcPct val="130000"/>
              </a:lnSpc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Распознавание изображений </a:t>
            </a:r>
            <a:r>
              <a:rPr lang="ru-RU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-US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image</a:t>
            </a:r>
            <a:r>
              <a:rPr lang="ru-RU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recognition</a:t>
            </a:r>
            <a:r>
              <a:rPr lang="ru-RU" dirty="0">
                <a:solidFill>
                  <a:schemeClr val="tx1"/>
                </a:solidFill>
                <a:latin typeface="Nunito"/>
                <a:ea typeface="Nunito"/>
                <a:cs typeface="Nunito"/>
                <a:sym typeface="Nunito"/>
              </a:rPr>
              <a:t>) – область, изучающая методы, позволяющие программным системам идентифицировать объекты, людей, места и текст на цифровых изображениях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853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566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  <a:sym typeface="Nunito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01335"/>
            <a:ext cx="8520600" cy="3967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Термины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Ограничивающий прямоугольник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bounding box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 — это прямоугольная область, которая полностью охватывает какой-либо объект на изображении или в видеокадре. Обычно имеет вид (</a:t>
            </a:r>
            <a:r>
              <a:rPr lang="en-US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en-US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y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en-US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x2, y2</a:t>
            </a:r>
            <a:r>
              <a:rPr lang="ru-RU" sz="1600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lang="en-US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Осепараллельный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ограничивающий прямоугольник — это ограничивающий прямоугольник, стороны которого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параллельны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сторонам изображения 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Ориентированный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ограничивающий прямоугольник (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OBB)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это ограничивающий прямоугольник, стороны которого могут быть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 параллельны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сторонам изображения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961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566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  <a:sym typeface="Nunito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01335"/>
            <a:ext cx="8520600" cy="3967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Термины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Локализация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Localization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 — найти объект и указать, где он находится, не называя что это за объект (не присваивая класс)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Классификация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Classification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 — сказать, что на картинке (присвоить класс картинке), без указания, где именно расположен объект на картинке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Обнаружение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(Detection /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Детекция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 - найти объект(ы) на изображении, указать его(их) местоположение и сказать, что это за объект (присвоить класс)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375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566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  <a:sym typeface="Nunito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B7CD0BE-CFC6-4763-8864-B9739FC4C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50" y="939197"/>
            <a:ext cx="2279783" cy="318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1EFF55-8A19-4E28-9289-5243EE663F62}"/>
              </a:ext>
            </a:extLst>
          </p:cNvPr>
          <p:cNvSpPr/>
          <p:nvPr/>
        </p:nvSpPr>
        <p:spPr>
          <a:xfrm>
            <a:off x="952062" y="4201594"/>
            <a:ext cx="1484272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Локализация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D4A7E1-92BD-4C4E-855D-26CA4B8C76D0}"/>
              </a:ext>
            </a:extLst>
          </p:cNvPr>
          <p:cNvSpPr/>
          <p:nvPr/>
        </p:nvSpPr>
        <p:spPr>
          <a:xfrm>
            <a:off x="1038386" y="1834999"/>
            <a:ext cx="1215068" cy="18071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02F8E4-A385-4C58-904F-61A9EC17452A}"/>
              </a:ext>
            </a:extLst>
          </p:cNvPr>
          <p:cNvSpPr/>
          <p:nvPr/>
        </p:nvSpPr>
        <p:spPr>
          <a:xfrm>
            <a:off x="3314802" y="4201594"/>
            <a:ext cx="1689886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Классификация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214DDA-E0C6-4FF7-B07D-6B365D75C797}"/>
              </a:ext>
            </a:extLst>
          </p:cNvPr>
          <p:cNvSpPr/>
          <p:nvPr/>
        </p:nvSpPr>
        <p:spPr>
          <a:xfrm>
            <a:off x="6376932" y="4201594"/>
            <a:ext cx="1523174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Обнаружение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" name="Picture 2" descr="Picture background">
            <a:extLst>
              <a:ext uri="{FF2B5EF4-FFF2-40B4-BE49-F238E27FC236}">
                <a16:creationId xmlns:a16="http://schemas.microsoft.com/office/drawing/2014/main" id="{3E90BEE5-E5AD-452B-87DF-0DB4FDF37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5" t="28460" r="26441" b="15171"/>
          <a:stretch/>
        </p:blipFill>
        <p:spPr bwMode="auto">
          <a:xfrm>
            <a:off x="3375531" y="1499889"/>
            <a:ext cx="1735810" cy="262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9B3C25-D4F7-4BCD-A6E3-FBD69E61EDE4}"/>
              </a:ext>
            </a:extLst>
          </p:cNvPr>
          <p:cNvSpPr/>
          <p:nvPr/>
        </p:nvSpPr>
        <p:spPr>
          <a:xfrm>
            <a:off x="3558458" y="1111319"/>
            <a:ext cx="1202573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Класс: Кот</a:t>
            </a:r>
            <a:endParaRPr lang="ru-RU" dirty="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" name="Picture 2" descr="Picture background">
            <a:extLst>
              <a:ext uri="{FF2B5EF4-FFF2-40B4-BE49-F238E27FC236}">
                <a16:creationId xmlns:a16="http://schemas.microsoft.com/office/drawing/2014/main" id="{E3E6B4E1-77EA-4C22-B083-BCCC9D903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1464" y="1051598"/>
            <a:ext cx="2279783" cy="318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2F7E5A4-CA25-41A6-A8DD-080081B1D4A5}"/>
              </a:ext>
            </a:extLst>
          </p:cNvPr>
          <p:cNvSpPr/>
          <p:nvPr/>
        </p:nvSpPr>
        <p:spPr>
          <a:xfrm>
            <a:off x="6550100" y="1947400"/>
            <a:ext cx="1215068" cy="180710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82F144-1FE3-49F6-833B-E681AD8F0BB8}"/>
              </a:ext>
            </a:extLst>
          </p:cNvPr>
          <p:cNvSpPr/>
          <p:nvPr/>
        </p:nvSpPr>
        <p:spPr>
          <a:xfrm>
            <a:off x="6376932" y="1672454"/>
            <a:ext cx="1110945" cy="325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sz="1100" b="1" dirty="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Класс: Кот</a:t>
            </a:r>
            <a:endParaRPr lang="ru-RU" sz="1100" dirty="0">
              <a:solidFill>
                <a:srgbClr val="FF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82017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433696-2774-4A27-A192-BD59AA568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481" y="629641"/>
            <a:ext cx="2233121" cy="2129544"/>
          </a:xfrm>
          <a:prstGeom prst="rect">
            <a:avLst/>
          </a:prstGeom>
        </p:spPr>
      </p:pic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7329"/>
            <a:ext cx="5735739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Специфика изображений в радиолокационных задачах: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Зачастую одноканальные или комплексные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I/Q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данные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Портреты объектов могут выглядеть сильно иначе в сравнении с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RGB-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данными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Дальность-частотные и дальность-скоростные карты сильно отличаются от обычных изображений</a:t>
            </a:r>
          </a:p>
          <a:p>
            <a:pPr marL="393700" indent="-285750">
              <a:buClr>
                <a:schemeClr val="dk1"/>
              </a:buClr>
              <a:buSzPts val="1900"/>
            </a:pP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618085-7ECC-4C0C-970C-001DDEF512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43" y="2882730"/>
            <a:ext cx="1686121" cy="168612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E4E2FE-8208-4458-BD13-F629399FE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938" y="2884695"/>
            <a:ext cx="2551021" cy="173880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181883B-CEE5-4350-A5E2-E1C368645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6891" y="2882730"/>
            <a:ext cx="1686121" cy="168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5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699" y="707329"/>
            <a:ext cx="8642647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Современные модели :</a:t>
            </a:r>
          </a:p>
          <a:p>
            <a:pPr marL="10795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Двухстадийные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обнаружители (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Two-Stage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Detectors):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Faster R-CNN, </a:t>
            </a:r>
            <a:r>
              <a:rPr lang="en-US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ThunderNet</a:t>
            </a: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9B47DF8-E7EF-404D-8BB3-6D4D91BEF3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194" y="1546677"/>
            <a:ext cx="2629004" cy="275042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A56B54-ACF6-449B-BD89-44A7353E93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632" y="1920618"/>
            <a:ext cx="4056826" cy="2400112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6FA951D-D609-4E8F-8565-819D6F876DAD}"/>
              </a:ext>
            </a:extLst>
          </p:cNvPr>
          <p:cNvSpPr/>
          <p:nvPr/>
        </p:nvSpPr>
        <p:spPr>
          <a:xfrm>
            <a:off x="1504957" y="4321028"/>
            <a:ext cx="24481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sym typeface="Nunito"/>
              </a:rPr>
              <a:t>Архитектура </a:t>
            </a:r>
            <a:r>
              <a:rPr lang="en-US" dirty="0">
                <a:solidFill>
                  <a:schemeClr val="dk1"/>
                </a:solidFill>
                <a:latin typeface="Nunito"/>
                <a:sym typeface="Nunito"/>
              </a:rPr>
              <a:t>Faster R-CNN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C7A54D6-693C-46DC-8BDC-FFDAC1A001E6}"/>
              </a:ext>
            </a:extLst>
          </p:cNvPr>
          <p:cNvSpPr/>
          <p:nvPr/>
        </p:nvSpPr>
        <p:spPr>
          <a:xfrm>
            <a:off x="5754593" y="4320730"/>
            <a:ext cx="16850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sym typeface="Nunito"/>
              </a:rPr>
              <a:t>Архитектура</a:t>
            </a:r>
            <a:r>
              <a:rPr lang="en-US" dirty="0">
                <a:solidFill>
                  <a:schemeClr val="dk1"/>
                </a:solidFill>
                <a:latin typeface="Nunito"/>
                <a:sym typeface="Nunito"/>
              </a:rPr>
              <a:t> RPN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24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7329"/>
            <a:ext cx="8361152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Современные модели :</a:t>
            </a:r>
          </a:p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Одностадийные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обнаружители (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One-Stage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Detectors):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SSD,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семейство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YOLO</a:t>
            </a: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5C92868-F708-4C0B-A471-F2FDB9D199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81"/>
          <a:stretch/>
        </p:blipFill>
        <p:spPr bwMode="auto">
          <a:xfrm>
            <a:off x="4748773" y="1585089"/>
            <a:ext cx="4108324" cy="273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40F7643-2831-4206-8E2E-F96CF6C3C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177" y="1572912"/>
            <a:ext cx="2810119" cy="278576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541B398-AB08-42B0-91E9-82A5E48EB35A}"/>
              </a:ext>
            </a:extLst>
          </p:cNvPr>
          <p:cNvSpPr/>
          <p:nvPr/>
        </p:nvSpPr>
        <p:spPr>
          <a:xfrm>
            <a:off x="1504957" y="4321028"/>
            <a:ext cx="19992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sym typeface="Nunito"/>
              </a:rPr>
              <a:t>Архитектура </a:t>
            </a:r>
            <a:r>
              <a:rPr lang="en-US" dirty="0">
                <a:solidFill>
                  <a:schemeClr val="dk1"/>
                </a:solidFill>
                <a:latin typeface="Nunito"/>
                <a:sym typeface="Nunito"/>
              </a:rPr>
              <a:t>YOLOv5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3AF135C-551D-4FFD-8544-0335521C1A88}"/>
              </a:ext>
            </a:extLst>
          </p:cNvPr>
          <p:cNvSpPr/>
          <p:nvPr/>
        </p:nvSpPr>
        <p:spPr>
          <a:xfrm>
            <a:off x="5503486" y="4316702"/>
            <a:ext cx="210666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sym typeface="Nunito"/>
              </a:rPr>
              <a:t>Архитектура </a:t>
            </a:r>
            <a:r>
              <a:rPr lang="en-US" dirty="0">
                <a:solidFill>
                  <a:schemeClr val="dk1"/>
                </a:solidFill>
                <a:latin typeface="Nunito"/>
                <a:sym typeface="Nunito"/>
              </a:rPr>
              <a:t>YOLOv12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903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7329"/>
            <a:ext cx="8361152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Современные модели :</a:t>
            </a: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Трансформеры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DETR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 его развитие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252CF6-0A3F-453D-BE43-1177E6D30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82" y="1844298"/>
            <a:ext cx="8524618" cy="2257456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EDAB354-27AD-4E1B-8BDE-6C86CDFE008E}"/>
              </a:ext>
            </a:extLst>
          </p:cNvPr>
          <p:cNvSpPr/>
          <p:nvPr/>
        </p:nvSpPr>
        <p:spPr>
          <a:xfrm>
            <a:off x="3265564" y="4282282"/>
            <a:ext cx="22862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sym typeface="Nunito"/>
              </a:rPr>
              <a:t>Архитектура </a:t>
            </a:r>
            <a:r>
              <a:rPr lang="en-US" dirty="0">
                <a:solidFill>
                  <a:schemeClr val="dk1"/>
                </a:solidFill>
                <a:latin typeface="Nunito"/>
                <a:sym typeface="Nunito"/>
              </a:rPr>
              <a:t>RT-DETRv3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784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Обнаружение и классификация на изображениях 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7329"/>
            <a:ext cx="8361152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Современные модели :</a:t>
            </a:r>
            <a:endParaRPr lang="en-US" sz="1600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Наиболее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легковесные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MobileNetV3, </a:t>
            </a:r>
            <a:r>
              <a:rPr lang="en-US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EfficientNet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-US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NanoDet</a:t>
            </a: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buClr>
                <a:schemeClr val="dk1"/>
              </a:buClr>
              <a:buSzPts val="1900"/>
              <a:buNone/>
            </a:pP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A5CA300-A0D5-493F-AD59-96D423536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233" y="1577703"/>
            <a:ext cx="6028833" cy="2686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7B1FBC2-85B8-4C46-8DE9-207F8039CF04}"/>
              </a:ext>
            </a:extLst>
          </p:cNvPr>
          <p:cNvSpPr/>
          <p:nvPr/>
        </p:nvSpPr>
        <p:spPr>
          <a:xfrm>
            <a:off x="3441903" y="4350071"/>
            <a:ext cx="20393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sym typeface="Nunito"/>
              </a:rPr>
              <a:t>Архитектура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NanoDet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8829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5240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0" y="1525034"/>
            <a:ext cx="9144000" cy="14072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ru-RU" sz="4800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Метрики обнаружения</a:t>
            </a: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5756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B5E3A6-2947-4857-AB87-9016CFDDDCA9}"/>
              </a:ext>
            </a:extLst>
          </p:cNvPr>
          <p:cNvSpPr/>
          <p:nvPr/>
        </p:nvSpPr>
        <p:spPr>
          <a:xfrm>
            <a:off x="311700" y="1057274"/>
            <a:ext cx="822325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Термины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Метрика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это функция от предсказаний модели на объектах и истинных ответов, показывающая, насколько хороши (или плохи) эти предсказания.</a:t>
            </a:r>
            <a:b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Наилучшее решение даёт максимум метрики.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Функция потерь 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ru-RU" sz="18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loss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8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function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 — это математическая функция от предсказаний модели, которая измеряет расхождение между предсказаниями модели и реальными значениями. </a:t>
            </a:r>
            <a:b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Наилучшее решение даёт минимум функции потерь.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u-RU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u-RU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endParaRPr lang="ru-RU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447522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FB5E3A6-2947-4857-AB87-9016CFDDDCA9}"/>
              </a:ext>
            </a:extLst>
          </p:cNvPr>
          <p:cNvSpPr/>
          <p:nvPr/>
        </p:nvSpPr>
        <p:spPr>
          <a:xfrm>
            <a:off x="311700" y="1057274"/>
            <a:ext cx="8223250" cy="1381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Термины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285750" indent="-285750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IoU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(Intersection over Union) 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это метрика, которая используется, чтобы оценить, насколько точно локализован объект на изображении. </a:t>
            </a:r>
          </a:p>
          <a:p>
            <a:endParaRPr lang="ru-RU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C8133B5-F2C1-430F-8C3E-58CF32653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890" y="2215773"/>
            <a:ext cx="4151997" cy="233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687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FB5E3A6-2947-4857-AB87-9016CFDDDCA9}"/>
                  </a:ext>
                </a:extLst>
              </p:cNvPr>
              <p:cNvSpPr/>
              <p:nvPr/>
            </p:nvSpPr>
            <p:spPr>
              <a:xfrm>
                <a:off x="311700" y="1057274"/>
                <a:ext cx="8544032" cy="3348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5000"/>
                  </a:lnSpc>
                  <a:spcAft>
                    <a:spcPts val="600"/>
                  </a:spcAft>
                </a:pP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Основные метрики обнаружения: </a:t>
                </a: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Accuracy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— доля правильных обнаружений (не точность)</a:t>
                </a: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Balanced accuracy 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— сбалансированная доля правильных обнаружений </a:t>
                </a:r>
                <a:endParaRPr lang="en-US" sz="1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Precision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— точность</a:t>
                </a:r>
                <a:endParaRPr lang="en-US" sz="1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Recall 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— полнота</a:t>
                </a:r>
                <a:endParaRPr lang="en-US" sz="1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𝐹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-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мера</a:t>
                </a: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mAP</a:t>
                </a: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—</a:t>
                </a:r>
                <a:r>
                  <a:rPr lang="ko-KR" alt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altLang="ko-KR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усреднённая средняя точность</a:t>
                </a:r>
                <a:endParaRPr lang="en-US" sz="1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mAP50</a:t>
                </a:r>
              </a:p>
              <a:p>
                <a:pPr marL="285750" indent="-285750">
                  <a:lnSpc>
                    <a:spcPct val="105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mAP50-95</a:t>
                </a:r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9FB5E3A6-2947-4857-AB87-9016CFDDD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0" y="1057274"/>
                <a:ext cx="8544032" cy="3348032"/>
              </a:xfrm>
              <a:prstGeom prst="rect">
                <a:avLst/>
              </a:prstGeom>
              <a:blipFill>
                <a:blip r:embed="rId5"/>
                <a:stretch>
                  <a:fillRect l="-571" t="-545" b="-1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643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412;p47">
            <a:extLst>
              <a:ext uri="{FF2B5EF4-FFF2-40B4-BE49-F238E27FC236}">
                <a16:creationId xmlns:a16="http://schemas.microsoft.com/office/drawing/2014/main" id="{B94099F7-BA28-44E4-B3B9-5B241A531CF1}"/>
              </a:ext>
            </a:extLst>
          </p:cNvPr>
          <p:cNvSpPr txBox="1"/>
          <p:nvPr/>
        </p:nvSpPr>
        <p:spPr>
          <a:xfrm>
            <a:off x="450689" y="1045125"/>
            <a:ext cx="7756800" cy="544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Accuracy</a:t>
            </a:r>
            <a:r>
              <a:rPr lang="en-US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— </a:t>
            </a:r>
            <a:r>
              <a:rPr lang="ru-RU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д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оля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правильных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обнаружений</a:t>
            </a:r>
            <a:endParaRPr sz="1800"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415;p47">
            <a:extLst>
              <a:ext uri="{FF2B5EF4-FFF2-40B4-BE49-F238E27FC236}">
                <a16:creationId xmlns:a16="http://schemas.microsoft.com/office/drawing/2014/main" id="{5BCFEDA2-2EB7-445C-9030-036BE88DB53C}"/>
              </a:ext>
            </a:extLst>
          </p:cNvPr>
          <p:cNvSpPr txBox="1"/>
          <p:nvPr/>
        </p:nvSpPr>
        <p:spPr>
          <a:xfrm>
            <a:off x="450689" y="1665800"/>
            <a:ext cx="4989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dirty="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Accuracy = (1/n) · Σᵢ₌₁ⁿ [yᵢᵗ = yᵢᵖ]</a:t>
            </a:r>
            <a:endParaRPr sz="1800" dirty="0"/>
          </a:p>
        </p:txBody>
      </p:sp>
      <p:sp>
        <p:nvSpPr>
          <p:cNvPr id="10" name="Google Shape;416;p47">
            <a:extLst>
              <a:ext uri="{FF2B5EF4-FFF2-40B4-BE49-F238E27FC236}">
                <a16:creationId xmlns:a16="http://schemas.microsoft.com/office/drawing/2014/main" id="{873D0FFA-F5B7-4F26-B23A-E5CE2E27B44F}"/>
              </a:ext>
            </a:extLst>
          </p:cNvPr>
          <p:cNvSpPr txBox="1"/>
          <p:nvPr/>
        </p:nvSpPr>
        <p:spPr>
          <a:xfrm>
            <a:off x="450689" y="2394175"/>
            <a:ext cx="66891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target:      1 0 1 0 0 0 0 1 0 0</a:t>
            </a:r>
            <a:br>
              <a:rPr lang="en-GB" sz="17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7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predicted:   0 0 1 0 0 0 0 1 1 0</a:t>
            </a:r>
            <a:endParaRPr sz="1500" dirty="0"/>
          </a:p>
        </p:txBody>
      </p:sp>
      <p:sp>
        <p:nvSpPr>
          <p:cNvPr id="11" name="Google Shape;417;p47">
            <a:extLst>
              <a:ext uri="{FF2B5EF4-FFF2-40B4-BE49-F238E27FC236}">
                <a16:creationId xmlns:a16="http://schemas.microsoft.com/office/drawing/2014/main" id="{50048A39-4E22-44AE-90B5-F532C0D33EE7}"/>
              </a:ext>
            </a:extLst>
          </p:cNvPr>
          <p:cNvSpPr txBox="1"/>
          <p:nvPr/>
        </p:nvSpPr>
        <p:spPr>
          <a:xfrm>
            <a:off x="450689" y="3385950"/>
            <a:ext cx="3000000" cy="544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accuracy = 8/10 = 0.8</a:t>
            </a:r>
            <a:endParaRPr sz="1800" dirty="0">
              <a:latin typeface="Nunito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62295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424;p48">
            <a:extLst>
              <a:ext uri="{FF2B5EF4-FFF2-40B4-BE49-F238E27FC236}">
                <a16:creationId xmlns:a16="http://schemas.microsoft.com/office/drawing/2014/main" id="{A7E38B54-97A6-4CE7-A65F-B96E4B591FD4}"/>
              </a:ext>
            </a:extLst>
          </p:cNvPr>
          <p:cNvSpPr txBox="1"/>
          <p:nvPr/>
        </p:nvSpPr>
        <p:spPr>
          <a:xfrm>
            <a:off x="373835" y="611660"/>
            <a:ext cx="7756800" cy="90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1800" b="1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Balanced accuracy</a:t>
            </a:r>
            <a:r>
              <a:rPr lang="en-US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— </a:t>
            </a:r>
            <a:r>
              <a:rPr lang="ru-RU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с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реднее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по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классам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от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доли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правильных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ответов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внутри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каждого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класса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-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учитывает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дисбаланс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классов</a:t>
            </a:r>
            <a:endParaRPr sz="1800"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grpSp>
        <p:nvGrpSpPr>
          <p:cNvPr id="31" name="Google Shape;427;p48">
            <a:extLst>
              <a:ext uri="{FF2B5EF4-FFF2-40B4-BE49-F238E27FC236}">
                <a16:creationId xmlns:a16="http://schemas.microsoft.com/office/drawing/2014/main" id="{33CA4830-C37E-4D1E-A47E-163510691FF7}"/>
              </a:ext>
            </a:extLst>
          </p:cNvPr>
          <p:cNvGrpSpPr/>
          <p:nvPr/>
        </p:nvGrpSpPr>
        <p:grpSpPr>
          <a:xfrm>
            <a:off x="364472" y="1347940"/>
            <a:ext cx="5407953" cy="1208110"/>
            <a:chOff x="869697" y="3656440"/>
            <a:chExt cx="5407953" cy="1208110"/>
          </a:xfrm>
        </p:grpSpPr>
        <p:sp>
          <p:nvSpPr>
            <p:cNvPr id="32" name="Google Shape;428;p48">
              <a:extLst>
                <a:ext uri="{FF2B5EF4-FFF2-40B4-BE49-F238E27FC236}">
                  <a16:creationId xmlns:a16="http://schemas.microsoft.com/office/drawing/2014/main" id="{C713E5B4-297A-4BC0-95F3-C28C1715538D}"/>
                </a:ext>
              </a:extLst>
            </p:cNvPr>
            <p:cNvSpPr/>
            <p:nvPr/>
          </p:nvSpPr>
          <p:spPr>
            <a:xfrm>
              <a:off x="869697" y="4041650"/>
              <a:ext cx="2215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mbria Math"/>
                <a:buNone/>
              </a:pPr>
              <a:r>
                <a:rPr lang="en-GB" sz="1800" b="0" u="none" strike="noStrike" cap="none" dirty="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Balanced accuracy = </a:t>
              </a:r>
              <a:endParaRPr sz="1800" b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429;p48">
              <a:extLst>
                <a:ext uri="{FF2B5EF4-FFF2-40B4-BE49-F238E27FC236}">
                  <a16:creationId xmlns:a16="http://schemas.microsoft.com/office/drawing/2014/main" id="{83548A93-C953-45EE-80E2-0AF459D5433E}"/>
                </a:ext>
              </a:extLst>
            </p:cNvPr>
            <p:cNvSpPr/>
            <p:nvPr/>
          </p:nvSpPr>
          <p:spPr>
            <a:xfrm>
              <a:off x="3037085" y="3899958"/>
              <a:ext cx="548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mbria Math"/>
                <a:buNone/>
              </a:pPr>
              <a:r>
                <a:rPr lang="en-GB" sz="18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1</a:t>
              </a:r>
              <a:endParaRPr sz="18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" name="Google Shape;430;p48">
              <a:extLst>
                <a:ext uri="{FF2B5EF4-FFF2-40B4-BE49-F238E27FC236}">
                  <a16:creationId xmlns:a16="http://schemas.microsoft.com/office/drawing/2014/main" id="{3AE1C7D7-1C3F-4299-9541-DBD05A95081A}"/>
                </a:ext>
              </a:extLst>
            </p:cNvPr>
            <p:cNvCxnSpPr/>
            <p:nvPr/>
          </p:nvCxnSpPr>
          <p:spPr>
            <a:xfrm>
              <a:off x="3037085" y="4265718"/>
              <a:ext cx="548700" cy="0"/>
            </a:xfrm>
            <a:prstGeom prst="straightConnector1">
              <a:avLst/>
            </a:prstGeom>
            <a:noFill/>
            <a:ln w="1270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" name="Google Shape;431;p48">
              <a:extLst>
                <a:ext uri="{FF2B5EF4-FFF2-40B4-BE49-F238E27FC236}">
                  <a16:creationId xmlns:a16="http://schemas.microsoft.com/office/drawing/2014/main" id="{00C7FE36-6043-4BB3-B12E-01A6BD24B0CE}"/>
                </a:ext>
              </a:extLst>
            </p:cNvPr>
            <p:cNvSpPr/>
            <p:nvPr/>
          </p:nvSpPr>
          <p:spPr>
            <a:xfrm>
              <a:off x="3037085" y="4293150"/>
              <a:ext cx="548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mbria Math"/>
                <a:buNone/>
              </a:pPr>
              <a:r>
                <a:rPr lang="en-GB" sz="18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</a:t>
              </a:r>
              <a:endParaRPr sz="18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432;p48">
              <a:extLst>
                <a:ext uri="{FF2B5EF4-FFF2-40B4-BE49-F238E27FC236}">
                  <a16:creationId xmlns:a16="http://schemas.microsoft.com/office/drawing/2014/main" id="{B0BA0110-5A4D-49E6-9542-2916623C5510}"/>
                </a:ext>
              </a:extLst>
            </p:cNvPr>
            <p:cNvSpPr/>
            <p:nvPr/>
          </p:nvSpPr>
          <p:spPr>
            <a:xfrm>
              <a:off x="3514660" y="3724965"/>
              <a:ext cx="4572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mbria Math"/>
                <a:buNone/>
              </a:pPr>
              <a:r>
                <a:rPr lang="en-GB" sz="14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</a:t>
              </a:r>
              <a:endParaRPr sz="14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433;p48">
              <a:extLst>
                <a:ext uri="{FF2B5EF4-FFF2-40B4-BE49-F238E27FC236}">
                  <a16:creationId xmlns:a16="http://schemas.microsoft.com/office/drawing/2014/main" id="{F0AFAFC8-F4F6-4036-9F7D-96DBF9B457BA}"/>
                </a:ext>
              </a:extLst>
            </p:cNvPr>
            <p:cNvSpPr/>
            <p:nvPr/>
          </p:nvSpPr>
          <p:spPr>
            <a:xfrm>
              <a:off x="3468940" y="3907845"/>
              <a:ext cx="548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mbria Math"/>
                <a:buNone/>
              </a:pPr>
              <a:r>
                <a:rPr lang="en-GB" sz="3400" b="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Σ</a:t>
              </a:r>
              <a:endParaRPr sz="3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434;p48">
              <a:extLst>
                <a:ext uri="{FF2B5EF4-FFF2-40B4-BE49-F238E27FC236}">
                  <a16:creationId xmlns:a16="http://schemas.microsoft.com/office/drawing/2014/main" id="{B6FEEBFE-9D1D-40D9-A3AB-3CEDE38AF044}"/>
                </a:ext>
              </a:extLst>
            </p:cNvPr>
            <p:cNvSpPr/>
            <p:nvPr/>
          </p:nvSpPr>
          <p:spPr>
            <a:xfrm>
              <a:off x="3304348" y="4575357"/>
              <a:ext cx="82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mbria Math"/>
                <a:buNone/>
              </a:pPr>
              <a:r>
                <a:rPr lang="en-GB" sz="12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k=1</a:t>
              </a:r>
              <a:endParaRPr sz="12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435;p48">
              <a:extLst>
                <a:ext uri="{FF2B5EF4-FFF2-40B4-BE49-F238E27FC236}">
                  <a16:creationId xmlns:a16="http://schemas.microsoft.com/office/drawing/2014/main" id="{2B666929-E23B-409A-B6D0-1A0C1A18FF02}"/>
                </a:ext>
              </a:extLst>
            </p:cNvPr>
            <p:cNvSpPr/>
            <p:nvPr/>
          </p:nvSpPr>
          <p:spPr>
            <a:xfrm>
              <a:off x="3971840" y="3656440"/>
              <a:ext cx="3201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Cambria Math"/>
                <a:buNone/>
              </a:pPr>
              <a:r>
                <a:rPr lang="en-GB" sz="5500" b="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[</a:t>
              </a:r>
              <a:endParaRPr sz="5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36;p48">
              <a:extLst>
                <a:ext uri="{FF2B5EF4-FFF2-40B4-BE49-F238E27FC236}">
                  <a16:creationId xmlns:a16="http://schemas.microsoft.com/office/drawing/2014/main" id="{E79F3037-A528-496B-9B26-8055C3E5466F}"/>
                </a:ext>
              </a:extLst>
            </p:cNvPr>
            <p:cNvSpPr/>
            <p:nvPr/>
          </p:nvSpPr>
          <p:spPr>
            <a:xfrm>
              <a:off x="4291950" y="3899950"/>
              <a:ext cx="17520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ambria Math"/>
                <a:buNone/>
              </a:pP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Σ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 [y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t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=k и 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t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=y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]</a:t>
              </a:r>
              <a:endParaRPr sz="15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" name="Google Shape;437;p48">
              <a:extLst>
                <a:ext uri="{FF2B5EF4-FFF2-40B4-BE49-F238E27FC236}">
                  <a16:creationId xmlns:a16="http://schemas.microsoft.com/office/drawing/2014/main" id="{B3C241B1-2858-4B3D-8ADE-D81BDA0DDC0B}"/>
                </a:ext>
              </a:extLst>
            </p:cNvPr>
            <p:cNvCxnSpPr/>
            <p:nvPr/>
          </p:nvCxnSpPr>
          <p:spPr>
            <a:xfrm rot="10800000" flipH="1">
              <a:off x="4291950" y="4260313"/>
              <a:ext cx="1665600" cy="5400"/>
            </a:xfrm>
            <a:prstGeom prst="straightConnector1">
              <a:avLst/>
            </a:prstGeom>
            <a:noFill/>
            <a:ln w="1270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" name="Google Shape;438;p48">
              <a:extLst>
                <a:ext uri="{FF2B5EF4-FFF2-40B4-BE49-F238E27FC236}">
                  <a16:creationId xmlns:a16="http://schemas.microsoft.com/office/drawing/2014/main" id="{8654BF0A-C38D-4374-AD4C-B8727563FA6E}"/>
                </a:ext>
              </a:extLst>
            </p:cNvPr>
            <p:cNvSpPr/>
            <p:nvPr/>
          </p:nvSpPr>
          <p:spPr>
            <a:xfrm>
              <a:off x="4291950" y="4293150"/>
              <a:ext cx="16101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ambria Math"/>
                <a:buNone/>
              </a:pP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Σ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 [y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t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=k]</a:t>
              </a:r>
              <a:endParaRPr sz="15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9;p48">
              <a:extLst>
                <a:ext uri="{FF2B5EF4-FFF2-40B4-BE49-F238E27FC236}">
                  <a16:creationId xmlns:a16="http://schemas.microsoft.com/office/drawing/2014/main" id="{D7907B8D-3E14-431A-99D3-E83411E58D85}"/>
                </a:ext>
              </a:extLst>
            </p:cNvPr>
            <p:cNvSpPr/>
            <p:nvPr/>
          </p:nvSpPr>
          <p:spPr>
            <a:xfrm>
              <a:off x="5957550" y="3675950"/>
              <a:ext cx="3201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Cambria Math"/>
                <a:buNone/>
              </a:pPr>
              <a:r>
                <a:rPr lang="en-GB" sz="550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]</a:t>
              </a:r>
              <a:endParaRPr sz="5500" i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  <p:sp>
        <p:nvSpPr>
          <p:cNvPr id="44" name="Google Shape;440;p48">
            <a:extLst>
              <a:ext uri="{FF2B5EF4-FFF2-40B4-BE49-F238E27FC236}">
                <a16:creationId xmlns:a16="http://schemas.microsoft.com/office/drawing/2014/main" id="{77BE00EA-1E04-4B6C-A62E-1D2637E755D9}"/>
              </a:ext>
            </a:extLst>
          </p:cNvPr>
          <p:cNvSpPr/>
          <p:nvPr/>
        </p:nvSpPr>
        <p:spPr>
          <a:xfrm>
            <a:off x="364475" y="2850250"/>
            <a:ext cx="4167900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target:      1 1 1 2 2 2 3 3 3 3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predicted:   1 1 2 2 2 3 3 3 3 1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" name="Google Shape;441;p48">
            <a:extLst>
              <a:ext uri="{FF2B5EF4-FFF2-40B4-BE49-F238E27FC236}">
                <a16:creationId xmlns:a16="http://schemas.microsoft.com/office/drawing/2014/main" id="{A0355131-8B13-460D-B08E-62BF93A3F5A6}"/>
              </a:ext>
            </a:extLst>
          </p:cNvPr>
          <p:cNvSpPr/>
          <p:nvPr/>
        </p:nvSpPr>
        <p:spPr>
          <a:xfrm>
            <a:off x="4695275" y="2720500"/>
            <a:ext cx="34881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1:  2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из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3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верно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 →  </a:t>
            </a:r>
            <a:r>
              <a:rPr lang="en-GB" sz="1600" dirty="0">
                <a:latin typeface="Nunito" panose="020B0604020202020204" charset="-52"/>
                <a:ea typeface="Montserrat"/>
                <a:cs typeface="Montserrat"/>
                <a:sym typeface="Montserrat"/>
              </a:rPr>
              <a:t>⅔</a:t>
            </a:r>
            <a:endParaRPr sz="1600" dirty="0">
              <a:latin typeface="Nunito" panose="020B0604020202020204" charset="-52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2:  2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из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3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верно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 →  </a:t>
            </a:r>
            <a:r>
              <a:rPr lang="en-GB" sz="1600" dirty="0">
                <a:latin typeface="Nunito" panose="020B0604020202020204" charset="-52"/>
                <a:ea typeface="Montserrat"/>
                <a:cs typeface="Montserrat"/>
                <a:sym typeface="Montserrat"/>
              </a:rPr>
              <a:t>⅔</a:t>
            </a:r>
            <a:endParaRPr sz="1600" dirty="0">
              <a:latin typeface="Nunito" panose="020B0604020202020204" charset="-52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3:  3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из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4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верно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 →  </a:t>
            </a:r>
            <a:r>
              <a:rPr lang="en-GB" sz="1600" dirty="0">
                <a:latin typeface="Nunito" panose="020B0604020202020204" charset="-52"/>
                <a:ea typeface="Montserrat"/>
                <a:cs typeface="Montserrat"/>
                <a:sym typeface="Montserrat"/>
              </a:rPr>
              <a:t>¾</a:t>
            </a:r>
            <a:endParaRPr sz="1600" dirty="0"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42;p48">
            <a:extLst>
              <a:ext uri="{FF2B5EF4-FFF2-40B4-BE49-F238E27FC236}">
                <a16:creationId xmlns:a16="http://schemas.microsoft.com/office/drawing/2014/main" id="{9CE8CFE8-80CA-43F9-A31C-47A512F42D0C}"/>
              </a:ext>
            </a:extLst>
          </p:cNvPr>
          <p:cNvSpPr/>
          <p:nvPr/>
        </p:nvSpPr>
        <p:spPr>
          <a:xfrm>
            <a:off x="364471" y="4024375"/>
            <a:ext cx="5609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balanced accuracy = (1/3) · (2/3 + 2/3 + 3/4) = 25/36 ≈ 0.69</a:t>
            </a:r>
            <a:endParaRPr sz="1600"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17744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424;p48">
            <a:extLst>
              <a:ext uri="{FF2B5EF4-FFF2-40B4-BE49-F238E27FC236}">
                <a16:creationId xmlns:a16="http://schemas.microsoft.com/office/drawing/2014/main" id="{A7E38B54-97A6-4CE7-A65F-B96E4B591FD4}"/>
              </a:ext>
            </a:extLst>
          </p:cNvPr>
          <p:cNvSpPr txBox="1"/>
          <p:nvPr/>
        </p:nvSpPr>
        <p:spPr>
          <a:xfrm>
            <a:off x="373835" y="611660"/>
            <a:ext cx="7756800" cy="90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1800" b="1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Balanced accuracy</a:t>
            </a:r>
            <a:r>
              <a:rPr lang="en-US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— </a:t>
            </a:r>
            <a:r>
              <a:rPr lang="ru-RU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с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реднее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по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классам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от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доли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правильных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ответов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внутри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каждого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класса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-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учитывает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дисбаланс</a:t>
            </a:r>
            <a:r>
              <a:rPr lang="en-GB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sz="1800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классов</a:t>
            </a:r>
            <a:endParaRPr sz="1800"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grpSp>
        <p:nvGrpSpPr>
          <p:cNvPr id="31" name="Google Shape;427;p48">
            <a:extLst>
              <a:ext uri="{FF2B5EF4-FFF2-40B4-BE49-F238E27FC236}">
                <a16:creationId xmlns:a16="http://schemas.microsoft.com/office/drawing/2014/main" id="{33CA4830-C37E-4D1E-A47E-163510691FF7}"/>
              </a:ext>
            </a:extLst>
          </p:cNvPr>
          <p:cNvGrpSpPr/>
          <p:nvPr/>
        </p:nvGrpSpPr>
        <p:grpSpPr>
          <a:xfrm>
            <a:off x="364472" y="1347940"/>
            <a:ext cx="5407953" cy="1208110"/>
            <a:chOff x="869697" y="3656440"/>
            <a:chExt cx="5407953" cy="1208110"/>
          </a:xfrm>
        </p:grpSpPr>
        <p:sp>
          <p:nvSpPr>
            <p:cNvPr id="32" name="Google Shape;428;p48">
              <a:extLst>
                <a:ext uri="{FF2B5EF4-FFF2-40B4-BE49-F238E27FC236}">
                  <a16:creationId xmlns:a16="http://schemas.microsoft.com/office/drawing/2014/main" id="{C713E5B4-297A-4BC0-95F3-C28C1715538D}"/>
                </a:ext>
              </a:extLst>
            </p:cNvPr>
            <p:cNvSpPr/>
            <p:nvPr/>
          </p:nvSpPr>
          <p:spPr>
            <a:xfrm>
              <a:off x="869697" y="4041650"/>
              <a:ext cx="2215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mbria Math"/>
                <a:buNone/>
              </a:pPr>
              <a:r>
                <a:rPr lang="en-GB" sz="1800" b="0" u="none" strike="noStrike" cap="none" dirty="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Balanced accuracy = </a:t>
              </a:r>
              <a:endParaRPr sz="1800" b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429;p48">
              <a:extLst>
                <a:ext uri="{FF2B5EF4-FFF2-40B4-BE49-F238E27FC236}">
                  <a16:creationId xmlns:a16="http://schemas.microsoft.com/office/drawing/2014/main" id="{83548A93-C953-45EE-80E2-0AF459D5433E}"/>
                </a:ext>
              </a:extLst>
            </p:cNvPr>
            <p:cNvSpPr/>
            <p:nvPr/>
          </p:nvSpPr>
          <p:spPr>
            <a:xfrm>
              <a:off x="3037085" y="3899958"/>
              <a:ext cx="548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mbria Math"/>
                <a:buNone/>
              </a:pPr>
              <a:r>
                <a:rPr lang="en-GB" sz="18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1</a:t>
              </a:r>
              <a:endParaRPr sz="18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" name="Google Shape;430;p48">
              <a:extLst>
                <a:ext uri="{FF2B5EF4-FFF2-40B4-BE49-F238E27FC236}">
                  <a16:creationId xmlns:a16="http://schemas.microsoft.com/office/drawing/2014/main" id="{3AE1C7D7-1C3F-4299-9541-DBD05A95081A}"/>
                </a:ext>
              </a:extLst>
            </p:cNvPr>
            <p:cNvCxnSpPr/>
            <p:nvPr/>
          </p:nvCxnSpPr>
          <p:spPr>
            <a:xfrm>
              <a:off x="3037085" y="4265718"/>
              <a:ext cx="548700" cy="0"/>
            </a:xfrm>
            <a:prstGeom prst="straightConnector1">
              <a:avLst/>
            </a:prstGeom>
            <a:noFill/>
            <a:ln w="1270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" name="Google Shape;431;p48">
              <a:extLst>
                <a:ext uri="{FF2B5EF4-FFF2-40B4-BE49-F238E27FC236}">
                  <a16:creationId xmlns:a16="http://schemas.microsoft.com/office/drawing/2014/main" id="{00C7FE36-6043-4BB3-B12E-01A6BD24B0CE}"/>
                </a:ext>
              </a:extLst>
            </p:cNvPr>
            <p:cNvSpPr/>
            <p:nvPr/>
          </p:nvSpPr>
          <p:spPr>
            <a:xfrm>
              <a:off x="3037085" y="4293150"/>
              <a:ext cx="5487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mbria Math"/>
                <a:buNone/>
              </a:pPr>
              <a:r>
                <a:rPr lang="en-GB" sz="18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</a:t>
              </a:r>
              <a:endParaRPr sz="18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432;p48">
              <a:extLst>
                <a:ext uri="{FF2B5EF4-FFF2-40B4-BE49-F238E27FC236}">
                  <a16:creationId xmlns:a16="http://schemas.microsoft.com/office/drawing/2014/main" id="{B0BA0110-5A4D-49E6-9542-2916623C5510}"/>
                </a:ext>
              </a:extLst>
            </p:cNvPr>
            <p:cNvSpPr/>
            <p:nvPr/>
          </p:nvSpPr>
          <p:spPr>
            <a:xfrm>
              <a:off x="3514660" y="3724965"/>
              <a:ext cx="4572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mbria Math"/>
                <a:buNone/>
              </a:pPr>
              <a:r>
                <a:rPr lang="en-GB" sz="14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C</a:t>
              </a:r>
              <a:endParaRPr sz="14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433;p48">
              <a:extLst>
                <a:ext uri="{FF2B5EF4-FFF2-40B4-BE49-F238E27FC236}">
                  <a16:creationId xmlns:a16="http://schemas.microsoft.com/office/drawing/2014/main" id="{F0AFAFC8-F4F6-4036-9F7D-96DBF9B457BA}"/>
                </a:ext>
              </a:extLst>
            </p:cNvPr>
            <p:cNvSpPr/>
            <p:nvPr/>
          </p:nvSpPr>
          <p:spPr>
            <a:xfrm>
              <a:off x="3468940" y="3907845"/>
              <a:ext cx="548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Cambria Math"/>
                <a:buNone/>
              </a:pPr>
              <a:r>
                <a:rPr lang="en-GB" sz="3400" b="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Σ</a:t>
              </a:r>
              <a:endParaRPr sz="3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434;p48">
              <a:extLst>
                <a:ext uri="{FF2B5EF4-FFF2-40B4-BE49-F238E27FC236}">
                  <a16:creationId xmlns:a16="http://schemas.microsoft.com/office/drawing/2014/main" id="{B6FEEBFE-9D1D-40D9-A3AB-3CEDE38AF044}"/>
                </a:ext>
              </a:extLst>
            </p:cNvPr>
            <p:cNvSpPr/>
            <p:nvPr/>
          </p:nvSpPr>
          <p:spPr>
            <a:xfrm>
              <a:off x="3304348" y="4575357"/>
              <a:ext cx="82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mbria Math"/>
                <a:buNone/>
              </a:pPr>
              <a:r>
                <a:rPr lang="en-GB" sz="12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k=1</a:t>
              </a:r>
              <a:endParaRPr sz="12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435;p48">
              <a:extLst>
                <a:ext uri="{FF2B5EF4-FFF2-40B4-BE49-F238E27FC236}">
                  <a16:creationId xmlns:a16="http://schemas.microsoft.com/office/drawing/2014/main" id="{2B666929-E23B-409A-B6D0-1A0C1A18FF02}"/>
                </a:ext>
              </a:extLst>
            </p:cNvPr>
            <p:cNvSpPr/>
            <p:nvPr/>
          </p:nvSpPr>
          <p:spPr>
            <a:xfrm>
              <a:off x="3971840" y="3656440"/>
              <a:ext cx="3201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Cambria Math"/>
                <a:buNone/>
              </a:pPr>
              <a:r>
                <a:rPr lang="en-GB" sz="5500" b="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[</a:t>
              </a:r>
              <a:endParaRPr sz="5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36;p48">
              <a:extLst>
                <a:ext uri="{FF2B5EF4-FFF2-40B4-BE49-F238E27FC236}">
                  <a16:creationId xmlns:a16="http://schemas.microsoft.com/office/drawing/2014/main" id="{E79F3037-A528-496B-9B26-8055C3E5466F}"/>
                </a:ext>
              </a:extLst>
            </p:cNvPr>
            <p:cNvSpPr/>
            <p:nvPr/>
          </p:nvSpPr>
          <p:spPr>
            <a:xfrm>
              <a:off x="4291950" y="3899950"/>
              <a:ext cx="17520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ambria Math"/>
                <a:buNone/>
              </a:pP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Σ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 [y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t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=k и 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t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=y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p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]</a:t>
              </a:r>
              <a:endParaRPr sz="15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" name="Google Shape;437;p48">
              <a:extLst>
                <a:ext uri="{FF2B5EF4-FFF2-40B4-BE49-F238E27FC236}">
                  <a16:creationId xmlns:a16="http://schemas.microsoft.com/office/drawing/2014/main" id="{B3C241B1-2858-4B3D-8ADE-D81BDA0DDC0B}"/>
                </a:ext>
              </a:extLst>
            </p:cNvPr>
            <p:cNvCxnSpPr/>
            <p:nvPr/>
          </p:nvCxnSpPr>
          <p:spPr>
            <a:xfrm rot="10800000" flipH="1">
              <a:off x="4291950" y="4260313"/>
              <a:ext cx="1665600" cy="5400"/>
            </a:xfrm>
            <a:prstGeom prst="straightConnector1">
              <a:avLst/>
            </a:prstGeom>
            <a:noFill/>
            <a:ln w="12700" cap="flat" cmpd="sng">
              <a:solidFill>
                <a:srgbClr val="1A1A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" name="Google Shape;438;p48">
              <a:extLst>
                <a:ext uri="{FF2B5EF4-FFF2-40B4-BE49-F238E27FC236}">
                  <a16:creationId xmlns:a16="http://schemas.microsoft.com/office/drawing/2014/main" id="{8654BF0A-C38D-4374-AD4C-B8727563FA6E}"/>
                </a:ext>
              </a:extLst>
            </p:cNvPr>
            <p:cNvSpPr/>
            <p:nvPr/>
          </p:nvSpPr>
          <p:spPr>
            <a:xfrm>
              <a:off x="4291950" y="4293150"/>
              <a:ext cx="16101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Cambria Math"/>
                <a:buNone/>
              </a:pP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Σ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 [y</a:t>
              </a:r>
              <a:r>
                <a:rPr lang="en-GB" sz="900" b="0" u="none" strike="noStrike" cap="none" baseline="-25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i</a:t>
              </a:r>
              <a:r>
                <a:rPr lang="en-GB" sz="900" b="0" u="none" strike="noStrike" cap="none" baseline="30000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t</a:t>
              </a:r>
              <a:r>
                <a:rPr lang="en-GB" sz="1500" b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=k]</a:t>
              </a:r>
              <a:endParaRPr sz="1500" b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9;p48">
              <a:extLst>
                <a:ext uri="{FF2B5EF4-FFF2-40B4-BE49-F238E27FC236}">
                  <a16:creationId xmlns:a16="http://schemas.microsoft.com/office/drawing/2014/main" id="{D7907B8D-3E14-431A-99D3-E83411E58D85}"/>
                </a:ext>
              </a:extLst>
            </p:cNvPr>
            <p:cNvSpPr/>
            <p:nvPr/>
          </p:nvSpPr>
          <p:spPr>
            <a:xfrm>
              <a:off x="5957550" y="3675950"/>
              <a:ext cx="320100" cy="11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Cambria Math"/>
                <a:buNone/>
              </a:pPr>
              <a:r>
                <a:rPr lang="en-GB" sz="5500" i="0" u="none" strike="noStrike" cap="none">
                  <a:solidFill>
                    <a:srgbClr val="000000"/>
                  </a:solidFill>
                  <a:latin typeface="Cambria Math"/>
                  <a:ea typeface="Cambria Math"/>
                  <a:cs typeface="Cambria Math"/>
                  <a:sym typeface="Cambria Math"/>
                </a:rPr>
                <a:t>]</a:t>
              </a:r>
              <a:endParaRPr sz="5500" i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endParaRPr>
            </a:p>
          </p:txBody>
        </p:sp>
      </p:grpSp>
      <p:sp>
        <p:nvSpPr>
          <p:cNvPr id="44" name="Google Shape;440;p48">
            <a:extLst>
              <a:ext uri="{FF2B5EF4-FFF2-40B4-BE49-F238E27FC236}">
                <a16:creationId xmlns:a16="http://schemas.microsoft.com/office/drawing/2014/main" id="{77BE00EA-1E04-4B6C-A62E-1D2637E755D9}"/>
              </a:ext>
            </a:extLst>
          </p:cNvPr>
          <p:cNvSpPr/>
          <p:nvPr/>
        </p:nvSpPr>
        <p:spPr>
          <a:xfrm>
            <a:off x="364475" y="2850250"/>
            <a:ext cx="4167900" cy="6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target:      1 1 1 2 2 2 3 3 3 3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predicted:   1 1 2 2 2 3 3 3 3 1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" name="Google Shape;441;p48">
            <a:extLst>
              <a:ext uri="{FF2B5EF4-FFF2-40B4-BE49-F238E27FC236}">
                <a16:creationId xmlns:a16="http://schemas.microsoft.com/office/drawing/2014/main" id="{A0355131-8B13-460D-B08E-62BF93A3F5A6}"/>
              </a:ext>
            </a:extLst>
          </p:cNvPr>
          <p:cNvSpPr/>
          <p:nvPr/>
        </p:nvSpPr>
        <p:spPr>
          <a:xfrm>
            <a:off x="4695275" y="2720500"/>
            <a:ext cx="34881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1:  2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из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3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верно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 →  </a:t>
            </a:r>
            <a:r>
              <a:rPr lang="en-GB" sz="1600" dirty="0">
                <a:latin typeface="Nunito" panose="020B0604020202020204" charset="-52"/>
                <a:ea typeface="Montserrat"/>
                <a:cs typeface="Montserrat"/>
                <a:sym typeface="Montserrat"/>
              </a:rPr>
              <a:t>⅔</a:t>
            </a:r>
            <a:endParaRPr sz="1600" dirty="0">
              <a:latin typeface="Nunito" panose="020B0604020202020204" charset="-52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2:  2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из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3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верно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 →  </a:t>
            </a:r>
            <a:r>
              <a:rPr lang="en-GB" sz="1600" dirty="0">
                <a:latin typeface="Nunito" panose="020B0604020202020204" charset="-52"/>
                <a:ea typeface="Montserrat"/>
                <a:cs typeface="Montserrat"/>
                <a:sym typeface="Montserrat"/>
              </a:rPr>
              <a:t>⅔</a:t>
            </a:r>
            <a:endParaRPr sz="1600" dirty="0">
              <a:latin typeface="Nunito" panose="020B0604020202020204" charset="-52"/>
              <a:ea typeface="Montserrat"/>
              <a:cs typeface="Montserrat"/>
              <a:sym typeface="Montserrat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3:  3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из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4 </a:t>
            </a:r>
            <a:r>
              <a:rPr lang="en-GB" sz="1600" i="0" u="none" strike="noStrike" cap="none" dirty="0" err="1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верно</a:t>
            </a:r>
            <a:r>
              <a:rPr lang="en-GB" sz="1600" i="0" u="none" strike="noStrike" cap="none" dirty="0">
                <a:solidFill>
                  <a:srgbClr val="000000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 →  </a:t>
            </a:r>
            <a:r>
              <a:rPr lang="en-GB" sz="1600" dirty="0">
                <a:latin typeface="Nunito" panose="020B0604020202020204" charset="-52"/>
                <a:ea typeface="Montserrat"/>
                <a:cs typeface="Montserrat"/>
                <a:sym typeface="Montserrat"/>
              </a:rPr>
              <a:t>¾</a:t>
            </a:r>
            <a:endParaRPr sz="1600" dirty="0"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42;p48">
            <a:extLst>
              <a:ext uri="{FF2B5EF4-FFF2-40B4-BE49-F238E27FC236}">
                <a16:creationId xmlns:a16="http://schemas.microsoft.com/office/drawing/2014/main" id="{9CE8CFE8-80CA-43F9-A31C-47A512F42D0C}"/>
              </a:ext>
            </a:extLst>
          </p:cNvPr>
          <p:cNvSpPr/>
          <p:nvPr/>
        </p:nvSpPr>
        <p:spPr>
          <a:xfrm>
            <a:off x="364471" y="4024375"/>
            <a:ext cx="5609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balanced accuracy = (1/3) · (2/3 + 2/3 + 3/4) = 25/36 ≈ 0.69</a:t>
            </a:r>
            <a:endParaRPr sz="1600"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42986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57050" y="4663217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424;p48">
            <a:extLst>
              <a:ext uri="{FF2B5EF4-FFF2-40B4-BE49-F238E27FC236}">
                <a16:creationId xmlns:a16="http://schemas.microsoft.com/office/drawing/2014/main" id="{A7E38B54-97A6-4CE7-A65F-B96E4B591FD4}"/>
              </a:ext>
            </a:extLst>
          </p:cNvPr>
          <p:cNvSpPr txBox="1"/>
          <p:nvPr/>
        </p:nvSpPr>
        <p:spPr>
          <a:xfrm>
            <a:off x="373835" y="611660"/>
            <a:ext cx="2083615" cy="544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1800" b="1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Precision</a:t>
            </a:r>
            <a:r>
              <a:rPr lang="en-US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 </a:t>
            </a:r>
            <a:r>
              <a:rPr lang="en-US" sz="1800" b="1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Recall</a:t>
            </a:r>
            <a:endParaRPr sz="1800" b="1"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4" name="Google Shape;501;p54">
            <a:extLst>
              <a:ext uri="{FF2B5EF4-FFF2-40B4-BE49-F238E27FC236}">
                <a16:creationId xmlns:a16="http://schemas.microsoft.com/office/drawing/2014/main" id="{323DB292-B39F-4AC6-ACB6-77FF8A003520}"/>
              </a:ext>
            </a:extLst>
          </p:cNvPr>
          <p:cNvGraphicFramePr/>
          <p:nvPr/>
        </p:nvGraphicFramePr>
        <p:xfrm>
          <a:off x="857250" y="1204624"/>
          <a:ext cx="6879185" cy="26688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6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6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29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 condition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8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55AA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population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55AA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= P + 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 positive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Predicted negative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454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Actual condition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 (P)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 positive (TP),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hit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2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False negative (FN),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ru-RU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Пропуск объекта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Ошибка</a:t>
                      </a:r>
                      <a:r>
                        <a:rPr lang="en-GB" sz="13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2 </a:t>
                      </a:r>
                      <a:r>
                        <a:rPr lang="ru-RU" sz="13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рода</a:t>
                      </a:r>
                      <a:endParaRPr sz="13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56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 (N)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7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False positive (FP),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ru-RU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Ложная тревога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Ошибка</a:t>
                      </a:r>
                      <a:r>
                        <a:rPr lang="en-GB" sz="13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1 </a:t>
                      </a:r>
                      <a:r>
                        <a:rPr lang="ru-RU" sz="13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рода</a:t>
                      </a:r>
                      <a:endParaRPr sz="13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A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True negative (TN),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en-GB" sz="130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correct rejection</a:t>
                      </a:r>
                      <a:endParaRPr sz="130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AAAAA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2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Google Shape;502;p54">
            <a:extLst>
              <a:ext uri="{FF2B5EF4-FFF2-40B4-BE49-F238E27FC236}">
                <a16:creationId xmlns:a16="http://schemas.microsoft.com/office/drawing/2014/main" id="{BA270343-1C5A-4C5E-8437-1D7480E62DF7}"/>
              </a:ext>
            </a:extLst>
          </p:cNvPr>
          <p:cNvSpPr/>
          <p:nvPr/>
        </p:nvSpPr>
        <p:spPr>
          <a:xfrm>
            <a:off x="857250" y="408261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 Math"/>
              <a:buNone/>
            </a:pPr>
            <a:r>
              <a:rPr lang="en-GB" sz="2000" u="none" strike="noStrike" cap="none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Precision</a:t>
            </a:r>
            <a:r>
              <a:rPr lang="en-GB" sz="2000" b="0" u="none" strike="noStrike" cap="none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endParaRPr sz="2000" b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503;p54">
            <a:extLst>
              <a:ext uri="{FF2B5EF4-FFF2-40B4-BE49-F238E27FC236}">
                <a16:creationId xmlns:a16="http://schemas.microsoft.com/office/drawing/2014/main" id="{86E03478-6441-42FC-8121-4D0D1D947851}"/>
              </a:ext>
            </a:extLst>
          </p:cNvPr>
          <p:cNvSpPr/>
          <p:nvPr/>
        </p:nvSpPr>
        <p:spPr>
          <a:xfrm>
            <a:off x="2301240" y="3959213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mbria Math"/>
              <a:buNone/>
            </a:pPr>
            <a:r>
              <a:rPr lang="en-GB" sz="16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TP</a:t>
            </a:r>
            <a:endParaRPr sz="16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504;p54">
            <a:extLst>
              <a:ext uri="{FF2B5EF4-FFF2-40B4-BE49-F238E27FC236}">
                <a16:creationId xmlns:a16="http://schemas.microsoft.com/office/drawing/2014/main" id="{95228984-C2AC-4E59-98BB-7ECFF21503D4}"/>
              </a:ext>
            </a:extLst>
          </p:cNvPr>
          <p:cNvCxnSpPr/>
          <p:nvPr/>
        </p:nvCxnSpPr>
        <p:spPr>
          <a:xfrm>
            <a:off x="2301240" y="4306685"/>
            <a:ext cx="1828800" cy="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505;p54">
            <a:extLst>
              <a:ext uri="{FF2B5EF4-FFF2-40B4-BE49-F238E27FC236}">
                <a16:creationId xmlns:a16="http://schemas.microsoft.com/office/drawing/2014/main" id="{FFC245B4-1A9F-4DB8-B350-C4027527F573}"/>
              </a:ext>
            </a:extLst>
          </p:cNvPr>
          <p:cNvSpPr/>
          <p:nvPr/>
        </p:nvSpPr>
        <p:spPr>
          <a:xfrm>
            <a:off x="2301240" y="4334117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mbria Math"/>
              <a:buNone/>
            </a:pPr>
            <a:r>
              <a:rPr lang="en-GB" sz="16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TP + FP</a:t>
            </a:r>
            <a:endParaRPr sz="16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506;p54">
            <a:extLst>
              <a:ext uri="{FF2B5EF4-FFF2-40B4-BE49-F238E27FC236}">
                <a16:creationId xmlns:a16="http://schemas.microsoft.com/office/drawing/2014/main" id="{AD0C5635-EFEF-483A-895D-78CD3F0D321A}"/>
              </a:ext>
            </a:extLst>
          </p:cNvPr>
          <p:cNvSpPr/>
          <p:nvPr/>
        </p:nvSpPr>
        <p:spPr>
          <a:xfrm>
            <a:off x="4750950" y="4058783"/>
            <a:ext cx="1113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mbria Math"/>
              <a:buNone/>
            </a:pPr>
            <a:r>
              <a:rPr lang="en-GB" sz="2000" u="none" strike="noStrike" cap="none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Recall</a:t>
            </a:r>
            <a:r>
              <a:rPr lang="en-GB" sz="2000" b="0" u="none" strike="noStrike" cap="none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endParaRPr sz="2000" b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507;p54">
            <a:extLst>
              <a:ext uri="{FF2B5EF4-FFF2-40B4-BE49-F238E27FC236}">
                <a16:creationId xmlns:a16="http://schemas.microsoft.com/office/drawing/2014/main" id="{39164CDF-8D18-4AF7-81FF-A61953CBB6CD}"/>
              </a:ext>
            </a:extLst>
          </p:cNvPr>
          <p:cNvSpPr/>
          <p:nvPr/>
        </p:nvSpPr>
        <p:spPr>
          <a:xfrm>
            <a:off x="5846335" y="3935388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mbria Math"/>
              <a:buNone/>
            </a:pPr>
            <a:r>
              <a:rPr lang="en-GB" sz="16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TP</a:t>
            </a:r>
            <a:endParaRPr sz="16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508;p54">
            <a:extLst>
              <a:ext uri="{FF2B5EF4-FFF2-40B4-BE49-F238E27FC236}">
                <a16:creationId xmlns:a16="http://schemas.microsoft.com/office/drawing/2014/main" id="{77B7DF90-9B43-4BE1-9FDB-EF03B2A6F5EF}"/>
              </a:ext>
            </a:extLst>
          </p:cNvPr>
          <p:cNvCxnSpPr/>
          <p:nvPr/>
        </p:nvCxnSpPr>
        <p:spPr>
          <a:xfrm>
            <a:off x="5846335" y="4282860"/>
            <a:ext cx="1828800" cy="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" name="Google Shape;509;p54">
            <a:extLst>
              <a:ext uri="{FF2B5EF4-FFF2-40B4-BE49-F238E27FC236}">
                <a16:creationId xmlns:a16="http://schemas.microsoft.com/office/drawing/2014/main" id="{7721FBD8-E40C-4A2F-9EE2-6BBF4022B9DB}"/>
              </a:ext>
            </a:extLst>
          </p:cNvPr>
          <p:cNvSpPr/>
          <p:nvPr/>
        </p:nvSpPr>
        <p:spPr>
          <a:xfrm>
            <a:off x="5846335" y="4310292"/>
            <a:ext cx="1828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mbria Math"/>
              <a:buNone/>
            </a:pPr>
            <a:r>
              <a:rPr lang="en-GB" sz="16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TP + FN</a:t>
            </a:r>
            <a:endParaRPr sz="16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5598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424;p48">
            <a:extLst>
              <a:ext uri="{FF2B5EF4-FFF2-40B4-BE49-F238E27FC236}">
                <a16:creationId xmlns:a16="http://schemas.microsoft.com/office/drawing/2014/main" id="{A7E38B54-97A6-4CE7-A65F-B96E4B591FD4}"/>
              </a:ext>
            </a:extLst>
          </p:cNvPr>
          <p:cNvSpPr txBox="1"/>
          <p:nvPr/>
        </p:nvSpPr>
        <p:spPr>
          <a:xfrm>
            <a:off x="373835" y="611660"/>
            <a:ext cx="2083615" cy="544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1800" b="1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Precision</a:t>
            </a:r>
            <a:r>
              <a:rPr lang="en-US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и </a:t>
            </a:r>
            <a:r>
              <a:rPr lang="en-US" sz="1800" b="1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Recall</a:t>
            </a:r>
            <a:endParaRPr sz="1800" b="1"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516;p55">
            <a:extLst>
              <a:ext uri="{FF2B5EF4-FFF2-40B4-BE49-F238E27FC236}">
                <a16:creationId xmlns:a16="http://schemas.microsoft.com/office/drawing/2014/main" id="{87696789-5D69-4CFC-B4AE-BDDF0830EE0E}"/>
              </a:ext>
            </a:extLst>
          </p:cNvPr>
          <p:cNvSpPr txBox="1"/>
          <p:nvPr/>
        </p:nvSpPr>
        <p:spPr>
          <a:xfrm>
            <a:off x="450689" y="1118150"/>
            <a:ext cx="4859700" cy="186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Precision: P(+ | C+) —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вероятность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того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что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объект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действительно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положительный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при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условии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что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классификатор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выдал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положительный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результат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.</a:t>
            </a:r>
            <a:endParaRPr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Recall: P(C+ | +) —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вероятность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того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что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классификатор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выдаст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положительный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результат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при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условии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,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что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объект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действительно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 </a:t>
            </a:r>
            <a:r>
              <a:rPr lang="en-GB" dirty="0" err="1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положительный</a:t>
            </a:r>
            <a:r>
              <a:rPr lang="en-GB" dirty="0">
                <a:solidFill>
                  <a:schemeClr val="dk1"/>
                </a:solidFill>
                <a:latin typeface="Nunito" panose="020B0604020202020204" charset="-52"/>
                <a:ea typeface="Montserrat"/>
                <a:cs typeface="Montserrat"/>
                <a:sym typeface="Montserrat"/>
              </a:rPr>
              <a:t>.</a:t>
            </a:r>
            <a:endParaRPr dirty="0">
              <a:solidFill>
                <a:schemeClr val="dk1"/>
              </a:solidFill>
              <a:latin typeface="Nunito" panose="020B0604020202020204" charset="-52"/>
              <a:ea typeface="Montserrat"/>
              <a:cs typeface="Montserrat"/>
              <a:sym typeface="Montserrat"/>
            </a:endParaRPr>
          </a:p>
        </p:txBody>
      </p:sp>
      <p:pic>
        <p:nvPicPr>
          <p:cNvPr id="18" name="Google Shape;519;p55">
            <a:extLst>
              <a:ext uri="{FF2B5EF4-FFF2-40B4-BE49-F238E27FC236}">
                <a16:creationId xmlns:a16="http://schemas.microsoft.com/office/drawing/2014/main" id="{E1210772-C7CE-4F1A-8371-9BA5E23323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31276"/>
          <a:stretch/>
        </p:blipFill>
        <p:spPr>
          <a:xfrm>
            <a:off x="5622925" y="202426"/>
            <a:ext cx="3286229" cy="4329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520;p55">
            <a:extLst>
              <a:ext uri="{FF2B5EF4-FFF2-40B4-BE49-F238E27FC236}">
                <a16:creationId xmlns:a16="http://schemas.microsoft.com/office/drawing/2014/main" id="{B2775DB1-B066-41E6-970C-CE99270F05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449" t="70236" r="10509" b="5247"/>
          <a:stretch/>
        </p:blipFill>
        <p:spPr>
          <a:xfrm>
            <a:off x="565450" y="3088666"/>
            <a:ext cx="2655451" cy="144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9;p16">
            <a:extLst>
              <a:ext uri="{FF2B5EF4-FFF2-40B4-BE49-F238E27FC236}">
                <a16:creationId xmlns:a16="http://schemas.microsoft.com/office/drawing/2014/main" id="{097D00CF-54E5-4A01-99C0-738829A0D5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54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7698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Google Shape;424;p48">
                <a:extLst>
                  <a:ext uri="{FF2B5EF4-FFF2-40B4-BE49-F238E27FC236}">
                    <a16:creationId xmlns:a16="http://schemas.microsoft.com/office/drawing/2014/main" id="{A7E38B54-97A6-4CE7-A65F-B96E4B591FD4}"/>
                  </a:ext>
                </a:extLst>
              </p:cNvPr>
              <p:cNvSpPr txBox="1"/>
              <p:nvPr/>
            </p:nvSpPr>
            <p:spPr>
              <a:xfrm>
                <a:off x="342119" y="643806"/>
                <a:ext cx="7585856" cy="12374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>
                  <a:lnSpc>
                    <a:spcPct val="105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sz="1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𝑭</m:t>
                        </m:r>
                      </m:e>
                      <m:sub>
                        <m:r>
                          <a:rPr lang="en-US" sz="1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𝜷</m:t>
                        </m:r>
                      </m:sub>
                    </m:sSub>
                  </m:oMath>
                </a14:m>
                <a:r>
                  <a:rPr lang="en-US" sz="18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-</a:t>
                </a:r>
                <a:r>
                  <a:rPr lang="ru-RU" sz="18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мера</a:t>
                </a:r>
                <a:r>
                  <a:rPr lang="en-US" sz="18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en-US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— 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Среднее гармоническое </a:t>
                </a:r>
                <a:r>
                  <a:rPr lang="ru-RU" sz="18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precision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и </a:t>
                </a:r>
                <a:r>
                  <a:rPr lang="ru-RU" sz="18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recall</a:t>
                </a:r>
                <a:r>
                  <a:rPr lang="ru-RU" sz="18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 Стремится быть ближе к меньшему значению.</a:t>
                </a:r>
              </a:p>
              <a:p>
                <a:pPr>
                  <a:lnSpc>
                    <a:spcPct val="105000"/>
                  </a:lnSpc>
                  <a:spcAft>
                    <a:spcPts val="600"/>
                  </a:spcAft>
                </a:pPr>
                <a:endParaRPr lang="en-US" sz="1800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30" name="Google Shape;424;p48">
                <a:extLst>
                  <a:ext uri="{FF2B5EF4-FFF2-40B4-BE49-F238E27FC236}">
                    <a16:creationId xmlns:a16="http://schemas.microsoft.com/office/drawing/2014/main" id="{A7E38B54-97A6-4CE7-A65F-B96E4B591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19" y="643806"/>
                <a:ext cx="7585856" cy="1237424"/>
              </a:xfrm>
              <a:prstGeom prst="rect">
                <a:avLst/>
              </a:prstGeom>
              <a:blipFill>
                <a:blip r:embed="rId5"/>
                <a:stretch>
                  <a:fillRect l="-64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oogle Shape;587;p61">
            <a:extLst>
              <a:ext uri="{FF2B5EF4-FFF2-40B4-BE49-F238E27FC236}">
                <a16:creationId xmlns:a16="http://schemas.microsoft.com/office/drawing/2014/main" id="{605BF018-3030-4541-B733-FFF45F7FE4AD}"/>
              </a:ext>
            </a:extLst>
          </p:cNvPr>
          <p:cNvSpPr/>
          <p:nvPr/>
        </p:nvSpPr>
        <p:spPr>
          <a:xfrm>
            <a:off x="913173" y="1117263"/>
            <a:ext cx="6846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endParaRPr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88;p61">
            <a:extLst>
              <a:ext uri="{FF2B5EF4-FFF2-40B4-BE49-F238E27FC236}">
                <a16:creationId xmlns:a16="http://schemas.microsoft.com/office/drawing/2014/main" id="{79639065-B0AC-492C-90F4-E6107CFFA666}"/>
              </a:ext>
            </a:extLst>
          </p:cNvPr>
          <p:cNvSpPr/>
          <p:nvPr/>
        </p:nvSpPr>
        <p:spPr>
          <a:xfrm>
            <a:off x="342119" y="1740605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mbria Math"/>
              <a:buNone/>
            </a:pPr>
            <a:r>
              <a:rPr lang="en-GB" sz="2200" b="0" u="none" strike="noStrike" cap="none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GB" sz="2200" b="0" u="none" strike="noStrike" cap="none" baseline="-25000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GB" sz="2200" b="0" i="0" u="none" strike="noStrike" cap="none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= </a:t>
            </a:r>
            <a:endParaRPr sz="2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589;p61">
            <a:extLst>
              <a:ext uri="{FF2B5EF4-FFF2-40B4-BE49-F238E27FC236}">
                <a16:creationId xmlns:a16="http://schemas.microsoft.com/office/drawing/2014/main" id="{0D0E49B6-8A78-4489-94F4-87645B3A426C}"/>
              </a:ext>
            </a:extLst>
          </p:cNvPr>
          <p:cNvSpPr/>
          <p:nvPr/>
        </p:nvSpPr>
        <p:spPr>
          <a:xfrm>
            <a:off x="1098171" y="1623183"/>
            <a:ext cx="2244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mbria Math"/>
              <a:buNone/>
            </a:pPr>
            <a:r>
              <a:rPr lang="en-GB" sz="17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sz="17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590;p61">
            <a:extLst>
              <a:ext uri="{FF2B5EF4-FFF2-40B4-BE49-F238E27FC236}">
                <a16:creationId xmlns:a16="http://schemas.microsoft.com/office/drawing/2014/main" id="{541D17C2-CFE7-4376-8415-C54A41C33D6B}"/>
              </a:ext>
            </a:extLst>
          </p:cNvPr>
          <p:cNvCxnSpPr/>
          <p:nvPr/>
        </p:nvCxnSpPr>
        <p:spPr>
          <a:xfrm rot="10800000" flipH="1">
            <a:off x="1098176" y="1950855"/>
            <a:ext cx="2404800" cy="1980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591;p61">
            <a:extLst>
              <a:ext uri="{FF2B5EF4-FFF2-40B4-BE49-F238E27FC236}">
                <a16:creationId xmlns:a16="http://schemas.microsoft.com/office/drawing/2014/main" id="{CE7F5898-6B8E-4053-A498-86057E0F1A95}"/>
              </a:ext>
            </a:extLst>
          </p:cNvPr>
          <p:cNvSpPr/>
          <p:nvPr/>
        </p:nvSpPr>
        <p:spPr>
          <a:xfrm>
            <a:off x="1098171" y="1998083"/>
            <a:ext cx="22440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mbria Math"/>
              <a:buNone/>
            </a:pPr>
            <a:r>
              <a:rPr lang="en-GB" sz="1700" b="0" u="none" strike="noStrike" cap="none" dirty="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precision⁻¹ + recall⁻¹</a:t>
            </a:r>
            <a:endParaRPr sz="1700" b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592;p61">
            <a:extLst>
              <a:ext uri="{FF2B5EF4-FFF2-40B4-BE49-F238E27FC236}">
                <a16:creationId xmlns:a16="http://schemas.microsoft.com/office/drawing/2014/main" id="{18751480-59E6-42FE-94DE-E90A33D805A3}"/>
              </a:ext>
            </a:extLst>
          </p:cNvPr>
          <p:cNvSpPr/>
          <p:nvPr/>
        </p:nvSpPr>
        <p:spPr>
          <a:xfrm>
            <a:off x="3502971" y="1677233"/>
            <a:ext cx="822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mbria Math"/>
              <a:buNone/>
            </a:pPr>
            <a:r>
              <a:rPr lang="en-GB" sz="2200" b="0" i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= 2  </a:t>
            </a:r>
            <a:endParaRPr sz="2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593;p61">
            <a:extLst>
              <a:ext uri="{FF2B5EF4-FFF2-40B4-BE49-F238E27FC236}">
                <a16:creationId xmlns:a16="http://schemas.microsoft.com/office/drawing/2014/main" id="{F26F3558-A2A8-42DB-8BED-687F6BBACE67}"/>
              </a:ext>
            </a:extLst>
          </p:cNvPr>
          <p:cNvSpPr/>
          <p:nvPr/>
        </p:nvSpPr>
        <p:spPr>
          <a:xfrm>
            <a:off x="4043521" y="1611208"/>
            <a:ext cx="1915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mbria Math"/>
              <a:buNone/>
            </a:pPr>
            <a:r>
              <a:rPr lang="en-GB" sz="17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precision · recall</a:t>
            </a:r>
            <a:endParaRPr sz="17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594;p61">
            <a:extLst>
              <a:ext uri="{FF2B5EF4-FFF2-40B4-BE49-F238E27FC236}">
                <a16:creationId xmlns:a16="http://schemas.microsoft.com/office/drawing/2014/main" id="{AFC721CC-22B6-496E-ADA3-AE141A777917}"/>
              </a:ext>
            </a:extLst>
          </p:cNvPr>
          <p:cNvCxnSpPr/>
          <p:nvPr/>
        </p:nvCxnSpPr>
        <p:spPr>
          <a:xfrm rot="10800000" flipH="1">
            <a:off x="4043531" y="1950580"/>
            <a:ext cx="1915200" cy="810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595;p61">
            <a:extLst>
              <a:ext uri="{FF2B5EF4-FFF2-40B4-BE49-F238E27FC236}">
                <a16:creationId xmlns:a16="http://schemas.microsoft.com/office/drawing/2014/main" id="{DB89EF97-7631-4DFE-9E69-8AE905AC7A3C}"/>
              </a:ext>
            </a:extLst>
          </p:cNvPr>
          <p:cNvSpPr/>
          <p:nvPr/>
        </p:nvSpPr>
        <p:spPr>
          <a:xfrm>
            <a:off x="4043521" y="1986108"/>
            <a:ext cx="1915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mbria Math"/>
              <a:buNone/>
            </a:pPr>
            <a:r>
              <a:rPr lang="en-GB" sz="17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precision + recall</a:t>
            </a:r>
            <a:endParaRPr sz="17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597;p61">
            <a:extLst>
              <a:ext uri="{FF2B5EF4-FFF2-40B4-BE49-F238E27FC236}">
                <a16:creationId xmlns:a16="http://schemas.microsoft.com/office/drawing/2014/main" id="{B80BF3DC-79AE-4AC2-885B-A805C55F1BBF}"/>
              </a:ext>
            </a:extLst>
          </p:cNvPr>
          <p:cNvSpPr/>
          <p:nvPr/>
        </p:nvSpPr>
        <p:spPr>
          <a:xfrm>
            <a:off x="342119" y="2804905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mbria Math"/>
              <a:buNone/>
            </a:pPr>
            <a:r>
              <a:rPr lang="en-GB" sz="22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F</a:t>
            </a:r>
            <a:r>
              <a:rPr lang="en-GB" sz="2200" b="0" u="none" strike="noStrike" cap="none" baseline="-250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β</a:t>
            </a:r>
            <a:r>
              <a:rPr lang="en-GB" sz="22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 = (1 + β</a:t>
            </a:r>
            <a:r>
              <a:rPr lang="en-GB" sz="2200" b="0" u="none" strike="noStrike" cap="none" baseline="30000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GB" sz="22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) </a:t>
            </a:r>
            <a:endParaRPr sz="22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598;p61">
            <a:extLst>
              <a:ext uri="{FF2B5EF4-FFF2-40B4-BE49-F238E27FC236}">
                <a16:creationId xmlns:a16="http://schemas.microsoft.com/office/drawing/2014/main" id="{094E4927-3797-4A2A-BECD-031F668220C6}"/>
              </a:ext>
            </a:extLst>
          </p:cNvPr>
          <p:cNvSpPr/>
          <p:nvPr/>
        </p:nvSpPr>
        <p:spPr>
          <a:xfrm>
            <a:off x="2149743" y="2733852"/>
            <a:ext cx="2404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mbria Math"/>
              <a:buNone/>
            </a:pPr>
            <a:r>
              <a:rPr lang="en-GB" sz="18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precision · recall</a:t>
            </a:r>
            <a:endParaRPr sz="18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599;p61">
            <a:extLst>
              <a:ext uri="{FF2B5EF4-FFF2-40B4-BE49-F238E27FC236}">
                <a16:creationId xmlns:a16="http://schemas.microsoft.com/office/drawing/2014/main" id="{BD88C8DF-4879-4201-A309-DCDF18444E78}"/>
              </a:ext>
            </a:extLst>
          </p:cNvPr>
          <p:cNvCxnSpPr/>
          <p:nvPr/>
        </p:nvCxnSpPr>
        <p:spPr>
          <a:xfrm rot="10800000" flipH="1">
            <a:off x="2149736" y="3057934"/>
            <a:ext cx="2500800" cy="23400"/>
          </a:xfrm>
          <a:prstGeom prst="straightConnector1">
            <a:avLst/>
          </a:prstGeom>
          <a:noFill/>
          <a:ln w="12700" cap="flat" cmpd="sng">
            <a:solidFill>
              <a:srgbClr val="1A1A1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600;p61">
            <a:extLst>
              <a:ext uri="{FF2B5EF4-FFF2-40B4-BE49-F238E27FC236}">
                <a16:creationId xmlns:a16="http://schemas.microsoft.com/office/drawing/2014/main" id="{DD1E665D-A9CF-4642-8B6F-51FD3E48564E}"/>
              </a:ext>
            </a:extLst>
          </p:cNvPr>
          <p:cNvSpPr/>
          <p:nvPr/>
        </p:nvSpPr>
        <p:spPr>
          <a:xfrm>
            <a:off x="2149743" y="3108777"/>
            <a:ext cx="24048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mbria Math"/>
              <a:buNone/>
            </a:pPr>
            <a:r>
              <a:rPr lang="en-GB" sz="1800" b="0" u="none" strike="noStrike" cap="non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β² precision + recall</a:t>
            </a:r>
            <a:endParaRPr sz="1800" b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6135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Метрики обнаружения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424;p48">
            <a:extLst>
              <a:ext uri="{FF2B5EF4-FFF2-40B4-BE49-F238E27FC236}">
                <a16:creationId xmlns:a16="http://schemas.microsoft.com/office/drawing/2014/main" id="{A7E38B54-97A6-4CE7-A65F-B96E4B591FD4}"/>
              </a:ext>
            </a:extLst>
          </p:cNvPr>
          <p:cNvSpPr txBox="1"/>
          <p:nvPr/>
        </p:nvSpPr>
        <p:spPr>
          <a:xfrm>
            <a:off x="342119" y="643806"/>
            <a:ext cx="7585856" cy="305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средняя точность обнаружения класса. Считается как площадь под кривой 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Precision-Recall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AOC PR)</a:t>
            </a:r>
            <a:endParaRPr lang="ru-RU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80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mAP</a:t>
            </a:r>
            <a:r>
              <a:rPr lang="en-US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усреднённая по всем классам средняя точность (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endParaRPr lang="en-US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mAP50 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</a:t>
            </a:r>
            <a:r>
              <a:rPr lang="en-US" sz="18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mAP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 пороге </a:t>
            </a:r>
            <a:r>
              <a:rPr lang="en-US" sz="18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IoU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=0.5</a:t>
            </a:r>
            <a:endParaRPr lang="ru-RU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8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mAP50-95 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усреднение </a:t>
            </a:r>
            <a:r>
              <a:rPr lang="en-US" sz="18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mAP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 порогах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	          </a:t>
            </a:r>
            <a:r>
              <a:rPr lang="en-US" sz="18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IoU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0.5</a:t>
            </a:r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до 0.95 с шагом 0.05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ru-RU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US" sz="18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" name="Google Shape;587;p61">
            <a:extLst>
              <a:ext uri="{FF2B5EF4-FFF2-40B4-BE49-F238E27FC236}">
                <a16:creationId xmlns:a16="http://schemas.microsoft.com/office/drawing/2014/main" id="{605BF018-3030-4541-B733-FFF45F7FE4AD}"/>
              </a:ext>
            </a:extLst>
          </p:cNvPr>
          <p:cNvSpPr/>
          <p:nvPr/>
        </p:nvSpPr>
        <p:spPr>
          <a:xfrm>
            <a:off x="913173" y="1117263"/>
            <a:ext cx="6846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endParaRPr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A86311B-785E-428D-9FB9-62A694A49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525" y="1765301"/>
            <a:ext cx="3872493" cy="28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42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5240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0" y="1525034"/>
            <a:ext cx="9144000" cy="14072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ru-RU" sz="4800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Сопровождение по траекторным отметкам</a:t>
            </a: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0220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Сопровождение по траекторным отметкам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48640"/>
            <a:ext cx="8320855" cy="403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Термины: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Радиолокационная отметка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это вектор, содержащий разовые оценки наблюдаемых параметров локализованного сигнала (координаты, скорость и т. д.) и момент времени, когда было принято решение о локализации объекта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Траекторные отметки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это последовательность радиолокационных отметок, объединённых во времени и принадлежащих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одному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движущемуся объекту. Они формируются в процессе вторичной обработки радиолокационной информации</a:t>
            </a:r>
          </a:p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Сопровождение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6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 траекторным отметкам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— это процесс в системах радиолокации, управления движением и мониторинга, при котором система отслеживает движение объектов (самолётов, судов, БПЛА) на основе траекторных отметок и строит или поддерживает их траектории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6000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Сопровождение по траекторным отметкам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1" y="707329"/>
            <a:ext cx="3550478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Траекторные данные: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Зачастую исключительно табличные, с малым числом известных параметров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Могут иметь пропуски или неполные строки из-за потери сопровождаемого объекта</a:t>
            </a:r>
          </a:p>
          <a:p>
            <a:pPr marL="393700" indent="-285750">
              <a:buClr>
                <a:schemeClr val="dk1"/>
              </a:buClr>
              <a:buSzPts val="1900"/>
            </a:pP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03D37A-B7C7-47FA-A6CD-38168BDEA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844" y="1122077"/>
            <a:ext cx="4496753" cy="316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62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Сопровождение по траекторным отметкам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7329"/>
            <a:ext cx="8361152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Современные модели</a:t>
            </a:r>
          </a:p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Классические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методы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оптический поток, фильтр Калмана,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MeanShift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E8EE5C5B-90A7-49D2-989C-4B4E94A90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2930" y="1565670"/>
            <a:ext cx="5258140" cy="2608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013BDB-310D-4855-915D-E392ABF05A32}"/>
              </a:ext>
            </a:extLst>
          </p:cNvPr>
          <p:cNvSpPr txBox="1"/>
          <p:nvPr/>
        </p:nvSpPr>
        <p:spPr>
          <a:xfrm>
            <a:off x="3921071" y="4201556"/>
            <a:ext cx="1593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фильтр Калмана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694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Сопровождение по траекторным отметкам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74649"/>
            <a:ext cx="8361152" cy="38615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Современные модели</a:t>
            </a:r>
          </a:p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Гибридные модели: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OC-SORT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BoT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-SORT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ByteTrack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E4DC91-C379-4B4F-9976-35736DFCDDB0}"/>
              </a:ext>
            </a:extLst>
          </p:cNvPr>
          <p:cNvSpPr txBox="1"/>
          <p:nvPr/>
        </p:nvSpPr>
        <p:spPr>
          <a:xfrm>
            <a:off x="3145593" y="4211140"/>
            <a:ext cx="2494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Nunito" panose="020B0604020202020204" charset="-52"/>
              </a:rPr>
              <a:t>Архитектура </a:t>
            </a:r>
            <a:r>
              <a:rPr lang="en-US" sz="16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ByteTrack</a:t>
            </a:r>
            <a:r>
              <a:rPr lang="en-US" sz="16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 </a:t>
            </a:r>
            <a:r>
              <a:rPr lang="ru-RU" sz="1600" dirty="0">
                <a:latin typeface="Nunito" panose="020B0604020202020204" charset="-52"/>
              </a:rPr>
              <a:t> 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8B35146-6E1B-4ADA-A9C2-804F3545AC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23156EF-C1E9-4943-B350-DFF1BC547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597" y="1507838"/>
            <a:ext cx="4805867" cy="270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338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94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Сопровождение по траекторным отметкам</a:t>
            </a:r>
            <a:endParaRPr sz="2400"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07329"/>
            <a:ext cx="8361152" cy="3728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Современные модели</a:t>
            </a:r>
          </a:p>
          <a:p>
            <a:pPr marL="107950" indent="0">
              <a:lnSpc>
                <a:spcPct val="120000"/>
              </a:lnSpc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Трансформеры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TrackFormer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MOTR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860E34-C20F-4DBE-A795-33ACEE3C5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592" y="1621809"/>
            <a:ext cx="8080816" cy="23804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AA4A9A-DC0E-44C8-9C23-29E8093B4A0F}"/>
              </a:ext>
            </a:extLst>
          </p:cNvPr>
          <p:cNvSpPr txBox="1"/>
          <p:nvPr/>
        </p:nvSpPr>
        <p:spPr>
          <a:xfrm>
            <a:off x="3145593" y="4211140"/>
            <a:ext cx="26933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Nunito" panose="020B0604020202020204" charset="-52"/>
              </a:rPr>
              <a:t>Архитектура </a:t>
            </a:r>
            <a:r>
              <a:rPr lang="en-US" sz="16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TrackFormer</a:t>
            </a:r>
            <a:r>
              <a:rPr lang="ru-RU" sz="1600" dirty="0">
                <a:latin typeface="Nunito" panose="020B0604020202020204" charset="-5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5519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30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0" y="1602525"/>
            <a:ext cx="9144000" cy="15591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ru-RU" sz="4800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Фундаментальные проблемы МЛ в задачах радиолокации</a:t>
            </a:r>
            <a:endParaRPr sz="4800" b="1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2007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933"/>
            <a:ext cx="8520600" cy="3948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№1: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Дефицит размеченных данных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Реальные РЛ-данные часто засекречены или дороги в сборе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Разметка требует вовлечения экспертов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Дисбаланс классов: 95-99% фона и 1-5% целей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Генерация новых данных решит проблему?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Другие решения?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0884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19933"/>
            <a:ext cx="8520600" cy="3948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№1: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Дефицит размеченных данных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Реальные РЛ-данные часто засекречены или дороги в сборе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Разметка требует вовлечения экспертов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Дисбаланс классов: 95-99% фона и 1-5% целей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Потенциальные решения: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Физически корректные искажения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Обучение по нескольким примерам (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Few-Shot Learning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Трансферное обучение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(Transfer Learning)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Итеративное использование неразмеченных данных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947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57129"/>
            <a:ext cx="8520600" cy="39117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№2: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Разрыв между симуляцией и реальностью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Данные из симуляции недостаточно похожи на реальные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Модель, обученная исключительно на сгенерированных данных плохо показывает себя при реальном использовании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Решения?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E24ECE5-0D6E-4898-919D-1FFF0770BD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3292"/>
          <a:stretch/>
        </p:blipFill>
        <p:spPr>
          <a:xfrm>
            <a:off x="5513960" y="2403475"/>
            <a:ext cx="3232847" cy="21653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D0EF0D-27DB-416E-A67D-7247598A4A8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3806"/>
          <a:stretch/>
        </p:blipFill>
        <p:spPr>
          <a:xfrm>
            <a:off x="3022169" y="2391094"/>
            <a:ext cx="2154265" cy="222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07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95135"/>
            <a:ext cx="8520600" cy="3973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№2: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Разрыв между симуляцией и реальностью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Данные из симуляции недостаточно похожи на реальные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Модель, обученная исключительно на сгенерированных данных плохо показывает себя при реальном использовании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Потенциальные решения: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Состязательный перевод домена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(Adversarial Domain Adaptation)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Случайный выбор домена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(Domain Randomization)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Физически-информированные нейронные сети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(Physics-Informed Neural Networks)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1901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95135"/>
            <a:ext cx="8520600" cy="3973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Состязательный перевод домена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(Adversarial Domain Adaptation)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8A30A249-27A5-4525-902E-A368F9EE4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5113"/>
            <a:ext cx="9144000" cy="254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585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95135"/>
            <a:ext cx="8520600" cy="3973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Физически-информированные нейронные сети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(Physics-Informed Neural Networks)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4EF7C75-27F2-4F9F-8FFF-BE6979F9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314" y="1298886"/>
            <a:ext cx="5448935" cy="326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2360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98378" y="632331"/>
            <a:ext cx="8633922" cy="3936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3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№3: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Интерпретируемость и доверие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3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Обработка РЛ-данных зачастую производится в системах критической важности</a:t>
            </a:r>
          </a:p>
          <a:p>
            <a:pPr marL="450850">
              <a:lnSpc>
                <a:spcPct val="13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Модель должна не просто выдавать результат, но и указывать, на какие конкретно признаки она опиралась при получении результата, чтобы иметь возможность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донастройки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при неправильном результате</a:t>
            </a:r>
          </a:p>
          <a:p>
            <a:pPr marL="107950" indent="0">
              <a:lnSpc>
                <a:spcPct val="13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Решения?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0780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98378" y="632331"/>
            <a:ext cx="8633922" cy="3936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3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№3: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Интерпретируемость и доверие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3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Обработка РЛ-данных зачастую производится в системах критической важности</a:t>
            </a:r>
          </a:p>
          <a:p>
            <a:pPr marL="450850">
              <a:lnSpc>
                <a:spcPct val="13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Модель должна не просто выдавать результат, но и указывать, на какие конкретно признаки она опиралась при получении результата, чтобы иметь возможность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донастройки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при неправильном результате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Потенциальные решения: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Создание тепловой карты корреляции входа и выхода (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Grad-CAM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Оценка важности концепций (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Testing with Con</a:t>
            </a: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cept Activation Vectors</a:t>
            </a: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endParaRPr lang="ru-RU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625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98378" y="632331"/>
            <a:ext cx="8633922" cy="39365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Создание тепловой карты корреляции входа и выхода (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Grad-CAM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endParaRPr lang="ru-RU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3D0FE7-16D1-442E-8469-90ED41E4FB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925" y="1185910"/>
            <a:ext cx="6010275" cy="332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518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76537"/>
            <a:ext cx="8520600" cy="3992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№4: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Устойчивость к противодействию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ML-модели уязвимы к состязательным атакам и активным помехам: модель может «сбоить» на небольших, но специально подобранных возмущениях сигнала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Решения?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</a:pPr>
            <a:endParaRPr lang="ru-RU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53034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76537"/>
            <a:ext cx="8520600" cy="3992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Проблема №4: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Устойчивость к противодействию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ML-модели уязвимы к состязательным атакам и активным помехам: модель может «сбоить» на небольших, но специально подобранных возмущениях сигнала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Потенциальные решения: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Заготовленные атаки на этапах тренировки и валидации модели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Отдельный детектор состязательных атак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Гибридные методы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5501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226208" y="1341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Фундаментальные проблемы МЛ в задачах радиолокации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76537"/>
            <a:ext cx="8520600" cy="39923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Заготовленные атаки на этапах тренировки и валидации модели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622296C8-614C-43CA-BCAF-DF509F019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31" y="1338197"/>
            <a:ext cx="4471069" cy="2693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">
            <a:extLst>
              <a:ext uri="{FF2B5EF4-FFF2-40B4-BE49-F238E27FC236}">
                <a16:creationId xmlns:a16="http://schemas.microsoft.com/office/drawing/2014/main" id="{F0828E87-1B3A-4C67-B1EB-E461213D1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41" y="1981843"/>
            <a:ext cx="3900517" cy="168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6C7070C-3295-4DE7-AB6F-AEBD3DCC895F}"/>
              </a:ext>
            </a:extLst>
          </p:cNvPr>
          <p:cNvSpPr/>
          <p:nvPr/>
        </p:nvSpPr>
        <p:spPr>
          <a:xfrm>
            <a:off x="1555642" y="4193640"/>
            <a:ext cx="15616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Общий принцип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2E8914-5A1D-40B2-A6D7-A3D457A69AE9}"/>
              </a:ext>
            </a:extLst>
          </p:cNvPr>
          <p:cNvSpPr/>
          <p:nvPr/>
        </p:nvSpPr>
        <p:spPr>
          <a:xfrm>
            <a:off x="5227843" y="4201556"/>
            <a:ext cx="31983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Как выглядит состязательная атака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323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835000"/>
            <a:ext cx="9144000" cy="15591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>
              <a:buSzPts val="990"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Генерация реалистичных данных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01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Генерация реалистичных данных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41867"/>
            <a:ext cx="8520600" cy="4121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Генерация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новых данных – одно из самых частых решений проблемы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дефицита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размеченных данных. Методы обучения при малом количестве данных способны лишь частично решить проблему, в то время как генерация данных открывает путь к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большому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числу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различных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сценариев, что зачастую несет коммерческую выгоду.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Актуальные и перспективные методы генерации: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Прямая генерация: Диффузионные модели.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Перенос домена: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CycleGAN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Новые ракурсы сцен: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Neural Radiance Fields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Физически обоснованное моделирование: Метод моментов.</a:t>
            </a:r>
          </a:p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5845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01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Генерация реалистичных данных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541867"/>
            <a:ext cx="8520600" cy="4121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генерации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новых данных 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8DA182-6BAA-45EB-8BE1-649F1E920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268" y="1128963"/>
            <a:ext cx="3238032" cy="34228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2C4FAFF-E241-4E45-B274-45247353E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236" y="1114567"/>
            <a:ext cx="3423254" cy="343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392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8668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Генерация реалистичных данных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59383"/>
            <a:ext cx="8520600" cy="39094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Проблемы, возникающие при генерации данных: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Падение точности при применении модели, обученной на синтетических данных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Физическая некорректность и галлюцинации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Вычислительная сложность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Малая вариативность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01824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4409</TotalTime>
  <Words>1993</Words>
  <Application>Microsoft Office PowerPoint</Application>
  <PresentationFormat>Экран (16:9)</PresentationFormat>
  <Paragraphs>318</Paragraphs>
  <Slides>46</Slides>
  <Notes>46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46</vt:i4>
      </vt:variant>
    </vt:vector>
  </HeadingPairs>
  <TitlesOfParts>
    <vt:vector size="53" baseType="lpstr">
      <vt:lpstr>Montserrat</vt:lpstr>
      <vt:lpstr>Arial</vt:lpstr>
      <vt:lpstr>Cambria Math</vt:lpstr>
      <vt:lpstr>Nunito</vt:lpstr>
      <vt:lpstr>Calibri</vt:lpstr>
      <vt:lpstr>Consolas</vt:lpstr>
      <vt:lpstr>Simple Light</vt:lpstr>
      <vt:lpstr> МФТИ, ПИШ РПИ Осень 2026/2027</vt:lpstr>
      <vt:lpstr>Темы на сегодня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Обнаружение и классификация на изображениях 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Метрики обнаружения</vt:lpstr>
      <vt:lpstr>Сопровождение по траекторным отметкам</vt:lpstr>
      <vt:lpstr>Сопровождение по траекторным отметкам</vt:lpstr>
      <vt:lpstr>Сопровождение по траекторным отметкам</vt:lpstr>
      <vt:lpstr>Сопровождение по траекторным отметкам</vt:lpstr>
      <vt:lpstr>Сопровождение по траекторным отметкам</vt:lpstr>
      <vt:lpstr>Сопровождение по траекторным отметкам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Фундаментальные проблемы МЛ в задачах радиолокации</vt:lpstr>
      <vt:lpstr>Генерация реалистичных данных</vt:lpstr>
      <vt:lpstr>Генерация реалистичных данных</vt:lpstr>
      <vt:lpstr>Генерация реалистичных данных</vt:lpstr>
      <vt:lpstr>Генерация реалистичных данных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#0: Вводная Лекция   Песоцкая Алиса МФТИ, ПИШ РПИ Осень 2026/2027</dc:title>
  <dc:creator>Михаил Гнатов</dc:creator>
  <cp:lastModifiedBy>Михаил Гнатов</cp:lastModifiedBy>
  <cp:revision>89</cp:revision>
  <dcterms:modified xsi:type="dcterms:W3CDTF">2026-09-11T16:23:51Z</dcterms:modified>
</cp:coreProperties>
</file>