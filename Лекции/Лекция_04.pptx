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5"/>
  </p:notesMasterIdLst>
  <p:sldIdLst>
    <p:sldId id="266" r:id="rId2"/>
    <p:sldId id="305" r:id="rId3"/>
    <p:sldId id="257" r:id="rId4"/>
    <p:sldId id="259" r:id="rId5"/>
    <p:sldId id="309" r:id="rId6"/>
    <p:sldId id="319" r:id="rId7"/>
    <p:sldId id="329" r:id="rId8"/>
    <p:sldId id="310" r:id="rId9"/>
    <p:sldId id="311" r:id="rId10"/>
    <p:sldId id="330" r:id="rId11"/>
    <p:sldId id="317" r:id="rId12"/>
    <p:sldId id="261" r:id="rId13"/>
    <p:sldId id="312" r:id="rId14"/>
    <p:sldId id="320" r:id="rId15"/>
    <p:sldId id="344" r:id="rId16"/>
    <p:sldId id="347" r:id="rId17"/>
    <p:sldId id="350" r:id="rId18"/>
    <p:sldId id="349" r:id="rId19"/>
    <p:sldId id="345" r:id="rId20"/>
    <p:sldId id="313" r:id="rId21"/>
    <p:sldId id="321" r:id="rId22"/>
    <p:sldId id="314" r:id="rId23"/>
    <p:sldId id="339" r:id="rId24"/>
    <p:sldId id="337" r:id="rId25"/>
    <p:sldId id="338" r:id="rId26"/>
    <p:sldId id="322" r:id="rId27"/>
    <p:sldId id="323" r:id="rId28"/>
    <p:sldId id="315" r:id="rId29"/>
    <p:sldId id="316" r:id="rId30"/>
    <p:sldId id="334" r:id="rId31"/>
    <p:sldId id="328" r:id="rId32"/>
    <p:sldId id="331" r:id="rId33"/>
    <p:sldId id="324" r:id="rId34"/>
    <p:sldId id="327" r:id="rId35"/>
    <p:sldId id="333" r:id="rId36"/>
    <p:sldId id="332" r:id="rId37"/>
    <p:sldId id="325" r:id="rId38"/>
    <p:sldId id="352" r:id="rId39"/>
    <p:sldId id="343" r:id="rId40"/>
    <p:sldId id="351" r:id="rId41"/>
    <p:sldId id="341" r:id="rId42"/>
    <p:sldId id="353" r:id="rId43"/>
    <p:sldId id="326" r:id="rId44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6"/>
    </p:embeddedFont>
    <p:embeddedFont>
      <p:font typeface="Nunito" panose="020B0604020202020204" charset="-52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0B6F39-8058-48A1-B1E6-BB775B942AAB}">
  <a:tblStyle styleId="{2B0B6F39-8058-48A1-B1E6-BB775B942A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71901" autoAdjust="0"/>
  </p:normalViewPr>
  <p:slideViewPr>
    <p:cSldViewPr snapToGrid="0">
      <p:cViewPr varScale="1">
        <p:scale>
          <a:sx n="107" d="100"/>
          <a:sy n="107" d="100"/>
        </p:scale>
        <p:origin x="3252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8138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8ea1e0c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8ea1e0c8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Гомография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 — это правило «куда переезжает каждая точка», то есть матрица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3×3. Она переводит координаты пикселя на SAR в координаты того же места на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(x, y) → (x′, y′). В простейшем случае это просто сдвиг, например «всё на 15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px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вправо и на 8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px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вниз». В общем случае добавляются поворот, масштаб, наклон и перспектива. У H 8 свободных параметров, а каждая пара точек даёт 2 уравнения (для x′ и y′), поэтому минимум нужно 4 пары.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8311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5242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8861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087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1217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7814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3886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ACF описывает структуру (масштаб и направленность повторяющихся элементов), а не саму яркость, — идея близка к </a:t>
            </a:r>
            <a:r>
              <a:rPr lang="ru-RU" dirty="0" err="1"/>
              <a:t>self-similarity</a:t>
            </a:r>
            <a:r>
              <a:rPr lang="ru-RU" dirty="0"/>
              <a:t> дескрипторам (LSS).</a:t>
            </a:r>
          </a:p>
          <a:p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Патч (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patch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— это небольшой квадратный фрагмент изображения, «окошко» N×N пикселей с центром в ключевой точке. Обычно N = 32–64.</a:t>
            </a:r>
          </a:p>
          <a:p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На слайде 16 это работает так:</a:t>
            </a:r>
          </a:p>
          <a:p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Детектор нашёл точку (x₀, y₀), например угол здания.</a:t>
            </a:r>
          </a:p>
          <a:p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Вырезаем вокруг неё квадрат, скажем, 32×32 — это и есть P. В формуле x, y — координаты внутри этого квадрата, а не всего снимка.</a:t>
            </a:r>
          </a:p>
          <a:p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Вычитаем из патча его среднюю яркость (это P̃) и считаем, насколько патч похож на самого себя, сдвинутого на (u, v). Например, вдоль дороги сходство остаётся высоким, поперёк — быстро падает.</a:t>
            </a:r>
          </a:p>
          <a:p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Таблица ACF(u, v) по всем сдвигам и есть дескриптор точки. Дальше дескрипторы точек с SAR и с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Opt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сравниваются между собой.</a:t>
            </a:r>
          </a:p>
          <a:p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На что обратить внимание студентов: в лекции слово «патч» встречается в двух смыслах.</a:t>
            </a:r>
          </a:p>
          <a:p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У ACF и SIFT — маленькое окно вокруг одной точки (десятки пикселей).</a:t>
            </a:r>
          </a:p>
          <a:p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На слайде про сиамские сети («SAR Патч», «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Opt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Патч») — целый фрагмент сцены, например 256×256 из OS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dataset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Принцип один — вырезанный кусок изображения, но масштаб разный. Стоит один раз проговорить это или добавить на слайд 4 термин: «Патч — прямоугольный фрагмент изображения: окно вокруг ключевой точки или фрагмент сцены, подаваемый в сеть»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4251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SAR-SIFT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Градиент считается через отношение: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log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(M1/M2), где M1 и M2 — экспоненциально взвешенные средние по две стороны от пикселя. Общий множитель в отношении сокращается, поэтому градиент устойчив к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спеклу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Точки ищутся а через многомасштабный SAR-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Harris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— детектор Харриса на этих же градиентах. Дескриптор устроен как в SIFT. Взаимная информация (MI) ловит любую статистическую зависимость и терпит нелинейную связь. Недостатки: медленная, с множеством локальных максимумов, нужно хорошее начальное приближение (например, по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геопривязке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rtl="0"/>
            <a:r>
              <a:rPr lang="ru-RU" b="1" dirty="0" err="1"/>
              <a:t>Area-based</a:t>
            </a:r>
            <a:r>
              <a:rPr lang="ru-RU" b="1" dirty="0"/>
              <a:t>: взаимная информация (MI).</a:t>
            </a:r>
            <a:r>
              <a:rPr lang="ru-RU" dirty="0"/>
              <a:t> Точек здесь нет. Берём окно с одного снимка и сдвигаем его по области поиска на другом. Для каждого сдвига строим совместную гистограмму яркостей двух окон и считаем MI = H(A) + H(B) − H(A,B). Максимум MI означает лучший сдвиг.</a:t>
            </a:r>
          </a:p>
          <a:p>
            <a:pPr lvl="1" rtl="0"/>
            <a:r>
              <a:rPr lang="ru-RU" dirty="0"/>
              <a:t>MI не требует, чтобы яркости были похожи. Ей достаточно, чтобы они были </a:t>
            </a:r>
            <a:r>
              <a:rPr lang="ru-RU" i="1" dirty="0"/>
              <a:t>предсказуемы</a:t>
            </a:r>
            <a:r>
              <a:rPr lang="ru-RU" dirty="0"/>
              <a:t> друг по другу: если «тёмное на SAR» стабильно соответствует «светлому на </a:t>
            </a:r>
            <a:r>
              <a:rPr lang="ru-RU" dirty="0" err="1"/>
              <a:t>Opt</a:t>
            </a:r>
            <a:r>
              <a:rPr lang="ru-RU" dirty="0"/>
              <a:t>», MI это поймает.</a:t>
            </a:r>
          </a:p>
          <a:p>
            <a:pPr lvl="1" rtl="0"/>
            <a:r>
              <a:rPr lang="ru-RU" dirty="0"/>
              <a:t>Минусы: метод медленный, у функции много локальных максимумов, и нужна хорошая начальная оценка (например, по </a:t>
            </a:r>
            <a:r>
              <a:rPr lang="ru-RU" dirty="0" err="1"/>
              <a:t>геопривязке</a:t>
            </a:r>
            <a:r>
              <a:rPr lang="ru-RU" dirty="0"/>
              <a:t> ± десятки пикселей). Поэтому это инструмент для варианта 2, точного совмещения, а не для поиска пары.</a:t>
            </a:r>
            <a:endParaRPr lang="ru-RU" sz="1100" b="0" i="0" u="none" strike="noStrike" cap="none" spc="0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ru-RU" sz="1100" b="1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Структурные дескрипторы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Общая и</a:t>
            </a:r>
            <a:r>
              <a:rPr lang="ru-RU" dirty="0"/>
              <a:t>дея: описывать не яркость, а </a:t>
            </a:r>
            <a:r>
              <a:rPr lang="ru-RU" i="1" dirty="0"/>
              <a:t>форму</a:t>
            </a:r>
            <a:r>
              <a:rPr lang="ru-RU" dirty="0"/>
              <a:t> — контуры, дороги, береговую линию. Форма у двух модальностей общая.</a:t>
            </a:r>
          </a:p>
          <a:p>
            <a:pPr lvl="1" rtl="0"/>
            <a:r>
              <a:rPr lang="ru-RU" b="1" dirty="0"/>
              <a:t>HOPC.</a:t>
            </a:r>
            <a:r>
              <a:rPr lang="ru-RU" dirty="0"/>
              <a:t> Вместо градиента яркости используется фазовая конгруэнтность (</a:t>
            </a:r>
            <a:r>
              <a:rPr lang="ru-RU" dirty="0" err="1"/>
              <a:t>Kovesi</a:t>
            </a:r>
            <a:r>
              <a:rPr lang="ru-RU" dirty="0"/>
              <a:t>): мера того, насколько совпадают фазы откликов фильтров Лог-</a:t>
            </a:r>
            <a:r>
              <a:rPr lang="ru-RU" dirty="0" err="1"/>
              <a:t>Габора</a:t>
            </a:r>
            <a:r>
              <a:rPr lang="ru-RU" dirty="0"/>
              <a:t> разных масштабов. На крае фазы совпадают, и мера почти не зависит от яркости и контраста. По ней строятся плотные гистограммы ориентаций, похожие на HOG. Дальше идёт сопоставление шаблонов, но по картам дескрипторов, а не по пикселям.</a:t>
            </a:r>
          </a:p>
          <a:p>
            <a:pPr lvl="1" rtl="0"/>
            <a:r>
              <a:rPr lang="ru-RU" b="1" dirty="0"/>
              <a:t>CFOG.</a:t>
            </a:r>
            <a:r>
              <a:rPr lang="ru-RU" dirty="0"/>
              <a:t> Та же идея, но проще и быстрее. Для каждого пикселя строится вектор из нескольких каналов ориентированных градиентов, сглаженных по пространству и по ориентациям. Сравнение идёт через FFT, поэтому поиск по всей области почти бесплатен.</a:t>
            </a:r>
          </a:p>
          <a:p>
            <a:pPr lvl="1" rtl="0"/>
            <a:r>
              <a:rPr lang="ru-RU" b="1" dirty="0"/>
              <a:t>RIFT.</a:t>
            </a:r>
            <a:r>
              <a:rPr lang="ru-RU" dirty="0"/>
              <a:t> Это уже </a:t>
            </a:r>
            <a:r>
              <a:rPr lang="ru-RU" dirty="0" err="1"/>
              <a:t>feature-based</a:t>
            </a:r>
            <a:r>
              <a:rPr lang="ru-RU" dirty="0"/>
              <a:t> метод, по точкам, как SIFT. Точки ищутся на карте фазовой конгруэнтности, а дескриптор строится по карте индекса Лог-</a:t>
            </a:r>
            <a:r>
              <a:rPr lang="ru-RU" dirty="0" err="1"/>
              <a:t>Габор</a:t>
            </a:r>
            <a:r>
              <a:rPr lang="ru-RU" dirty="0"/>
              <a:t>-фильтра с максимальным откликом (MIM). Он устойчив к разнице модальностей, и, в отличие от HOPC и CFOG, не требует начального приближения.</a:t>
            </a:r>
          </a:p>
          <a:p>
            <a:pPr rtl="0"/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23452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7472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Пример. Есть 10 точек: 7 лежат на прямой, 3 — случайный мусор далеко в стороне. МНК по всем 10 перекосит прямую к мусору. RANSAC делает так: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Берём 2 случайные точки — минимум для прямой — и проводим через них прямую.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Считаем, сколько из 10 точек лежат рядом с ней. Это и есть </a:t>
            </a:r>
            <a:r>
              <a:rPr lang="ru-RU" sz="11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Попали две хорошие точки → 7 </a:t>
            </a:r>
            <a:r>
              <a:rPr lang="ru-RU" sz="11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Попала хоть одна мусорная → 1–2 </a:t>
            </a:r>
            <a:r>
              <a:rPr lang="ru-RU" sz="11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Повторяем много раз, берём вариант с максимумом </a:t>
            </a:r>
            <a:r>
              <a:rPr lang="ru-RU" sz="11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 делаем МНК только по этим 7 точкам.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Мусор просто не участвует в итоге. Для </a:t>
            </a:r>
            <a:r>
              <a:rPr lang="ru-RU" sz="11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гомографии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всё то же самое, только вместо 2 точек берём 4 пары, а вместо прямой строим 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389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Интуитивное понимание работы RANSAC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Есть 10 точек: 7 лежат на прямой, 3 — случайный мусор далеко в стороне. МНК по всем 10 перекосит прямую к мусору. RANSAC делает так: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1. Берём 2 случайные точки — минимум для прямой — и проводим через них прямую.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2. Считаем, сколько из 10 точек лежат рядом с ней. Это и есть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3. Попали две хорошие точки - это 7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Попала хоть одна мусорная - будет 1–2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4. Повторяем много раз, берём вариант с максимумом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 делаем МНК только по этим 7 точкам.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Мусор просто не участвует в итоге. Для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всё то же самое, только вместо 2 точек берём 4 пары, а вместо прямой строим H.</a:t>
            </a:r>
          </a:p>
        </p:txBody>
      </p:sp>
    </p:spTree>
    <p:extLst>
      <p:ext uri="{BB962C8B-B14F-4D97-AF65-F5344CB8AC3E}">
        <p14:creationId xmlns:p14="http://schemas.microsoft.com/office/powerpoint/2010/main" val="3430894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171806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Уточнение: заранее w неизвестна — если бы мы знали, какие пары верные, RANSAC был бы не нужен. Поэтому на практике N пересчитывается на лету (адаптивный RANSAC). В качестве w берётся доля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inliers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лучшей найденной на данный момент модели. Как только попадается модель получше, N уменьшается, и алгоритм останавливается раньше. Так работает cv2.findHomography: параметр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confidence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(это наше p) и верхний предел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maxIters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Формула на слайде нужна, чтобы показать, как быстро растёт цена, когда </a:t>
            </a:r>
            <a:r>
              <a:rPr lang="ru-RU" sz="1100" b="0" i="0" u="none" strike="noStrike" cap="none" spc="0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матчер</a:t>
            </a:r>
            <a:r>
              <a:rPr lang="ru-RU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слабый.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Выборка из 4 пар, среди которых есть ошибочная, даст кривую H. С ней согласны 4–5 пар — отбрасываем.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Выборка из 4 верных пар даст H ≈ «сдвиг +15/+8». С ней согласны все 60 верных — победитель.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Вероятность случайно вытащить 4 верные пары ≈ 0.6⁴ ≈ 0.13. Значит, примерно каждая 8-я попытка удачная, и для уверенности 99% хватит около 33 итераций (по формуле на слайде). Если верных только 20%, понадобится уже около 2900 итераций. Поэтому хороший </a:t>
            </a:r>
            <a:r>
              <a:rPr lang="ru-RU" sz="11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матчер</a:t>
            </a:r>
            <a:r>
              <a:rPr lang="ru-RU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важен даже при наличии RANSAC.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79775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981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Уточнить: в классической сиамской сети веса общие; для SAR–</a:t>
            </a:r>
            <a:r>
              <a:rPr lang="ru-RU" dirty="0" err="1"/>
              <a:t>Opt</a:t>
            </a:r>
            <a:r>
              <a:rPr lang="ru-RU" dirty="0"/>
              <a:t> часто используют </a:t>
            </a:r>
            <a:r>
              <a:rPr lang="ru-RU" dirty="0" err="1"/>
              <a:t>псевдосиамскую</a:t>
            </a:r>
            <a:r>
              <a:rPr lang="ru-RU" dirty="0"/>
              <a:t> сеть (ветки с разными весами или общая только голова), т.к. статистика модальностей сильно разная. Подписать на схеме, общие ли веса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1870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b="0" dirty="0"/>
              <a:t>Сейчас</a:t>
            </a:r>
            <a:r>
              <a:rPr lang="ru-RU" dirty="0"/>
              <a:t> всё чаще всего используют </a:t>
            </a:r>
            <a:r>
              <a:rPr lang="ru-RU" dirty="0" err="1"/>
              <a:t>лоссы</a:t>
            </a:r>
            <a:r>
              <a:rPr lang="ru-RU" dirty="0"/>
              <a:t>, где негативами служат все остальные примеры в </a:t>
            </a:r>
            <a:r>
              <a:rPr lang="ru-RU" dirty="0" err="1"/>
              <a:t>батче</a:t>
            </a:r>
            <a:r>
              <a:rPr lang="ru-RU" dirty="0"/>
              <a:t>: </a:t>
            </a:r>
            <a:r>
              <a:rPr lang="ru-RU" dirty="0" err="1"/>
              <a:t>InfoNCE</a:t>
            </a:r>
            <a:r>
              <a:rPr lang="ru-RU" dirty="0"/>
              <a:t> как в CLIP, </a:t>
            </a:r>
            <a:r>
              <a:rPr lang="ru-RU" dirty="0" err="1"/>
              <a:t>hardest-in-batch</a:t>
            </a:r>
            <a:r>
              <a:rPr lang="ru-RU" dirty="0"/>
              <a:t>, по сути развитие </a:t>
            </a:r>
            <a:r>
              <a:rPr lang="ru-RU" dirty="0" err="1"/>
              <a:t>triplet</a:t>
            </a:r>
            <a:r>
              <a:rPr lang="ru-RU" dirty="0"/>
              <a:t> с </a:t>
            </a:r>
            <a:r>
              <a:rPr lang="ru-RU" dirty="0" err="1"/>
              <a:t>hard</a:t>
            </a:r>
            <a:r>
              <a:rPr lang="ru-RU" dirty="0"/>
              <a:t> </a:t>
            </a:r>
            <a:r>
              <a:rPr lang="ru-RU" dirty="0" err="1"/>
              <a:t>negative</a:t>
            </a:r>
            <a:r>
              <a:rPr lang="ru-RU" dirty="0"/>
              <a:t> </a:t>
            </a:r>
            <a:r>
              <a:rPr lang="ru-RU" dirty="0" err="1"/>
              <a:t>mining</a:t>
            </a:r>
            <a:r>
              <a:rPr lang="ru-RU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98047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07811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3258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Негативы: случайные негативы слишком лёгкие, </a:t>
            </a:r>
            <a:r>
              <a:rPr lang="ru-RU" dirty="0" err="1"/>
              <a:t>лосс</a:t>
            </a:r>
            <a:r>
              <a:rPr lang="ru-RU" dirty="0"/>
              <a:t> быстро </a:t>
            </a:r>
            <a:r>
              <a:rPr lang="ru-RU" dirty="0" err="1"/>
              <a:t>зануляется</a:t>
            </a:r>
            <a:r>
              <a:rPr lang="ru-RU" dirty="0"/>
              <a:t>; используют </a:t>
            </a:r>
            <a:r>
              <a:rPr lang="ru-RU" dirty="0" err="1"/>
              <a:t>hard</a:t>
            </a:r>
            <a:r>
              <a:rPr lang="ru-RU" dirty="0"/>
              <a:t> / </a:t>
            </a:r>
            <a:r>
              <a:rPr lang="ru-RU" dirty="0" err="1"/>
              <a:t>semi-hard</a:t>
            </a:r>
            <a:r>
              <a:rPr lang="ru-RU" dirty="0"/>
              <a:t> </a:t>
            </a:r>
            <a:r>
              <a:rPr lang="ru-RU" dirty="0" err="1"/>
              <a:t>negative</a:t>
            </a:r>
            <a:r>
              <a:rPr lang="ru-RU" dirty="0"/>
              <a:t> </a:t>
            </a:r>
            <a:r>
              <a:rPr lang="ru-RU" dirty="0" err="1"/>
              <a:t>mining</a:t>
            </a:r>
            <a:r>
              <a:rPr lang="ru-RU" dirty="0"/>
              <a:t> внутри </a:t>
            </a:r>
            <a:r>
              <a:rPr lang="ru-RU" dirty="0" err="1"/>
              <a:t>батча</a:t>
            </a:r>
            <a:r>
              <a:rPr lang="ru-RU" dirty="0"/>
              <a:t>; </a:t>
            </a:r>
            <a:r>
              <a:rPr lang="ru-RU" dirty="0" err="1"/>
              <a:t>эмбеддинги</a:t>
            </a:r>
            <a:r>
              <a:rPr lang="ru-RU" dirty="0"/>
              <a:t> обычно L2-нормируют.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1954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ru-RU" b="1" dirty="0" err="1"/>
              <a:t>SuperPoint</a:t>
            </a:r>
            <a:r>
              <a:rPr lang="ru-RU" dirty="0"/>
              <a:t> — одна сеть сразу находит точки и считает для них дескрипторы: общий </a:t>
            </a:r>
            <a:r>
              <a:rPr lang="ru-RU" dirty="0" err="1"/>
              <a:t>энкодер</a:t>
            </a:r>
            <a:r>
              <a:rPr lang="ru-RU" dirty="0"/>
              <a:t>, две головы. Главная идея — </a:t>
            </a:r>
            <a:r>
              <a:rPr lang="ru-RU" i="1" dirty="0"/>
              <a:t>самообучение без разметки</a:t>
            </a:r>
            <a:r>
              <a:rPr lang="ru-RU" dirty="0"/>
              <a:t>. Сначала сеть учится находить углы на синтетических фигурах. Затем реальные снимки много раз искажают случайными </a:t>
            </a:r>
            <a:r>
              <a:rPr lang="ru-RU" dirty="0" err="1"/>
              <a:t>гомографиями</a:t>
            </a:r>
            <a:r>
              <a:rPr lang="ru-RU" dirty="0"/>
              <a:t>, и сеть учат находить одни и те же точки на всех версиях (</a:t>
            </a:r>
            <a:r>
              <a:rPr lang="ru-RU" dirty="0" err="1"/>
              <a:t>homographic</a:t>
            </a:r>
            <a:r>
              <a:rPr lang="ru-RU" dirty="0"/>
              <a:t> </a:t>
            </a:r>
            <a:r>
              <a:rPr lang="ru-RU" dirty="0" err="1"/>
              <a:t>adaptation</a:t>
            </a:r>
            <a:r>
              <a:rPr lang="ru-RU" dirty="0"/>
              <a:t>). Это хорошо ложится на SAR–</a:t>
            </a:r>
            <a:r>
              <a:rPr lang="ru-RU" dirty="0" err="1"/>
              <a:t>Opt</a:t>
            </a:r>
            <a:r>
              <a:rPr lang="ru-RU" dirty="0"/>
              <a:t>: в OS </a:t>
            </a:r>
            <a:r>
              <a:rPr lang="ru-RU" dirty="0" err="1"/>
              <a:t>dataset</a:t>
            </a:r>
            <a:r>
              <a:rPr lang="ru-RU" dirty="0"/>
              <a:t> пары уже совмещены, значит, обучающие примеры с известной H можно генерировать бесконечно.</a:t>
            </a:r>
          </a:p>
          <a:p>
            <a:pPr rtl="0"/>
            <a:r>
              <a:rPr lang="ru-RU" b="1" dirty="0" err="1"/>
              <a:t>LightGlue</a:t>
            </a:r>
            <a:r>
              <a:rPr lang="ru-RU" dirty="0"/>
              <a:t> (преемник </a:t>
            </a:r>
            <a:r>
              <a:rPr lang="ru-RU" dirty="0" err="1"/>
              <a:t>SuperGlue</a:t>
            </a:r>
            <a:r>
              <a:rPr lang="ru-RU" dirty="0"/>
              <a:t>). На входе — два набора точек с дескрипторами. Слои внимания чередуются: </a:t>
            </a:r>
            <a:r>
              <a:rPr lang="ru-RU" dirty="0" err="1"/>
              <a:t>self-attention</a:t>
            </a:r>
            <a:r>
              <a:rPr lang="ru-RU" dirty="0"/>
              <a:t> внутри одного снимка («какие точки рядом со мной») и </a:t>
            </a:r>
            <a:r>
              <a:rPr lang="ru-RU" dirty="0" err="1"/>
              <a:t>cross-attention</a:t>
            </a:r>
            <a:r>
              <a:rPr lang="ru-RU" dirty="0"/>
              <a:t> между снимками («кто на другом снимке похож на меня»). Дескриптор каждой точки начинает учитывать контекст сцены. На выходе — матрица соответствий плюс оценка «есть ли у этой точки пара вообще». Для SAR–</a:t>
            </a:r>
            <a:r>
              <a:rPr lang="ru-RU" dirty="0" err="1"/>
              <a:t>Opt</a:t>
            </a:r>
            <a:r>
              <a:rPr lang="ru-RU" dirty="0"/>
              <a:t> это важно, потому что многие точки пары не имеют. Ещё </a:t>
            </a:r>
            <a:r>
              <a:rPr lang="ru-RU" dirty="0" err="1"/>
              <a:t>LightGlue</a:t>
            </a:r>
            <a:r>
              <a:rPr lang="ru-RU" dirty="0"/>
              <a:t> адаптивно останавливается раньше на простых парах, отсюда скорость.</a:t>
            </a:r>
          </a:p>
          <a:p>
            <a:pPr rtl="0"/>
            <a:r>
              <a:rPr lang="ru-RU" b="1" dirty="0" err="1"/>
              <a:t>LoFTR</a:t>
            </a:r>
            <a:r>
              <a:rPr lang="ru-RU" dirty="0"/>
              <a:t> работает без детектора: точки не ищутся вообще. CNN строит карты признаков в разрешении 1/8. Трансформер с </a:t>
            </a:r>
            <a:r>
              <a:rPr lang="ru-RU" dirty="0" err="1"/>
              <a:t>self</a:t>
            </a:r>
            <a:r>
              <a:rPr lang="ru-RU" dirty="0"/>
              <a:t>- и </a:t>
            </a:r>
            <a:r>
              <a:rPr lang="ru-RU" dirty="0" err="1"/>
              <a:t>cross-attention</a:t>
            </a:r>
            <a:r>
              <a:rPr lang="ru-RU" dirty="0"/>
              <a:t> обрабатывает их целиком, и каждый «пиксель» получает контекст всей сцены. Грубые соответствия находятся на сетке 1/8, затем уточняются в маленьких окнах на разрешении 1/2. Плюс для SAR — находит соответствия на однородных участках, где детектор точек ничего не видит.</a:t>
            </a:r>
          </a:p>
          <a:p>
            <a:pPr rtl="0"/>
            <a:r>
              <a:rPr lang="ru-RU" b="1" dirty="0"/>
              <a:t>COTR</a:t>
            </a:r>
            <a:r>
              <a:rPr lang="ru-RU" dirty="0"/>
              <a:t> — подход «по запросу». Задаём координату на снимке A, трансформер возвращает координату на снимке B. Затем рекурсивно «приближает» окрестность и уточняет ответ. Можно получить соответствие для любой точки, но это медленно.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1580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139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449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ВАЖНО: Геометрическое преобразование применяется либо одинаково к обоим снимкам (пара остаётся совмещённой), либо только к одному — тогда истинную </a:t>
            </a:r>
            <a:r>
              <a:rPr lang="ru-RU" dirty="0" err="1"/>
              <a:t>гомографию</a:t>
            </a:r>
            <a:r>
              <a:rPr lang="ru-RU" dirty="0"/>
              <a:t> нужно пересчитать (так и генерируют обучающие пары для оценки преобразования). Иначе разметка ломается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Укорочение и наложение зависят от рельефа, глобальным преобразованием их не воспроизвести. Честнее: «локальные упругие (</a:t>
            </a:r>
            <a:r>
              <a:rPr lang="ru-RU" dirty="0" err="1"/>
              <a:t>elastic</a:t>
            </a:r>
            <a:r>
              <a:rPr lang="ru-RU" dirty="0"/>
              <a:t>) искажения — грубая имитация рассогласования геометрий»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Подчеркнуть, что </a:t>
            </a:r>
            <a:r>
              <a:rPr lang="ru-RU" dirty="0" err="1"/>
              <a:t>спекл</a:t>
            </a:r>
            <a:r>
              <a:rPr lang="ru-RU" dirty="0"/>
              <a:t> мультипликативный: </a:t>
            </a:r>
            <a:r>
              <a:rPr lang="ru-RU" dirty="0" err="1"/>
              <a:t>I·n</a:t>
            </a:r>
            <a:r>
              <a:rPr lang="ru-RU" dirty="0"/>
              <a:t>, n ~ </a:t>
            </a:r>
            <a:r>
              <a:rPr lang="ru-RU" dirty="0" err="1"/>
              <a:t>Gamma</a:t>
            </a:r>
            <a:r>
              <a:rPr lang="ru-RU" dirty="0"/>
              <a:t>(L, 1/L) для L-</a:t>
            </a:r>
            <a:r>
              <a:rPr lang="ru-RU" dirty="0" err="1"/>
              <a:t>look</a:t>
            </a:r>
            <a:r>
              <a:rPr lang="ru-RU" dirty="0"/>
              <a:t> изображения. </a:t>
            </a:r>
            <a:r>
              <a:rPr lang="ru-RU" dirty="0" err="1"/>
              <a:t>Motion</a:t>
            </a:r>
            <a:r>
              <a:rPr lang="ru-RU" dirty="0"/>
              <a:t> </a:t>
            </a:r>
            <a:r>
              <a:rPr lang="ru-RU" dirty="0" err="1"/>
              <a:t>Blur</a:t>
            </a:r>
            <a:r>
              <a:rPr lang="ru-RU" dirty="0"/>
              <a:t> и </a:t>
            </a:r>
            <a:r>
              <a:rPr lang="ru-RU" dirty="0" err="1"/>
              <a:t>Sharpen</a:t>
            </a:r>
            <a:r>
              <a:rPr lang="ru-RU" dirty="0"/>
              <a:t> для SAR физического смысла не имеют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38907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82363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4786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67820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7807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Sentinel-1 (SAR, C-</a:t>
            </a:r>
            <a:r>
              <a:rPr lang="ru-RU" dirty="0"/>
              <a:t>диапазон) + </a:t>
            </a:r>
            <a:r>
              <a:rPr lang="en-US" dirty="0"/>
              <a:t>Sentinel-2 (</a:t>
            </a:r>
            <a:r>
              <a:rPr lang="ru-RU" dirty="0"/>
              <a:t>оптика)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1672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1660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02787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19035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Почему не кластеризация. Нам неважно, как точки группируются во всём пространстве, важно одно: свой </a:t>
            </a:r>
            <a:r>
              <a:rPr lang="ru-RU" dirty="0" err="1"/>
              <a:t>Opt</a:t>
            </a:r>
            <a:r>
              <a:rPr lang="ru-RU" dirty="0"/>
              <a:t> ближе чужих. Ровно это и измеряют ранговые метрики.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09667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Google Shape;82;g3f68ea1e0c8_0_102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Иногда вопрос другой: принесли одну пару — совпадает или нет? Это бинарная классификация по расстоянию: «совпадает», если d &lt; порога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Precision, Recall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𝐹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обычно считаются исходя из заранее выбранного порога. Но на практике можно поступить и по-другому: выбрать лучший порог в зависимости от того, где получились самые лучшие метрики на валидации и использовать модель с этим порогом.</a:t>
                </a:r>
                <a:endParaRPr lang="ru-R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ru-RU" dirty="0"/>
                  <a:t>Порог выбирается на валидации, метрики сообщаются на тесте. Подбор порога на тесте — утечка и завышенная оценка</a:t>
                </a:r>
                <a:endParaRPr lang="ru-RU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lang="ru-RU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82" name="Google Shape;82;g3f68ea1e0c8_0_102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Иногда вопрос другой: принесли одну пару — совпадает или нет? Это бинарная классификация по расстоянию: «совпадает», если d &lt; порога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Precision, Recall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и </a:t>
                </a:r>
                <a:r>
                  <a:rPr lang="en-US" i="0" dirty="0">
                    <a:solidFill>
                      <a:schemeClr val="dk1"/>
                    </a:solidFill>
                    <a:latin typeface="Cambria Math" panose="02040503050406030204" pitchFamily="18" charset="0"/>
                    <a:ea typeface="Nunito"/>
                    <a:cs typeface="Nunito"/>
                    <a:sym typeface="Nunito"/>
                  </a:rPr>
                  <a:t>𝐹</a:t>
                </a:r>
                <a:r>
                  <a:rPr lang="en-US" b="0" i="0" dirty="0">
                    <a:solidFill>
                      <a:schemeClr val="dk1"/>
                    </a:solidFill>
                    <a:latin typeface="Cambria Math" panose="02040503050406030204" pitchFamily="18" charset="0"/>
                    <a:ea typeface="Nunito"/>
                    <a:cs typeface="Nunito"/>
                    <a:sym typeface="Nunito"/>
                  </a:rPr>
                  <a:t>_</a:t>
                </a:r>
                <a:r>
                  <a:rPr lang="en-US" i="0" dirty="0">
                    <a:solidFill>
                      <a:schemeClr val="dk1"/>
                    </a:solidFill>
                    <a:latin typeface="Cambria Math" panose="02040503050406030204" pitchFamily="18" charset="0"/>
                    <a:ea typeface="Nunito"/>
                    <a:cs typeface="Nunito"/>
                    <a:sym typeface="Nunito"/>
                  </a:rPr>
                  <a:t>1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обычно считаются исходя из заранее выбранного порога. Но на практике можно поступить и по-другому: выбрать лучший порог в зависимости от того, где получились самые лучшие метрики на валидации и использовать модель с этим порогом.</a:t>
                </a:r>
                <a:endParaRPr lang="ru-RU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lang="ru-RU" dirty="0"/>
                  <a:t>Порог выбирается на валидации, метрики сообщаются на тесте. Подбор порога на тесте — утечка и завышенная оценка</a:t>
                </a:r>
                <a:endParaRPr lang="ru-RU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lang="ru-RU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8280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Если брать пример из слайда 21: RANSAC; пример с 60 парами, NCM = 36, CMR = 36/60 = 0.6. 35 — это </a:t>
            </a:r>
            <a:r>
              <a:rPr lang="ru-RU" dirty="0" err="1"/>
              <a:t>inliers</a:t>
            </a:r>
            <a:r>
              <a:rPr lang="ru-RU" dirty="0"/>
              <a:t> RANSAC, а не верные пары: одна верная пара отстоит от </a:t>
            </a:r>
            <a:r>
              <a:rPr lang="ru-RU" dirty="0" err="1"/>
              <a:t>H_gt</a:t>
            </a:r>
            <a:r>
              <a:rPr lang="ru-RU" dirty="0"/>
              <a:t> на 2.8 </a:t>
            </a:r>
            <a:r>
              <a:rPr lang="ru-RU" dirty="0" err="1"/>
              <a:t>px</a:t>
            </a:r>
            <a:r>
              <a:rPr lang="ru-RU" dirty="0"/>
              <a:t>, а от найденной H — больше 3 </a:t>
            </a:r>
            <a:r>
              <a:rPr lang="ru-RU" dirty="0" err="1"/>
              <a:t>px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sz="11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MMA@ε</a:t>
            </a:r>
            <a:r>
              <a:rPr lang="en-US" sz="11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Рисуется кривой: по горизонтали ε, по вертикали доля верных.</a:t>
            </a:r>
            <a:endParaRPr lang="ru-RU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07364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Почему нужен SR, а не средний RMSE: одна неудачная пара с ошибкой 200 </a:t>
            </a:r>
            <a:r>
              <a:rPr lang="ru-RU" dirty="0" err="1"/>
              <a:t>px</a:t>
            </a:r>
            <a:r>
              <a:rPr lang="ru-RU" dirty="0"/>
              <a:t> среди 99 идеальных даёт средний RMSE 2 </a:t>
            </a:r>
            <a:r>
              <a:rPr lang="ru-RU" dirty="0" err="1"/>
              <a:t>px</a:t>
            </a:r>
            <a:r>
              <a:rPr lang="ru-RU" dirty="0"/>
              <a:t>. У совмещения ошибки бимодальны: «совместили с точностью пикселя» или «промахнулись совсем». Поэтому приводят SR и RMSE только по успешным парам (или медиану).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61769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9778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получившийся алгоритм - не обязательно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алгоритм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7427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2359958"/>
            <a:ext cx="9144000" cy="2783691"/>
          </a:xfrm>
          <a:prstGeom prst="rect">
            <a:avLst/>
          </a:prstGeom>
          <a:solidFill>
            <a:srgbClr val="0069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871950"/>
            <a:ext cx="8520600" cy="13625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4400" dirty="0" err="1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Машинное</a:t>
            </a:r>
            <a:r>
              <a:rPr lang="en-GB" sz="44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 </a:t>
            </a:r>
            <a:r>
              <a:rPr lang="en-GB" sz="4400" dirty="0" err="1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Обучение</a:t>
            </a:r>
            <a:endParaRPr lang="ru-RU" sz="4400" dirty="0">
              <a:solidFill>
                <a:schemeClr val="dk1"/>
              </a:solidFill>
              <a:latin typeface="Nunito" panose="020B0604020202020204" charset="-52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-RU" sz="44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В Задачах Радиолокации</a:t>
            </a:r>
            <a:endParaRPr sz="4400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t="31266" b="27950"/>
          <a:stretch/>
        </p:blipFill>
        <p:spPr>
          <a:xfrm>
            <a:off x="153000" y="147925"/>
            <a:ext cx="1775250" cy="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3282" y="202886"/>
            <a:ext cx="801467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11700" y="4271550"/>
            <a:ext cx="2359959" cy="7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b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МФТИ, ПИШ РПИ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Осень</a:t>
            </a: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2026/2027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68BDA-96CA-4ADC-BAD7-9D151CF9ADAA}"/>
              </a:ext>
            </a:extLst>
          </p:cNvPr>
          <p:cNvSpPr txBox="1"/>
          <p:nvPr/>
        </p:nvSpPr>
        <p:spPr>
          <a:xfrm>
            <a:off x="4279485" y="3411382"/>
            <a:ext cx="48205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Авторы:</a:t>
            </a:r>
          </a:p>
          <a:p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Гнатов Михаил Андреевич</a:t>
            </a:r>
          </a:p>
          <a:p>
            <a:r>
              <a:rPr lang="ru-RU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Доброжанский</a:t>
            </a:r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Владимир Алексеевич</a:t>
            </a: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FBCDC-6F83-4920-A6D3-701104C497C5}"/>
              </a:ext>
            </a:extLst>
          </p:cNvPr>
          <p:cNvSpPr txBox="1"/>
          <p:nvPr/>
        </p:nvSpPr>
        <p:spPr>
          <a:xfrm>
            <a:off x="947450" y="2491606"/>
            <a:ext cx="76354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</a:t>
            </a:r>
            <a:r>
              <a:rPr lang="ru-RU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en-GB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ru-RU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ru-RU" sz="4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Optical</a:t>
            </a:r>
            <a:r>
              <a:rPr lang="ru-RU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4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Image</a:t>
            </a:r>
            <a:r>
              <a:rPr lang="ru-RU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Matching</a:t>
            </a:r>
            <a:endParaRPr lang="ru-RU" sz="4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3696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ru-RU" sz="2400" b="1" dirty="0">
                <a:latin typeface="Nunito" panose="020B0604020202020204" charset="-52"/>
              </a:rPr>
              <a:t>Темы на сегодня</a:t>
            </a:r>
            <a:endParaRPr sz="2400" b="1" dirty="0">
              <a:latin typeface="Nunito" panose="020B0604020202020204" charset="-52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032187"/>
            <a:ext cx="8520600" cy="35366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Matching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Классические методы решения задачи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подходы к решению задачи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Аугментации</a:t>
            </a: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Датасеты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565150" indent="-45720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Метрики качества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51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0" y="1636621"/>
            <a:ext cx="9144000" cy="15048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b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-GB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Matching</a:t>
            </a: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3834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Matching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3176" y="647830"/>
            <a:ext cx="8609124" cy="39737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079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Термины:</a:t>
            </a:r>
          </a:p>
          <a:p>
            <a:pPr marL="4508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(optical images,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оптические изображения) —  изображения видимого или инфракрасного диапазона.</a:t>
            </a:r>
          </a:p>
          <a:p>
            <a:pPr marL="4508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Matching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(сопоставление) — задача поиска и установления соответствия между объектами из разных наборов данных на основе определённых критериев.</a:t>
            </a:r>
          </a:p>
          <a:p>
            <a:pPr marL="4508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Матчер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алгоритм, выдающий пары соответственных точек.</a:t>
            </a:r>
          </a:p>
          <a:p>
            <a:pPr marL="4508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Keypoint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(ключевая точка) — характерная точка на изображении, отличающаяся по какому-либо критерию (зачастую граничная или угловая).</a:t>
            </a:r>
          </a:p>
          <a:p>
            <a:pPr marL="4508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Гомография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проективное преобразование, сохраняющее прямые линии. Задаётся матрицей 3х3, точно описывает отображение плоскости в плоскость. Укорочение и наложение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гомографией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не описываются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3834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Matching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83803" y="714884"/>
            <a:ext cx="8520600" cy="502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Чем отличаются </a:t>
            </a: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 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 </a:t>
            </a:r>
            <a:r>
              <a:rPr lang="en-US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1079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A3B85559-24AD-4C41-A124-CEE98C760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403532"/>
              </p:ext>
            </p:extLst>
          </p:nvPr>
        </p:nvGraphicFramePr>
        <p:xfrm>
          <a:off x="311700" y="1285139"/>
          <a:ext cx="8520600" cy="317217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501427">
                  <a:extLst>
                    <a:ext uri="{9D8B030D-6E8A-4147-A177-3AD203B41FA5}">
                      <a16:colId xmlns:a16="http://schemas.microsoft.com/office/drawing/2014/main" val="497261198"/>
                    </a:ext>
                  </a:extLst>
                </a:gridCol>
                <a:gridCol w="3178973">
                  <a:extLst>
                    <a:ext uri="{9D8B030D-6E8A-4147-A177-3AD203B41FA5}">
                      <a16:colId xmlns:a16="http://schemas.microsoft.com/office/drawing/2014/main" val="3206136237"/>
                    </a:ext>
                  </a:extLst>
                </a:gridCol>
                <a:gridCol w="2840200">
                  <a:extLst>
                    <a:ext uri="{9D8B030D-6E8A-4147-A177-3AD203B41FA5}">
                      <a16:colId xmlns:a16="http://schemas.microsoft.com/office/drawing/2014/main" val="1635706379"/>
                    </a:ext>
                  </a:extLst>
                </a:gridCol>
              </a:tblGrid>
              <a:tr h="528696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Характеристика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SAR</a:t>
                      </a:r>
                      <a:endParaRPr lang="ru-RU" sz="1800" b="1" dirty="0">
                        <a:solidFill>
                          <a:schemeClr val="bg1"/>
                        </a:solidFill>
                        <a:latin typeface="Nunito" panose="020B0604020202020204" charset="-5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Opt</a:t>
                      </a:r>
                      <a:endParaRPr lang="ru-RU" sz="1800" b="1" dirty="0">
                        <a:solidFill>
                          <a:schemeClr val="bg1"/>
                        </a:solidFill>
                        <a:latin typeface="Nunito" panose="020B0604020202020204" charset="-5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582203"/>
                  </a:ext>
                </a:extLst>
              </a:tr>
              <a:tr h="528696">
                <a:tc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Физика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Активное микроволновое зондирование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Пассивное отражение солнечного света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28868"/>
                  </a:ext>
                </a:extLst>
              </a:tr>
              <a:tr h="528696"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Диапазон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Микроволны (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X, C, L-</a:t>
                      </a: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диапазоны)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Видимый/ИК спектр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318331"/>
                  </a:ext>
                </a:extLst>
              </a:tr>
              <a:tr h="528696"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Зависимость от погоды и освещения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Практически нулевая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Да (облака, туман, ночь)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140165"/>
                  </a:ext>
                </a:extLst>
              </a:tr>
              <a:tr h="528696"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Информация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Диэлектрическая проницаемость, шероховатость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Цвет, текстура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52809"/>
                  </a:ext>
                </a:extLst>
              </a:tr>
              <a:tr h="528696"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Геометрия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Наклонная дальность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Nunito" panose="020B0604020202020204" charset="-52"/>
                      </a:endParaRP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Nunito" panose="020B0604020202020204" charset="-52"/>
                        </a:rPr>
                        <a:t>Центральная проекция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271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28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60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Matching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Google Shape;86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663327"/>
                <a:ext cx="8520600" cy="3905523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07950" lvl="0" indent="0">
                  <a:buClr>
                    <a:schemeClr val="dk1"/>
                  </a:buClr>
                  <a:buSzPts val="1900"/>
                  <a:buNone/>
                </a:pP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Цель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: Найти соответствия между SAR и </a:t>
                </a:r>
                <a:r>
                  <a:rPr lang="en-US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изображениями одной и той же местности.</a:t>
                </a:r>
                <a:endParaRPr lang="en-US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107950" lvl="0" indent="0">
                  <a:buClr>
                    <a:schemeClr val="dk1"/>
                  </a:buClr>
                  <a:buSzPts val="1900"/>
                  <a:buNone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Варианты постановки задачи:</a:t>
                </a:r>
              </a:p>
              <a:p>
                <a:pPr marL="450850" lvl="0">
                  <a:buClr>
                    <a:schemeClr val="dk1"/>
                  </a:buClr>
                  <a:buSzPts val="1900"/>
                  <a:buFont typeface="+mj-lt"/>
                  <a:buAutoNum type="arabicPeriod"/>
                </a:pPr>
                <a:r>
                  <a:rPr lang="en-US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Patch matching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.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Осуществить сопоставление между наборами из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𝑁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SAR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изображений и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изображений 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одного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физического размера. Для каждого SAR-изображения найти соответствующее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-изображение из набора; при необходимости уточнить взаимное положение. </a:t>
                </a:r>
              </a:p>
              <a:p>
                <a:pPr marL="450850" lvl="0">
                  <a:buClr>
                    <a:schemeClr val="dk1"/>
                  </a:buClr>
                  <a:buSzPts val="1900"/>
                  <a:buFont typeface="+mj-lt"/>
                  <a:buAutoNum type="arabicPeriod"/>
                </a:pPr>
                <a:r>
                  <a:rPr lang="en-US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Image registration.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Осуществить сопоставление между наборами из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𝑁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SAR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изображений и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en-US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изображений 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разного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физического размера. Меньшее из изображений необходимо наложить на большее и указать для него матрицу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гомографии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.</a:t>
                </a:r>
                <a:endParaRPr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86" name="Google Shape;86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663327"/>
                <a:ext cx="8520600" cy="3905523"/>
              </a:xfrm>
              <a:prstGeom prst="rect">
                <a:avLst/>
              </a:prstGeom>
              <a:blipFill>
                <a:blip r:embed="rId3"/>
                <a:stretch>
                  <a:fillRect r="-9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051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3834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Matching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83803" y="714884"/>
            <a:ext cx="8520600" cy="502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Вариант 1. Найдите пары:</a:t>
            </a:r>
          </a:p>
          <a:p>
            <a:pPr marL="1079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6C2F82-8154-40EC-9F53-AFCD24AB61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293"/>
          <a:stretch/>
        </p:blipFill>
        <p:spPr>
          <a:xfrm>
            <a:off x="413812" y="1100468"/>
            <a:ext cx="8574250" cy="17450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1AC0380-0827-4318-9875-F3EF60A10C9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0999" r="59844"/>
          <a:stretch/>
        </p:blipFill>
        <p:spPr>
          <a:xfrm rot="10800000">
            <a:off x="3844179" y="2809855"/>
            <a:ext cx="3443122" cy="172023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DA4ED91-329B-47D4-AA8B-067D9B72126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507" t="50293" r="40261" b="707"/>
          <a:stretch/>
        </p:blipFill>
        <p:spPr>
          <a:xfrm>
            <a:off x="7310662" y="2809855"/>
            <a:ext cx="1649020" cy="172023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09C1E51-A4B0-4818-B867-306D9C4ABCA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0245" t="50999" r="20234" b="1292"/>
          <a:stretch/>
        </p:blipFill>
        <p:spPr>
          <a:xfrm rot="5400000">
            <a:off x="461913" y="2855737"/>
            <a:ext cx="1673817" cy="167489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99CE7E0-C019-4828-B920-7DD16B90DCA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0334" t="50999" r="434" b="1322"/>
          <a:stretch/>
        </p:blipFill>
        <p:spPr>
          <a:xfrm rot="16200000">
            <a:off x="2165713" y="2843874"/>
            <a:ext cx="1649020" cy="167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34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3834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Matching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83803" y="714884"/>
            <a:ext cx="8520600" cy="5021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Вариант 1. Правильный ответ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6C2F82-8154-40EC-9F53-AFCD24AB61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12" y="1100468"/>
            <a:ext cx="8574250" cy="351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394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60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Matching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63327"/>
            <a:ext cx="8520600" cy="5982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 второго варианта: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7A759E-C20D-4915-9F8D-B4FD9139ED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02" y="1645568"/>
            <a:ext cx="4300895" cy="2157074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CA03649-A9A6-4235-88BE-E06D5F6CD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426" y="1673141"/>
            <a:ext cx="2081048" cy="2081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3B43694-4471-4254-858E-CDD9B5AD98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9" b="47199"/>
          <a:stretch/>
        </p:blipFill>
        <p:spPr bwMode="auto">
          <a:xfrm rot="10800000">
            <a:off x="4707583" y="1673141"/>
            <a:ext cx="1904796" cy="2078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75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60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Matching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663327"/>
            <a:ext cx="8520600" cy="5982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 второго варианта: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10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CA03649-A9A6-4235-88BE-E06D5F6CD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612" y="663336"/>
            <a:ext cx="3900458" cy="390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71B0F59E-AA50-4494-B000-AADAB37DC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9" b="47199"/>
          <a:stretch/>
        </p:blipFill>
        <p:spPr bwMode="auto">
          <a:xfrm>
            <a:off x="4630612" y="663327"/>
            <a:ext cx="1894174" cy="20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FBF40740-28FE-4405-B7EA-562F1B117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9" b="47199"/>
          <a:stretch/>
        </p:blipFill>
        <p:spPr bwMode="auto">
          <a:xfrm rot="10800000">
            <a:off x="225344" y="1765280"/>
            <a:ext cx="1618675" cy="176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B4966E01-A08A-44E3-9D52-398198E5E0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09" b="47199"/>
          <a:stretch/>
        </p:blipFill>
        <p:spPr bwMode="auto">
          <a:xfrm>
            <a:off x="2394390" y="1765279"/>
            <a:ext cx="1618675" cy="176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Прямая со стрелкой 2">
            <a:extLst>
              <a:ext uri="{FF2B5EF4-FFF2-40B4-BE49-F238E27FC236}">
                <a16:creationId xmlns:a16="http://schemas.microsoft.com/office/drawing/2014/main" id="{A88E4613-0E06-4653-A506-538A36DF3B64}"/>
              </a:ext>
            </a:extLst>
          </p:cNvPr>
          <p:cNvCxnSpPr>
            <a:stCxn id="13" idx="1"/>
            <a:endCxn id="14" idx="1"/>
          </p:cNvCxnSpPr>
          <p:nvPr/>
        </p:nvCxnSpPr>
        <p:spPr>
          <a:xfrm>
            <a:off x="1844019" y="2648387"/>
            <a:ext cx="5503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010AEB0B-D570-4587-9A6A-45C476F10D9E}"/>
              </a:ext>
            </a:extLst>
          </p:cNvPr>
          <p:cNvCxnSpPr>
            <a:stCxn id="14" idx="3"/>
            <a:endCxn id="11" idx="1"/>
          </p:cNvCxnSpPr>
          <p:nvPr/>
        </p:nvCxnSpPr>
        <p:spPr>
          <a:xfrm flipV="1">
            <a:off x="4013065" y="1696740"/>
            <a:ext cx="617547" cy="951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463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Постановка задачи 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SAR-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Matching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Где применяется задача SAR-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Matching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Определение местоположения летательного аппарата (БПЛА, самолет) по SAR-снимку и имеющейся оптической карте.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Обогащение SAR-изображений информацией из оптики (и наоборот) для последующего обнаружения или классификации.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Идентификация новых объектов по SAR-снимкам с использованием оптических баз данных.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Задача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геопривязки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 регистрации изображений.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Обучение моделей перевода изображений.</a:t>
            </a: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1740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12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611824"/>
            <a:ext cx="9144000" cy="15296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>
              <a:buSzPts val="990"/>
            </a:pP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Классические методы</a:t>
            </a:r>
            <a:b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решения задачи</a:t>
            </a: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Классические методы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Google Shape;86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712601"/>
                <a:ext cx="8520600" cy="385624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Функция нормализованной автокорреляции (</a:t>
                </a:r>
                <a:r>
                  <a:rPr lang="en-US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ACF)</a:t>
                </a:r>
                <a:endParaRPr lang="ru-RU" b="1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450850" lvl="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+mj-lt"/>
                  <a:buAutoNum type="arabicPeriod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Для каждой ключевой точки извлекается патч </a:t>
                </a:r>
                <a14:m>
                  <m:oMath xmlns:m="http://schemas.openxmlformats.org/officeDocument/2006/math">
                    <m:r>
                      <a:rPr lang="ru-RU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𝑃</m:t>
                    </m:r>
                  </m:oMath>
                </a14:m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размером </a:t>
                </a:r>
                <a14:m>
                  <m:oMath xmlns:m="http://schemas.openxmlformats.org/officeDocument/2006/math">
                    <m:r>
                      <a:rPr lang="ru-RU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𝑁</m:t>
                    </m:r>
                    <m:r>
                      <a:rPr lang="ru-RU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×</m:t>
                    </m:r>
                    <m:r>
                      <a:rPr lang="ru-RU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𝑁</m:t>
                    </m:r>
                  </m:oMath>
                </a14:m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. </a:t>
                </a:r>
              </a:p>
              <a:p>
                <a:pPr marL="450850" lvl="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+mj-lt"/>
                  <a:buAutoNum type="arabicPeriod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Вычисляется нормализованная автокорреляция:</a:t>
                </a:r>
                <a:endParaRPr lang="en-US" b="0" i="1" dirty="0">
                  <a:solidFill>
                    <a:schemeClr val="dk1"/>
                  </a:solidFill>
                  <a:latin typeface="Cambria Math" panose="02040503050406030204" pitchFamily="18" charset="0"/>
                  <a:ea typeface="Nunito"/>
                  <a:cs typeface="Nunito"/>
                  <a:sym typeface="Nunito"/>
                </a:endParaRPr>
              </a:p>
              <a:p>
                <a:pPr marL="107950" lvl="0" indent="0" algn="ctr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𝐴𝐶𝐹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Nunito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𝑦</m:t>
                            </m:r>
                          </m:sub>
                          <m:sup/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  <m:t>𝑃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Nunito"/>
                              </a:rPr>
                              <m:t>∙</m:t>
                            </m:r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  <m:t>𝑃</m:t>
                                </m:r>
                              </m:e>
                            </m:acc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𝑢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𝑦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𝑣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𝑥</m:t>
                            </m:r>
                            <m:r>
                              <a:rPr lang="en-US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, </m:t>
                            </m:r>
                            <m:r>
                              <a:rPr lang="en-US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sym typeface="Nunito"/>
                              </a:rPr>
                              <m:t>𝑦</m:t>
                            </m:r>
                          </m:sub>
                          <m:sup/>
                          <m:e>
                            <m:acc>
                              <m:accPr>
                                <m:chr m:val="̃"/>
                                <m:ctrlP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  <m:t>𝑃</m:t>
                                </m:r>
                              </m:e>
                            </m:acc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sym typeface="Nunito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sym typeface="Nunito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sym typeface="Nunito"/>
                                      </a:rPr>
                                      <m:t>, </m:t>
                                    </m:r>
                                    <m:r>
                                      <a:rPr lang="en-US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sym typeface="Nunito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Nunito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  <m:r>
                      <a:rPr lang="ru-RU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sym typeface="Nunito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,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где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Nunito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Nunito"/>
                          </a:rPr>
                          <m:t>𝑃</m:t>
                        </m:r>
                      </m:e>
                    </m:acc>
                    <m:r>
                      <a:rPr lang="en-US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sym typeface="Nunito"/>
                      </a:rPr>
                      <m:t>=</m:t>
                    </m:r>
                    <m:r>
                      <a:rPr lang="en-US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sym typeface="Nunito"/>
                      </a:rPr>
                      <m:t>𝑃</m:t>
                    </m:r>
                    <m:r>
                      <a:rPr lang="en-US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sym typeface="Nunito"/>
                      </a:rPr>
                      <m:t> − </m:t>
                    </m:r>
                    <m:acc>
                      <m:accPr>
                        <m:chr m:val="̅"/>
                        <m:ctrlP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Nunito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Nunito"/>
                          </a:rPr>
                          <m:t>𝑃</m:t>
                        </m:r>
                      </m:e>
                    </m:acc>
                  </m:oMath>
                </a14:m>
                <a:endParaRPr lang="en-US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450850" lvl="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+mj-lt"/>
                  <a:buAutoNum type="arabicPeriod" startAt="3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Эта функция 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инвариантна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к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линейным изменениям яркости (контраст, смещение).</a:t>
                </a:r>
              </a:p>
              <a:p>
                <a:pPr marL="45085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+mj-lt"/>
                  <a:buAutoNum type="arabicPeriod" startAt="3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Эта функция 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не инвариантна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к повороту и масштабу.</a:t>
                </a:r>
              </a:p>
              <a:p>
                <a:pPr marL="450850" lvl="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+mj-lt"/>
                  <a:buAutoNum type="arabicPeriod" startAt="3"/>
                </a:pPr>
                <a:endParaRPr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86" name="Google Shape;86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712601"/>
                <a:ext cx="8520600" cy="38562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2527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Классические методы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Классический подход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Обнаружение ключевых точек на обоих изображениях:</a:t>
            </a:r>
          </a:p>
          <a:p>
            <a:pPr marL="908050" lvl="1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SAR: адаптированные детекторы (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SAR-SIFT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+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SAR-Harris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</a:p>
          <a:p>
            <a:pPr marL="908050" lvl="1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стандартные детекторы (SIFT, SURF, ORB).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Применение 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ACF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Сопоставление по расстоянию между ACF-дескрипторами.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Отсев ложных соответствий через RANSAC и получение матрицы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гомографии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Другие варианты: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Поиск взаимной информации (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Area-based 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методы)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структурные дескрипторы (</a:t>
            </a:r>
            <a:r>
              <a:rPr lang="en-US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HOPC, CFOG, RIFT).</a:t>
            </a: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1773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Классические методы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Дополнительные термины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пары точек, которые согласуются с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гомографией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H по заданному критерию. Например, если перенести точку SAR по правилу H, она попадёт не дальше чем в </a:t>
            </a:r>
            <a:r>
              <a:rPr lang="ru-RU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 </a:t>
            </a:r>
            <a:r>
              <a:rPr lang="ru-RU" i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px</a:t>
            </a:r>
            <a:r>
              <a:rPr lang="ru-RU" i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от своей пары на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Outliers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все остальные, то есть ошибки преобразования. Например, угол одной крыши сопоставился с другим похожим углом, перекрёсток — с соседним перекрёстком.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1257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Классические методы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RANSAC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Random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Sample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Consensus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 оценивает преобразование по соответствиям на основе случайного выбора.</a:t>
            </a: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Случайно выбрать минимальный набор соответствий (для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гомографии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4 пары точек).</a:t>
            </a: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 нему вычислить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гомографию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H.</a:t>
            </a: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Найти количество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Повторить N раз, оставить H с максимумом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 пересчитать её только по всем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inliers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1400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Классические методы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917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Интуитивное понимание работы RANSAC на примере прямой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Picture 4" descr="МНК против RANSAC на прямой">
            <a:extLst>
              <a:ext uri="{FF2B5EF4-FFF2-40B4-BE49-F238E27FC236}">
                <a16:creationId xmlns:a16="http://schemas.microsoft.com/office/drawing/2014/main" id="{27863249-739D-4E85-8EE4-A7C08915F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92" y="1293612"/>
            <a:ext cx="8136611" cy="328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633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Классические методы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917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Сопоставления на паре SAR–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до и после RANSAC.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Picture 6" descr="Сопоставления до и после RANSAC">
            <a:extLst>
              <a:ext uri="{FF2B5EF4-FFF2-40B4-BE49-F238E27FC236}">
                <a16:creationId xmlns:a16="http://schemas.microsoft.com/office/drawing/2014/main" id="{915294BC-6EF3-499A-ACCA-789AF45B3A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8" t="-116" r="7599" b="10302"/>
          <a:stretch/>
        </p:blipFill>
        <p:spPr bwMode="auto">
          <a:xfrm>
            <a:off x="-1" y="1562231"/>
            <a:ext cx="9104491" cy="283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709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Классические методы решения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Google Shape;86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638531"/>
                <a:ext cx="8520600" cy="393032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en-US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A 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всегда ли </a:t>
                </a:r>
                <a:r>
                  <a:rPr lang="en-US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RANSAC 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будет работать?</a:t>
                </a:r>
                <a:endParaRPr lang="en-US" b="1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Число итераций, чтобы с вероятностью </a:t>
                </a:r>
                <a14:m>
                  <m:oMath xmlns:m="http://schemas.openxmlformats.org/officeDocument/2006/math">
                    <m:r>
                      <a:rPr lang="ru-RU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𝑝</m:t>
                    </m:r>
                  </m:oMath>
                </a14:m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хотя бы раз вытащить набор без выбросов, если весь набор размера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𝑠</m:t>
                    </m:r>
                  </m:oMath>
                </a14:m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, а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–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доля 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inliers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:</a:t>
                </a:r>
              </a:p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𝑁</m:t>
                      </m:r>
                      <m:r>
                        <a:rPr lang="en-US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Nunito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Nunito"/>
                            </a:rPr>
                            <m:t>log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Nunito"/>
                            </a:rPr>
                            <m:t>⁡(1−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Nunito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Nunito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Nunito"/>
                            </a:rPr>
                            <m:t>log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Nunito"/>
                            </a:rPr>
                            <m:t>⁡(1−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Nunito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Nunito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sym typeface="Nunito"/>
                                </a:rPr>
                                <m:t>𝑠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sym typeface="Nunito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Например: </a:t>
                </a:r>
                <a:b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</a:b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- Если p = 0.99, s = 4, w = 0.5 → N ≈ 72; </a:t>
                </a:r>
                <a:b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</a:b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- Если p = 0.99, s = 4, w = 0.2 → N ≈ 2876. </a:t>
                </a:r>
              </a:p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Отсюда вывод: чем хуже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матчер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, тем дороже RANSAC — поэтому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нейросетевые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дескрипторы и RANSAC дополняют друг друга </a:t>
                </a:r>
              </a:p>
              <a:p>
                <a:pPr marL="450850" lvl="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+mj-lt"/>
                  <a:buAutoNum type="arabicPeriod"/>
                </a:pPr>
                <a:endParaRPr lang="ru-RU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450850" lvl="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+mj-lt"/>
                  <a:buAutoNum type="arabicPeriod"/>
                </a:pPr>
                <a:endParaRPr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86" name="Google Shape;86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638531"/>
                <a:ext cx="8520600" cy="3930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4575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20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611824"/>
            <a:ext cx="9144000" cy="15296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>
              <a:buSzPts val="990"/>
            </a:pPr>
            <a:r>
              <a:rPr lang="en-US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подходы к решению задачи</a:t>
            </a: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2785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подходы к решению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2"/>
            <a:ext cx="8520600" cy="11795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Подход 1: Сиамские и 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Псевдосиамские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сети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6684F95-B688-4C04-908F-51C539B98516}"/>
              </a:ext>
            </a:extLst>
          </p:cNvPr>
          <p:cNvSpPr/>
          <p:nvPr/>
        </p:nvSpPr>
        <p:spPr>
          <a:xfrm>
            <a:off x="676629" y="1259615"/>
            <a:ext cx="1211968" cy="433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SAR </a:t>
            </a:r>
            <a:r>
              <a:rPr lang="ru-RU" sz="16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Патч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EF641D4-6427-4733-A486-7B3FEAB0F636}"/>
              </a:ext>
            </a:extLst>
          </p:cNvPr>
          <p:cNvSpPr/>
          <p:nvPr/>
        </p:nvSpPr>
        <p:spPr>
          <a:xfrm>
            <a:off x="2353389" y="1259615"/>
            <a:ext cx="1853597" cy="433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CNN </a:t>
            </a:r>
            <a:r>
              <a:rPr lang="ru-RU" sz="1600" dirty="0" err="1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Энкодер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7822D7-D7ED-46B6-9285-0D4D6CA5CF87}"/>
              </a:ext>
            </a:extLst>
          </p:cNvPr>
          <p:cNvSpPr/>
          <p:nvPr/>
        </p:nvSpPr>
        <p:spPr>
          <a:xfrm>
            <a:off x="4727729" y="1259614"/>
            <a:ext cx="2513825" cy="433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Вектор признаков</a:t>
            </a:r>
            <a:endParaRPr lang="en-US" sz="16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C449DCA-0347-407E-BC71-539C7FA95845}"/>
              </a:ext>
            </a:extLst>
          </p:cNvPr>
          <p:cNvSpPr/>
          <p:nvPr/>
        </p:nvSpPr>
        <p:spPr>
          <a:xfrm>
            <a:off x="5127585" y="2146125"/>
            <a:ext cx="3792029" cy="499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Евклидово/Косинусное расстояние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DBF4207-5B78-49AE-ABF2-FFF741346563}"/>
              </a:ext>
            </a:extLst>
          </p:cNvPr>
          <p:cNvSpPr/>
          <p:nvPr/>
        </p:nvSpPr>
        <p:spPr>
          <a:xfrm>
            <a:off x="676630" y="3060722"/>
            <a:ext cx="1211968" cy="433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US" sz="16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6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Патч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6CDD74-BF71-4C6E-82D8-DE512721F9A0}"/>
              </a:ext>
            </a:extLst>
          </p:cNvPr>
          <p:cNvSpPr/>
          <p:nvPr/>
        </p:nvSpPr>
        <p:spPr>
          <a:xfrm>
            <a:off x="2353388" y="3060722"/>
            <a:ext cx="1853597" cy="4339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CNN </a:t>
            </a:r>
            <a:r>
              <a:rPr lang="ru-RU" sz="1600" dirty="0" err="1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Энкодер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221F085-EE28-471B-88B3-D84142C035ED}"/>
              </a:ext>
            </a:extLst>
          </p:cNvPr>
          <p:cNvSpPr/>
          <p:nvPr/>
        </p:nvSpPr>
        <p:spPr>
          <a:xfrm>
            <a:off x="4727729" y="3060722"/>
            <a:ext cx="2513825" cy="4339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Вектор признаков</a:t>
            </a:r>
            <a:endParaRPr lang="en-US" sz="16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1FCA3E8C-76C6-4AF9-9968-369E9AC685E3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1888597" y="1476591"/>
            <a:ext cx="464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6FB31F9-F785-4CB7-B783-5709D270033A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1888598" y="3277698"/>
            <a:ext cx="4647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DBE4A1A4-5B66-4F3E-A31F-4E324037E199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4206986" y="1476590"/>
            <a:ext cx="5207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A1C99A38-0BED-4FCA-A9A7-A40E5919C8D5}"/>
              </a:ext>
            </a:extLst>
          </p:cNvPr>
          <p:cNvCxnSpPr>
            <a:stCxn id="13" idx="3"/>
          </p:cNvCxnSpPr>
          <p:nvPr/>
        </p:nvCxnSpPr>
        <p:spPr>
          <a:xfrm flipV="1">
            <a:off x="4206985" y="3277695"/>
            <a:ext cx="464793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B2B8ECB-6D0E-4550-9BAC-91F67E7CE797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984642" y="1693565"/>
            <a:ext cx="1038958" cy="452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925A0EB1-28C6-49D2-8EB0-D9A854DA8639}"/>
              </a:ext>
            </a:extLst>
          </p:cNvPr>
          <p:cNvCxnSpPr>
            <a:cxnSpLocks/>
            <a:stCxn id="14" idx="0"/>
            <a:endCxn id="5" idx="2"/>
          </p:cNvCxnSpPr>
          <p:nvPr/>
        </p:nvCxnSpPr>
        <p:spPr>
          <a:xfrm flipV="1">
            <a:off x="5984642" y="2645170"/>
            <a:ext cx="1038958" cy="415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0B8C807-1482-4B8B-83DB-A0B64E1628B0}"/>
              </a:ext>
            </a:extLst>
          </p:cNvPr>
          <p:cNvSpPr/>
          <p:nvPr/>
        </p:nvSpPr>
        <p:spPr>
          <a:xfrm>
            <a:off x="311700" y="3831956"/>
            <a:ext cx="7978466" cy="6617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Сиамские сети – общие веса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энкодера</a:t>
            </a: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Псевдосиамские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сети – одинаковая архитектура веток, но раздельные веса</a:t>
            </a:r>
          </a:p>
        </p:txBody>
      </p:sp>
    </p:spTree>
    <p:extLst>
      <p:ext uri="{BB962C8B-B14F-4D97-AF65-F5344CB8AC3E}">
        <p14:creationId xmlns:p14="http://schemas.microsoft.com/office/powerpoint/2010/main" val="648941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подходы к решению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486647"/>
            <a:ext cx="8520600" cy="43550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Подход 1: Сиамские и 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Псевдосиамские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сети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Обучение: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Правильные пары: SAR и оптика одного места.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Неправильные пары: SAR и оптика разных мест.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Лосс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Contrastive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Loss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или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Triplet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Loss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Преимущества: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Учится модально-инвариантным признакам из данных.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Хорошо масштабируется.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Недостатки: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Требует много размеченных пар.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Не дает геометрических соответствий напрямую.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2126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подходы к решению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486647"/>
            <a:ext cx="8520600" cy="43550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Подход 1: Сиамские и 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Псевдосиамские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сети</a:t>
            </a:r>
          </a:p>
          <a:p>
            <a:pPr marL="10795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Сравнение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Contrastive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Loss</a:t>
            </a:r>
            <a:r>
              <a:rPr lang="ru-RU" i="1" dirty="0">
                <a:solidFill>
                  <a:schemeClr val="dk1"/>
                </a:solidFill>
                <a:latin typeface="Cambria Math" panose="02040503050406030204" pitchFamily="18" charset="0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и</a:t>
            </a:r>
            <a:r>
              <a:rPr lang="ru-RU" i="1" dirty="0">
                <a:solidFill>
                  <a:schemeClr val="dk1"/>
                </a:solidFill>
                <a:latin typeface="Cambria Math" panose="02040503050406030204" pitchFamily="18" charset="0"/>
                <a:ea typeface="Nunito"/>
                <a:cs typeface="Nunito"/>
                <a:sym typeface="Nunito"/>
              </a:rPr>
              <a:t>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Triplet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Loss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399B65-2002-4710-BF80-73B00B888E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426" t="4108" r="51291" b="22365"/>
          <a:stretch/>
        </p:blipFill>
        <p:spPr>
          <a:xfrm>
            <a:off x="346116" y="1732711"/>
            <a:ext cx="4197988" cy="221336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AA9037-F6C4-4A1C-8C80-01B816779A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321" t="4332" r="1307" b="35103"/>
          <a:stretch/>
        </p:blipFill>
        <p:spPr>
          <a:xfrm>
            <a:off x="4599898" y="1797802"/>
            <a:ext cx="4322612" cy="18332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340381-8C8D-421A-AD39-282A4CC6192C}"/>
              </a:ext>
            </a:extLst>
          </p:cNvPr>
          <p:cNvSpPr txBox="1"/>
          <p:nvPr/>
        </p:nvSpPr>
        <p:spPr>
          <a:xfrm>
            <a:off x="311700" y="4056842"/>
            <a:ext cx="8610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unito" panose="020B0604020202020204" charset="-52"/>
              </a:rPr>
              <a:t>[1] Hadsell, Chopra, </a:t>
            </a:r>
            <a:r>
              <a:rPr lang="en-US" dirty="0" err="1">
                <a:latin typeface="Nunito" panose="020B0604020202020204" charset="-52"/>
              </a:rPr>
              <a:t>LeCun</a:t>
            </a:r>
            <a:r>
              <a:rPr lang="en-US" dirty="0">
                <a:latin typeface="Nunito" panose="020B0604020202020204" charset="-52"/>
              </a:rPr>
              <a:t>, «Dimensionality Reduction by Learning an Invariant Mapping», CVPR 2006</a:t>
            </a:r>
          </a:p>
          <a:p>
            <a:r>
              <a:rPr lang="en-US" dirty="0">
                <a:latin typeface="Nunito" panose="020B0604020202020204" charset="-52"/>
              </a:rPr>
              <a:t>[2] </a:t>
            </a:r>
            <a:r>
              <a:rPr lang="en-US" dirty="0" err="1">
                <a:latin typeface="Nunito" panose="020B0604020202020204" charset="-52"/>
              </a:rPr>
              <a:t>FaceNet</a:t>
            </a:r>
            <a:r>
              <a:rPr lang="en-US" dirty="0">
                <a:latin typeface="Nunito" panose="020B0604020202020204" charset="-52"/>
              </a:rPr>
              <a:t>: A Unified Embedding for Face Recognition and Clustering</a:t>
            </a:r>
          </a:p>
        </p:txBody>
      </p:sp>
    </p:spTree>
    <p:extLst>
      <p:ext uri="{BB962C8B-B14F-4D97-AF65-F5344CB8AC3E}">
        <p14:creationId xmlns:p14="http://schemas.microsoft.com/office/powerpoint/2010/main" val="2443121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подходы к решению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Google Shape;86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486647"/>
                <a:ext cx="8520600" cy="435502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Подход 1: Сиамские и </a:t>
                </a:r>
                <a:r>
                  <a:rPr lang="ru-RU" b="1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Псевдосиамские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сети</a:t>
                </a:r>
              </a:p>
              <a:p>
                <a:pPr marL="10795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Contrastive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Loss</a:t>
                </a:r>
                <a:endParaRPr lang="en-US" b="0" i="1" dirty="0">
                  <a:solidFill>
                    <a:schemeClr val="dk1"/>
                  </a:solidFill>
                  <a:latin typeface="Cambria Math" panose="02040503050406030204" pitchFamily="18" charset="0"/>
                  <a:ea typeface="Nunito"/>
                  <a:cs typeface="Nunito"/>
                  <a:sym typeface="Nunito"/>
                </a:endParaRPr>
              </a:p>
              <a:p>
                <a:pPr marL="10795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𝐶𝑜𝑛𝑡𝑟𝑎𝑠𝑡𝑖𝑣𝑒</m:t>
                        </m:r>
                      </m:sub>
                    </m:sSub>
                    <m:r>
                      <a:rPr lang="en-US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=</m:t>
                    </m:r>
                    <m:r>
                      <a:rPr lang="en-US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𝑦</m:t>
                    </m:r>
                    <m:r>
                      <a:rPr lang="en-US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𝑖𝑠𝑡</m:t>
                        </m:r>
                      </m:e>
                      <m:sup>
                        <m:r>
                          <a:rPr lang="en-US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+</m:t>
                    </m:r>
                    <m:r>
                      <a:rPr lang="ru-RU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(1−</m:t>
                    </m:r>
                    <m:r>
                      <a:rPr lang="en-US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𝑦</m:t>
                    </m:r>
                    <m:r>
                      <a:rPr lang="en-US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)⋅</m:t>
                    </m:r>
                    <m:r>
                      <a:rPr lang="en-US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𝑚𝑎𝑥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0,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 </m:t>
                            </m:r>
                            <m:r>
                              <a:rPr lang="en-US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𝑚</m:t>
                            </m:r>
                            <m:r>
                              <a:rPr lang="en-US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𝑎𝑟𝑔𝑖𝑛</m:t>
                            </m:r>
                            <m:r>
                              <a:rPr lang="en-US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𝑑𝑖𝑠𝑡</m:t>
                            </m:r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</a:p>
              <a:p>
                <a:pPr marL="10795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endParaRPr lang="ru-RU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86" name="Google Shape;86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486647"/>
                <a:ext cx="8520600" cy="43550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BF042E-08A8-4D3D-BE1E-6E1685A3057F}"/>
                  </a:ext>
                </a:extLst>
              </p:cNvPr>
              <p:cNvSpPr txBox="1"/>
              <p:nvPr/>
            </p:nvSpPr>
            <p:spPr>
              <a:xfrm>
                <a:off x="450688" y="1928435"/>
                <a:ext cx="7273667" cy="2120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5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𝑦</m:t>
                    </m:r>
                    <m:r>
                      <a:rPr lang="en-US" sz="16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 </m:t>
                    </m:r>
                  </m:oMath>
                </a14:m>
                <a:r>
                  <a:rPr lang="ru-RU" sz="1600" dirty="0">
                    <a:latin typeface="Nunito" panose="020B0604020202020204" charset="-52"/>
                  </a:rPr>
                  <a:t> — метка пары. Она равна </a:t>
                </a:r>
                <a:r>
                  <a:rPr lang="en-US" sz="1600" b="1" dirty="0">
                    <a:latin typeface="Nunito" panose="020B0604020202020204" charset="-52"/>
                  </a:rPr>
                  <a:t>1</a:t>
                </a:r>
                <a:r>
                  <a:rPr lang="ru-RU" sz="1600" dirty="0">
                    <a:latin typeface="Nunito" panose="020B0604020202020204" charset="-52"/>
                  </a:rPr>
                  <a:t>, если объекты похожи (позитивная пара), и </a:t>
                </a:r>
                <a:r>
                  <a:rPr lang="en-US" sz="1600" b="1" dirty="0">
                    <a:latin typeface="Nunito" panose="020B0604020202020204" charset="-52"/>
                  </a:rPr>
                  <a:t>0</a:t>
                </a:r>
                <a:r>
                  <a:rPr lang="ru-RU" sz="1600" dirty="0">
                    <a:latin typeface="Nunito" panose="020B0604020202020204" charset="-52"/>
                  </a:rPr>
                  <a:t>, если различны (негативная пара). </a:t>
                </a:r>
                <a:endParaRPr lang="en-US" sz="1600" dirty="0">
                  <a:latin typeface="Nunito" panose="020B0604020202020204" charset="-52"/>
                </a:endParaRPr>
              </a:p>
              <a:p>
                <a:pPr>
                  <a:lnSpc>
                    <a:spcPct val="105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𝑑𝑖𝑠𝑡</m:t>
                    </m:r>
                  </m:oMath>
                </a14:m>
                <a:r>
                  <a:rPr lang="ru-RU" sz="1600" dirty="0">
                    <a:latin typeface="Nunito" panose="020B0604020202020204" charset="-52"/>
                  </a:rPr>
                  <a:t> — расстояние  между представлениями (</a:t>
                </a:r>
                <a:r>
                  <a:rPr lang="ru-RU" sz="1600" dirty="0" err="1">
                    <a:latin typeface="Nunito" panose="020B0604020202020204" charset="-52"/>
                  </a:rPr>
                  <a:t>эмбеддингами</a:t>
                </a:r>
                <a:r>
                  <a:rPr lang="ru-RU" sz="1600" dirty="0">
                    <a:latin typeface="Nunito" panose="020B0604020202020204" charset="-52"/>
                  </a:rPr>
                  <a:t>) двух объектов в паре. </a:t>
                </a:r>
                <a:endParaRPr lang="en-US" sz="1600" dirty="0">
                  <a:latin typeface="Nunito" panose="020B0604020202020204" charset="-52"/>
                </a:endParaRPr>
              </a:p>
              <a:p>
                <a:pPr>
                  <a:lnSpc>
                    <a:spcPct val="105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𝑚𝑎𝑟𝑔𝑖𝑛</m:t>
                    </m:r>
                    <m:r>
                      <a:rPr lang="en-US" sz="1600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 </m:t>
                    </m:r>
                  </m:oMath>
                </a14:m>
                <a:r>
                  <a:rPr lang="en-US" sz="1600" dirty="0">
                    <a:latin typeface="Nunito" panose="020B0604020202020204" charset="-52"/>
                  </a:rPr>
                  <a:t>—</a:t>
                </a:r>
                <a:r>
                  <a:rPr lang="ru-RU" sz="1600" dirty="0">
                    <a:latin typeface="Nunito" panose="020B0604020202020204" charset="-52"/>
                  </a:rPr>
                  <a:t> гиперпараметр, который задаёт минимально допустимое расстояние в негативных примерах.</a:t>
                </a:r>
              </a:p>
              <a:p>
                <a:endParaRPr lang="ru-RU" sz="1600" dirty="0">
                  <a:latin typeface="Nunito" panose="020B0604020202020204" charset="-52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BF042E-08A8-4D3D-BE1E-6E1685A30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88" y="1928435"/>
                <a:ext cx="7273667" cy="2120581"/>
              </a:xfrm>
              <a:prstGeom prst="rect">
                <a:avLst/>
              </a:prstGeom>
              <a:blipFill>
                <a:blip r:embed="rId6"/>
                <a:stretch>
                  <a:fillRect l="-5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34B7F79-F63B-4057-B532-A1F5616EB765}"/>
              </a:ext>
            </a:extLst>
          </p:cNvPr>
          <p:cNvSpPr/>
          <p:nvPr/>
        </p:nvSpPr>
        <p:spPr>
          <a:xfrm>
            <a:off x="450688" y="1335954"/>
            <a:ext cx="5934614" cy="44015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421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подходы к решению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Google Shape;86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486647"/>
                <a:ext cx="8520600" cy="401716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Подход 1: Сиамские и </a:t>
                </a:r>
                <a:r>
                  <a:rPr lang="ru-RU" b="1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Псевдосиамские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сети</a:t>
                </a:r>
              </a:p>
              <a:p>
                <a:pPr marL="10795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Triplet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Loss</a:t>
                </a:r>
                <a:endParaRPr lang="en-US" b="0" i="1" dirty="0">
                  <a:solidFill>
                    <a:schemeClr val="dk1"/>
                  </a:solidFill>
                  <a:latin typeface="Cambria Math" panose="02040503050406030204" pitchFamily="18" charset="0"/>
                  <a:ea typeface="Nunito"/>
                  <a:cs typeface="Nunito"/>
                  <a:sym typeface="Nunito"/>
                </a:endParaRPr>
              </a:p>
              <a:p>
                <a:pPr marL="10795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pt-B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𝑡𝑟𝑖𝑝𝑙𝑒𝑡</m:t>
                        </m:r>
                      </m:sub>
                    </m:sSub>
                    <m:r>
                      <a:rPr lang="pt-B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(</m:t>
                    </m:r>
                    <m:r>
                      <a:rPr lang="pt-B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𝐴</m:t>
                    </m:r>
                    <m:r>
                      <a:rPr lang="pt-B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,</m:t>
                    </m:r>
                    <m:r>
                      <a:rPr lang="pt-B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𝑃</m:t>
                    </m:r>
                    <m:r>
                      <a:rPr lang="pt-B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,</m:t>
                    </m:r>
                    <m:r>
                      <a:rPr lang="pt-B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𝑁</m:t>
                    </m:r>
                    <m:r>
                      <a:rPr lang="pt-B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)=</m:t>
                    </m:r>
                    <m:r>
                      <a:rPr lang="pt-BR" i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𝑚𝑎𝑥</m:t>
                    </m:r>
                    <m:d>
                      <m:dPr>
                        <m:ctrlPr>
                          <a:rPr lang="pt-B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dPr>
                      <m:e>
                        <m:r>
                          <a:rPr lang="pt-B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0,</m:t>
                        </m:r>
                        <m: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𝑑𝑖𝑠𝑡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</m:ctrlPr>
                          </m:dPr>
                          <m:e>
                            <m:r>
                              <a:rPr lang="pt-BR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𝐴</m:t>
                            </m:r>
                            <m:r>
                              <a:rPr lang="pt-BR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,</m:t>
                            </m:r>
                            <m:r>
                              <a:rPr lang="pt-BR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𝑃</m:t>
                            </m:r>
                          </m:e>
                        </m:d>
                        <m:r>
                          <a:rPr lang="pt-B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−</m:t>
                        </m:r>
                        <m:r>
                          <a:rPr lang="pt-B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𝑑𝑖𝑠𝑡</m:t>
                        </m:r>
                        <m:d>
                          <m:dPr>
                            <m:ctrlPr>
                              <a:rPr lang="pt-BR" b="0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</m:ctrlPr>
                          </m:dPr>
                          <m:e>
                            <m:r>
                              <a:rPr lang="pt-BR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𝐴</m:t>
                            </m:r>
                            <m:r>
                              <a:rPr lang="pt-BR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,</m:t>
                            </m:r>
                            <m:r>
                              <a:rPr lang="pt-BR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Nunito"/>
                                <a:cs typeface="Nunito"/>
                                <a:sym typeface="Nunito"/>
                              </a:rPr>
                              <m:t>𝑁</m:t>
                            </m:r>
                          </m:e>
                        </m:d>
                        <m:r>
                          <a:rPr lang="pt-BR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𝑚𝑎𝑟𝑔𝑖𝑛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endParaRPr lang="en-US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10795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endParaRPr lang="ru-RU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86" name="Google Shape;86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486647"/>
                <a:ext cx="8520600" cy="4017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BF042E-08A8-4D3D-BE1E-6E1685A3057F}"/>
                  </a:ext>
                </a:extLst>
              </p:cNvPr>
              <p:cNvSpPr txBox="1"/>
              <p:nvPr/>
            </p:nvSpPr>
            <p:spPr>
              <a:xfrm>
                <a:off x="394895" y="1865832"/>
                <a:ext cx="8299654" cy="24776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sz="1600" dirty="0">
                    <a:latin typeface="Nunito" panose="020B0604020202020204" charset="-52"/>
                  </a:rPr>
                  <a:t> (</a:t>
                </a:r>
                <a:r>
                  <a:rPr lang="ru-RU" sz="1600" dirty="0" err="1">
                    <a:latin typeface="Nunito" panose="020B0604020202020204" charset="-52"/>
                  </a:rPr>
                  <a:t>Anchor</a:t>
                </a:r>
                <a:r>
                  <a:rPr lang="ru-RU" sz="1600" dirty="0">
                    <a:latin typeface="Nunito" panose="020B0604020202020204" charset="-52"/>
                  </a:rPr>
                  <a:t>) — опорный объект, относительно которого мы измеряем расстояния.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600" dirty="0">
                    <a:latin typeface="Nunito" panose="020B0604020202020204" charset="-52"/>
                  </a:rPr>
                  <a:t> (</a:t>
                </a:r>
                <a:r>
                  <a:rPr lang="ru-RU" sz="1600" dirty="0" err="1">
                    <a:latin typeface="Nunito" panose="020B0604020202020204" charset="-52"/>
                  </a:rPr>
                  <a:t>Positive</a:t>
                </a:r>
                <a:r>
                  <a:rPr lang="ru-RU" sz="1600" dirty="0">
                    <a:latin typeface="Nunito" panose="020B0604020202020204" charset="-52"/>
                  </a:rPr>
                  <a:t>) — объект того же класса, что и </a:t>
                </a:r>
                <a:r>
                  <a:rPr lang="ru-RU" sz="1600" dirty="0" err="1">
                    <a:latin typeface="Nunito" panose="020B0604020202020204" charset="-52"/>
                  </a:rPr>
                  <a:t>Anchor</a:t>
                </a:r>
                <a:r>
                  <a:rPr lang="ru-RU" sz="1600" dirty="0">
                    <a:latin typeface="Nunito" panose="020B0604020202020204" charset="-52"/>
                  </a:rPr>
                  <a:t> (позитивный пример).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ru-RU" sz="16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sz="1600" dirty="0">
                    <a:latin typeface="Nunito" panose="020B0604020202020204" charset="-52"/>
                  </a:rPr>
                  <a:t> (</a:t>
                </a:r>
                <a:r>
                  <a:rPr lang="ru-RU" sz="1600" dirty="0" err="1">
                    <a:latin typeface="Nunito" panose="020B0604020202020204" charset="-52"/>
                  </a:rPr>
                  <a:t>Negative</a:t>
                </a:r>
                <a:r>
                  <a:rPr lang="ru-RU" sz="1600" dirty="0">
                    <a:latin typeface="Nunito" panose="020B0604020202020204" charset="-52"/>
                  </a:rPr>
                  <a:t>) — объект другого класса (негативный пример).</a:t>
                </a:r>
                <a:r>
                  <a:rPr lang="en-US" sz="1600" dirty="0">
                    <a:latin typeface="Nunito" panose="020B0604020202020204" charset="-52"/>
                  </a:rPr>
                  <a:t> </a:t>
                </a:r>
                <a:endParaRPr lang="ru-RU" sz="1600" dirty="0">
                  <a:latin typeface="Nunito" panose="020B0604020202020204" charset="-5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600" i="1" dirty="0" err="1" smtClean="0">
                        <a:latin typeface="Cambria Math" panose="02040503050406030204" pitchFamily="18" charset="0"/>
                      </a:rPr>
                      <m:t>𝑖𝑠𝑡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b="1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b="1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latin typeface="Nunito" panose="020B0604020202020204" charset="-52"/>
                  </a:rPr>
                  <a:t>— метрика расстояния. Чаще всего используется </a:t>
                </a:r>
                <a:r>
                  <a:rPr lang="ru-RU" sz="1600" b="1" dirty="0">
                    <a:latin typeface="Nunito" panose="020B0604020202020204" charset="-52"/>
                  </a:rPr>
                  <a:t>евклидово расстояние</a:t>
                </a:r>
                <a:r>
                  <a:rPr lang="ru-RU" sz="1600" dirty="0">
                    <a:latin typeface="Nunito" panose="020B0604020202020204" charset="-52"/>
                  </a:rPr>
                  <a:t>, но иногда применяют и </a:t>
                </a:r>
                <a:r>
                  <a:rPr lang="ru-RU" sz="1600" b="1" dirty="0">
                    <a:latin typeface="Nunito" panose="020B0604020202020204" charset="-52"/>
                  </a:rPr>
                  <a:t>косинусную</a:t>
                </a:r>
                <a:r>
                  <a:rPr lang="ru-RU" sz="1600" dirty="0">
                    <a:latin typeface="Nunito" panose="020B0604020202020204" charset="-52"/>
                  </a:rPr>
                  <a:t> </a:t>
                </a:r>
                <a:r>
                  <a:rPr lang="ru-RU" sz="1600" b="1" dirty="0">
                    <a:latin typeface="Nunito" panose="020B0604020202020204" charset="-52"/>
                  </a:rPr>
                  <a:t>метрику</a:t>
                </a:r>
                <a:r>
                  <a:rPr lang="ru-RU" sz="1600" dirty="0">
                    <a:latin typeface="Nunito" panose="020B0604020202020204" charset="-52"/>
                  </a:rPr>
                  <a:t>.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𝑚𝑎𝑟𝑔𝑖𝑛</m:t>
                    </m:r>
                  </m:oMath>
                </a14:m>
                <a:r>
                  <a:rPr lang="ru-RU" sz="1600" dirty="0">
                    <a:latin typeface="Nunito" panose="020B0604020202020204" charset="-52"/>
                  </a:rPr>
                  <a:t> — </a:t>
                </a:r>
                <a:r>
                  <a:rPr lang="ru-RU" sz="1600" dirty="0" err="1">
                    <a:latin typeface="Nunito" panose="020B0604020202020204" charset="-52"/>
                  </a:rPr>
                  <a:t>гиперпараметр</a:t>
                </a:r>
                <a:r>
                  <a:rPr lang="ru-RU" sz="1600" dirty="0">
                    <a:latin typeface="Nunito" panose="020B0604020202020204" charset="-52"/>
                  </a:rPr>
                  <a:t>, задающий минимально желаемую разницу между расстоянием до положительного и до отрицательного примера.</a:t>
                </a:r>
              </a:p>
              <a:p>
                <a:pPr>
                  <a:spcAft>
                    <a:spcPts val="600"/>
                  </a:spcAft>
                </a:pPr>
                <a:endParaRPr lang="ru-RU" sz="1800" dirty="0">
                  <a:latin typeface="Nunito" panose="020B0604020202020204" charset="-52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0BF042E-08A8-4D3D-BE1E-6E1685A30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95" y="1865832"/>
                <a:ext cx="8299654" cy="2477601"/>
              </a:xfrm>
              <a:prstGeom prst="rect">
                <a:avLst/>
              </a:prstGeom>
              <a:blipFill>
                <a:blip r:embed="rId6"/>
                <a:stretch>
                  <a:fillRect l="-441" t="-491" r="-5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07D2AC8-757A-4A98-BF71-49591F9F9B45}"/>
              </a:ext>
            </a:extLst>
          </p:cNvPr>
          <p:cNvSpPr/>
          <p:nvPr/>
        </p:nvSpPr>
        <p:spPr>
          <a:xfrm>
            <a:off x="450688" y="1335954"/>
            <a:ext cx="6061700" cy="44015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895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подходы к решению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63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Подход 2: Кросс-модальное сопоставление признаков</a:t>
            </a: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 эту категорию попадают современные архитектуры: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en-US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SuperPoint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LightGlue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адаптированные):</a:t>
            </a:r>
          </a:p>
          <a:p>
            <a:pPr marL="850900" lvl="1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SuperPoint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обнаружение + дескрипторы (в адаптированных версиях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дообучается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на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SAR+Opt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</a:p>
          <a:p>
            <a:pPr marL="850900" lvl="1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LightGlue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трансформер с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self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 и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cross-attention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между точками двух изображений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en-US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LoFTR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(Local Feature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TRansformer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):</a:t>
            </a:r>
          </a:p>
          <a:p>
            <a:pPr marL="850900" lvl="1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Использует трансформер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для построения поля соответствий</a:t>
            </a: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850900" lvl="1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Работает на всем изображении, не только на ключевых точках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COTR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COrrespondence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TRansformer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):</a:t>
            </a:r>
          </a:p>
          <a:p>
            <a:pPr marL="850900" lvl="1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Прямое предсказание соответствий через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attention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385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подходы к решению 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Подход 3: Гибридные методы</a:t>
            </a: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Идея в том, чтобы использовать лучшее от каждой сферы: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Извлечение ключевых точек при помощи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CNN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или трансформеров и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алгоритм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RANSAC</a:t>
            </a: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908050" lvl="1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Нейросеть извлекает дескрипторы ключевых точек</a:t>
            </a:r>
          </a:p>
          <a:p>
            <a:pPr marL="908050" lvl="1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Классический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RANSAC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отсеивает ложные соответствия 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Ансамблирование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моделей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80206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28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611824"/>
            <a:ext cx="9144000" cy="15296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>
              <a:buSzPts val="990"/>
            </a:pP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Аугментации</a:t>
            </a: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88229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Аугментации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Цель аугментаций: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Имитировать реальные различия между SAR и оптикой, а также временные изменения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82FD9FE4-91CF-4294-8D0C-CBBF818B2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39154"/>
              </p:ext>
            </p:extLst>
          </p:nvPr>
        </p:nvGraphicFramePr>
        <p:xfrm>
          <a:off x="225343" y="1357653"/>
          <a:ext cx="8763673" cy="3152351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6898">
                  <a:extLst>
                    <a:ext uri="{9D8B030D-6E8A-4147-A177-3AD203B41FA5}">
                      <a16:colId xmlns:a16="http://schemas.microsoft.com/office/drawing/2014/main" val="778566735"/>
                    </a:ext>
                  </a:extLst>
                </a:gridCol>
                <a:gridCol w="1790835">
                  <a:extLst>
                    <a:ext uri="{9D8B030D-6E8A-4147-A177-3AD203B41FA5}">
                      <a16:colId xmlns:a16="http://schemas.microsoft.com/office/drawing/2014/main" val="2003742694"/>
                    </a:ext>
                  </a:extLst>
                </a:gridCol>
                <a:gridCol w="3995940">
                  <a:extLst>
                    <a:ext uri="{9D8B030D-6E8A-4147-A177-3AD203B41FA5}">
                      <a16:colId xmlns:a16="http://schemas.microsoft.com/office/drawing/2014/main" val="4058656847"/>
                    </a:ext>
                  </a:extLst>
                </a:gridCol>
              </a:tblGrid>
              <a:tr h="41688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Аугментация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Применяется 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Зачем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8415213"/>
                  </a:ext>
                </a:extLst>
              </a:tr>
              <a:tr h="651029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Изменение яркости и контраста</a:t>
                      </a:r>
                      <a:endParaRPr lang="en-US" sz="1600" b="1" i="0" u="none" strike="noStrike" cap="none" spc="0" dirty="0">
                        <a:solidFill>
                          <a:schemeClr val="bg1"/>
                        </a:solidFill>
                        <a:latin typeface="Nunito" panose="020B0604020202020204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SAR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Имитация разных условий съемки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28150"/>
                  </a:ext>
                </a:extLst>
              </a:tr>
              <a:tr h="41688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Добавление </a:t>
                      </a:r>
                      <a:r>
                        <a:rPr lang="ru-RU" sz="1600" b="1" i="0" u="none" strike="noStrike" cap="none" spc="0" dirty="0" err="1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спекл</a:t>
                      </a: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-шума</a:t>
                      </a:r>
                      <a:endParaRPr lang="en-US" sz="1600" b="1" i="0" u="none" strike="noStrike" cap="none" spc="0" dirty="0">
                        <a:solidFill>
                          <a:schemeClr val="bg1"/>
                        </a:solidFill>
                        <a:latin typeface="Nunito" panose="020B0604020202020204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SAR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Реалистичный шум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087072"/>
                  </a:ext>
                </a:extLst>
              </a:tr>
              <a:tr h="41688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Геометрические искажения</a:t>
                      </a:r>
                      <a:endParaRPr lang="en-US" sz="1600" b="1" i="0" u="none" strike="noStrike" cap="none" spc="0" dirty="0">
                        <a:solidFill>
                          <a:schemeClr val="bg1"/>
                        </a:solidFill>
                        <a:latin typeface="Nunito" panose="020B0604020202020204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SAR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Имитация укорочения и наложения</a:t>
                      </a:r>
                      <a:endParaRPr lang="en-US" sz="1600" b="1" i="0" u="none" strike="noStrike" cap="none" spc="0" dirty="0">
                        <a:solidFill>
                          <a:schemeClr val="bg1"/>
                        </a:solidFill>
                        <a:latin typeface="Nunito" panose="020B0604020202020204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487383"/>
                  </a:ext>
                </a:extLst>
              </a:tr>
              <a:tr h="41688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Поворот</a:t>
                      </a:r>
                      <a:endParaRPr lang="en-US" sz="1600" b="1" i="0" u="none" strike="noStrike" cap="none" spc="0" dirty="0">
                        <a:solidFill>
                          <a:schemeClr val="bg1"/>
                        </a:solidFill>
                        <a:latin typeface="Nunito" panose="020B0604020202020204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Оба</a:t>
                      </a:r>
                      <a:endParaRPr lang="en-US" sz="1600" b="1" i="0" u="none" strike="noStrike" cap="none" spc="0" dirty="0">
                        <a:solidFill>
                          <a:schemeClr val="bg1"/>
                        </a:solidFill>
                        <a:latin typeface="Nunito" panose="020B0604020202020204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Разные углы съемки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246397"/>
                  </a:ext>
                </a:extLst>
              </a:tr>
              <a:tr h="41688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Масштабирование</a:t>
                      </a:r>
                      <a:endParaRPr lang="en-US" sz="1600" b="1" i="0" u="none" strike="noStrike" cap="none" spc="0" dirty="0">
                        <a:solidFill>
                          <a:schemeClr val="bg1"/>
                        </a:solidFill>
                        <a:latin typeface="Nunito" panose="020B0604020202020204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Оба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Разное разрешение, масштаб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461648"/>
                  </a:ext>
                </a:extLst>
              </a:tr>
              <a:tr h="416887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Отражение</a:t>
                      </a:r>
                      <a:endParaRPr lang="en-US" sz="1600" b="1" i="0" u="none" strike="noStrike" cap="none" spc="0" dirty="0">
                        <a:solidFill>
                          <a:schemeClr val="bg1"/>
                        </a:solidFill>
                        <a:latin typeface="Nunito" panose="020B0604020202020204" charset="-52"/>
                        <a:ea typeface="+mn-ea"/>
                        <a:cs typeface="+mn-cs"/>
                        <a:sym typeface="Arial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Оба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ru-RU" sz="1600" b="1" i="0" u="none" strike="noStrike" cap="none" spc="0" dirty="0">
                          <a:solidFill>
                            <a:schemeClr val="bg1"/>
                          </a:solidFill>
                          <a:latin typeface="Nunito" panose="020B0604020202020204" charset="-52"/>
                          <a:ea typeface="+mn-ea"/>
                          <a:cs typeface="+mn-cs"/>
                          <a:sym typeface="Arial"/>
                        </a:rPr>
                        <a:t>Инвариантность к ориентации сцены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391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475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Аугментации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Примеры аугментаций</a:t>
            </a:r>
            <a:endParaRPr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30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D37286-51EB-42EE-9E52-A9C1D18A289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2874" b="34095"/>
          <a:stretch/>
        </p:blipFill>
        <p:spPr>
          <a:xfrm>
            <a:off x="398056" y="1063380"/>
            <a:ext cx="3455686" cy="350741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738644-5286-41EF-BAF0-7CD0C3251DC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6634" b="66493"/>
          <a:stretch/>
        </p:blipFill>
        <p:spPr>
          <a:xfrm>
            <a:off x="3937216" y="1106005"/>
            <a:ext cx="1660124" cy="172341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57D30E-C36E-488F-9348-BA685440341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201" t="66493"/>
          <a:stretch/>
        </p:blipFill>
        <p:spPr>
          <a:xfrm>
            <a:off x="3937216" y="2875637"/>
            <a:ext cx="1731416" cy="17234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8205EA-B5C3-4E6F-9FCB-183E0E010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7340" y="1092979"/>
            <a:ext cx="3386933" cy="350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89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Аугментации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Специфичные аугментации.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Эти аугментации предлагаются в современных статьях и их можно пробовать использовать для своей задачи, заранее вручную посмотрев на результаты применения.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Использовать GAN для генерации "псевдо-SAR" из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(и наоборот).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Искусственное добавление или удаление объектов (зданий, техники).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Наложение объектов из одного изображения на другое (обязательно парно для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7327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Аугментации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25344" y="572700"/>
            <a:ext cx="8520600" cy="3673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Примеры специальных аугментаций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16C8D7-70E7-4503-9A97-0D49255B98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-490" b="25461"/>
          <a:stretch/>
        </p:blipFill>
        <p:spPr>
          <a:xfrm>
            <a:off x="3294670" y="1698614"/>
            <a:ext cx="5795683" cy="281449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8FC239-1E16-4D46-B41C-1B7CBAABCEE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3806"/>
          <a:stretch/>
        </p:blipFill>
        <p:spPr>
          <a:xfrm>
            <a:off x="184118" y="1614922"/>
            <a:ext cx="2909344" cy="300479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E7B688A-1C9A-433E-B7A4-CDDF30727B1F}"/>
              </a:ext>
            </a:extLst>
          </p:cNvPr>
          <p:cNvSpPr/>
          <p:nvPr/>
        </p:nvSpPr>
        <p:spPr>
          <a:xfrm>
            <a:off x="367310" y="1198182"/>
            <a:ext cx="28346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Сгенерированные данные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4FC112B-E196-4D47-B577-FBB05565C5A8}"/>
              </a:ext>
            </a:extLst>
          </p:cNvPr>
          <p:cNvSpPr/>
          <p:nvPr/>
        </p:nvSpPr>
        <p:spPr>
          <a:xfrm>
            <a:off x="4854071" y="1198181"/>
            <a:ext cx="32644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Данные с наложенными объектами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80891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1470212" y="2033187"/>
            <a:ext cx="6203576" cy="15296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>
              <a:buSzPts val="990"/>
            </a:pPr>
            <a:r>
              <a:rPr lang="ru-RU" b="1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Датасеты</a:t>
            </a: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и источники данных</a:t>
            </a: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6880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 err="1">
                <a:latin typeface="Nunito"/>
                <a:ea typeface="Nunito"/>
                <a:cs typeface="Nunito"/>
                <a:sym typeface="Nunito"/>
              </a:rPr>
              <a:t>Датасеты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 и источники данных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Подход 1: Самостоятельный сбор данных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Выбрать области интереса (например, при помощи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Copernicus Browser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или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Google Earth Engine)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Получить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снимки этих областей (например, используя данные спутников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Sentinel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или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HT1-A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).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Выполнить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геопривязку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изображений к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(чаще всего, автоматизировано, с ручным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доуточнением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).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Нарезка на изображения фиксированного размера.</a:t>
            </a:r>
          </a:p>
          <a:p>
            <a:pPr marL="45085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86127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 err="1">
                <a:latin typeface="Nunito"/>
                <a:ea typeface="Nunito"/>
                <a:cs typeface="Nunito"/>
                <a:sym typeface="Nunito"/>
              </a:rPr>
              <a:t>Датасеты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 и источники данных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Подход </a:t>
            </a:r>
            <a:r>
              <a:rPr lang="en-US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Готовые </a:t>
            </a:r>
            <a:r>
              <a:rPr lang="ru-RU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датасеты</a:t>
            </a:r>
            <a:endParaRPr lang="en-US" b="1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lvl="0" indent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Популярные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датасеты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SEN1-2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QXS-SAROPT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OS Dataset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SAR2OPT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SpaceNet6</a:t>
            </a: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Stellar-Vision (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 запросу, для исследований)</a:t>
            </a: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endParaRPr lang="en-US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700" indent="-285750">
              <a:spcAft>
                <a:spcPts val="600"/>
              </a:spcAft>
              <a:buClr>
                <a:schemeClr val="dk1"/>
              </a:buClr>
              <a:buSzPts val="1900"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9718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36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611824"/>
            <a:ext cx="9144000" cy="15296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>
              <a:buSzPts val="990"/>
            </a:pP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Метрики качества</a:t>
            </a: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8627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 panose="020B0604020202020204" charset="-52"/>
            </a:endParaRPr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 panose="020B0604020202020204" charset="-52"/>
                <a:ea typeface="Nunito"/>
                <a:cs typeface="Nunito"/>
                <a:sym typeface="Nunito"/>
              </a:rPr>
              <a:t>Метрики качества</a:t>
            </a:r>
            <a:endParaRPr b="1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Что мы измеряем</a:t>
            </a:r>
            <a:r>
              <a:rPr lang="en-US" b="1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?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  <a:latin typeface="Nunito" panose="020B0604020202020204" charset="-52"/>
              </a:rPr>
              <a:t>37</a:t>
            </a:fld>
            <a:endParaRPr>
              <a:solidFill>
                <a:schemeClr val="lt1"/>
              </a:solidFill>
              <a:highlight>
                <a:schemeClr val="lt1"/>
              </a:highlight>
              <a:latin typeface="Nunito" panose="020B0604020202020204" charset="-52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2819C21-36C1-4EBC-A148-4F6B21C4D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627868"/>
              </p:ext>
            </p:extLst>
          </p:nvPr>
        </p:nvGraphicFramePr>
        <p:xfrm>
          <a:off x="311700" y="1329206"/>
          <a:ext cx="8520600" cy="284630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876661">
                  <a:extLst>
                    <a:ext uri="{9D8B030D-6E8A-4147-A177-3AD203B41FA5}">
                      <a16:colId xmlns:a16="http://schemas.microsoft.com/office/drawing/2014/main" val="1831568093"/>
                    </a:ext>
                  </a:extLst>
                </a:gridCol>
                <a:gridCol w="2929179">
                  <a:extLst>
                    <a:ext uri="{9D8B030D-6E8A-4147-A177-3AD203B41FA5}">
                      <a16:colId xmlns:a16="http://schemas.microsoft.com/office/drawing/2014/main" val="2386384939"/>
                    </a:ext>
                  </a:extLst>
                </a:gridCol>
                <a:gridCol w="3714760">
                  <a:extLst>
                    <a:ext uri="{9D8B030D-6E8A-4147-A177-3AD203B41FA5}">
                      <a16:colId xmlns:a16="http://schemas.microsoft.com/office/drawing/2014/main" val="3388675468"/>
                    </a:ext>
                  </a:extLst>
                </a:gridCol>
              </a:tblGrid>
              <a:tr h="528696"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Уровень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Вопрос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Метрики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059732"/>
                  </a:ext>
                </a:extLst>
              </a:tr>
              <a:tr h="528696"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Пара снимков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Нашли ли правильный </a:t>
                      </a:r>
                      <a:r>
                        <a:rPr lang="ru-RU" sz="1400" b="0" dirty="0" err="1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Opt</a:t>
                      </a:r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 для SAR?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Recall@K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, MRR; </a:t>
                      </a:r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для верификации — 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ROC-AUC, FPR95, Precision/Recall/F1 </a:t>
                      </a:r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при заданном пороге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167868"/>
                  </a:ext>
                </a:extLst>
              </a:tr>
              <a:tr h="528696">
                <a:tc>
                  <a:txBody>
                    <a:bodyPr/>
                    <a:lstStyle/>
                    <a:p>
                      <a:r>
                        <a:rPr lang="ru-RU" sz="1400" b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Соответствия точек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Сколько пар точек в сопоставлении найдено верно?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NCM, CMR, MMA@</a:t>
                      </a:r>
                      <a:r>
                        <a:rPr lang="el-GR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ε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333456"/>
                  </a:ext>
                </a:extLst>
              </a:tr>
              <a:tr h="528696">
                <a:tc>
                  <a:txBody>
                    <a:bodyPr/>
                    <a:lstStyle/>
                    <a:p>
                      <a:r>
                        <a:rPr lang="ru-RU" sz="1400" b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Преобразование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Насколько точно совмещены снимки?</a:t>
                      </a: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RMSE по контрольным точкам, ошибка углов, </a:t>
                      </a:r>
                      <a:r>
                        <a:rPr lang="ru-RU" sz="1400" b="0" dirty="0" err="1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Success</a:t>
                      </a:r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 </a:t>
                      </a:r>
                      <a:r>
                        <a:rPr lang="ru-RU" sz="1400" b="0" dirty="0" err="1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Rate@ε</a:t>
                      </a:r>
                      <a:endParaRPr lang="ru-RU" sz="1400" b="0" dirty="0">
                        <a:solidFill>
                          <a:schemeClr val="bg1"/>
                        </a:solidFill>
                        <a:latin typeface="Nunito" panose="020B0604020202020204" charset="-52"/>
                      </a:endParaRPr>
                    </a:p>
                  </a:txBody>
                  <a:tcPr anchor="ctr">
                    <a:solidFill>
                      <a:srgbClr val="006D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229686"/>
                  </a:ext>
                </a:extLst>
              </a:tr>
              <a:tr h="528696"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Эксплуатация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Годится ли на практике?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bg1"/>
                          </a:solidFill>
                          <a:latin typeface="Nunito" panose="020B0604020202020204" charset="-52"/>
                        </a:rPr>
                        <a:t>Время на пару, доля отказов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0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0225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Метрики качества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Google Shape;86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712601"/>
                <a:ext cx="8520600" cy="385624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lnSpcReduction="10000"/>
              </a:bodyPr>
              <a:lstStyle/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Поиск пары: </a:t>
                </a:r>
                <a:r>
                  <a:rPr lang="ru-RU" b="1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Recall@K</a:t>
                </a: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и MRR </a:t>
                </a:r>
                <a:endParaRPr lang="ru-RU" dirty="0">
                  <a:solidFill>
                    <a:schemeClr val="dk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393700" indent="-28575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Arial" panose="020B0604020202020204" pitchFamily="34" charset="0"/>
                  <a:buChar char="•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Для каждого SAR сортируем все M кандидатов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Opt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по расстоянию между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эмбеддингами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, тем самым получаем ранг (место) истинной пары в этом списке.</a:t>
                </a:r>
              </a:p>
              <a:p>
                <a:pPr marL="393700" indent="-28575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Arial" panose="020B0604020202020204" pitchFamily="34" charset="0"/>
                  <a:buChar char="•"/>
                </a:pP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Recall@K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(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Top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-K </a:t>
                </a: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accuracy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) — доля SAR, у которых ранг ≤ K. Обычно приводят K = 1, 5, 10.</a:t>
                </a:r>
              </a:p>
              <a:p>
                <a:pPr marL="393700" indent="-28575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Arial" panose="020B0604020202020204" pitchFamily="34" charset="0"/>
                  <a:buChar char="•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MRR — среднее значение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fPr>
                      <m:num>
                        <m:r>
                          <a:rPr lang="ru-RU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1</m:t>
                        </m:r>
                      </m:num>
                      <m:den>
                        <m:r>
                          <a:rPr lang="ru-RU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ранг</m:t>
                        </m:r>
                      </m:den>
                    </m:f>
                  </m:oMath>
                </a14:m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для всех 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SAR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.</a:t>
                </a:r>
                <a:r>
                  <a:rPr lang="en-US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Одно число, наказывает за пары, уехавшие далеко по списку.</a:t>
                </a:r>
              </a:p>
              <a:p>
                <a:pPr marL="393700" indent="-28575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Arial" panose="020B0604020202020204" pitchFamily="34" charset="0"/>
                  <a:buChar char="•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Размер M должен учитываться всегда: Recall@1 среди 100 и среди 1000 кандидатов несравнимы.</a:t>
                </a:r>
              </a:p>
            </p:txBody>
          </p:sp>
        </mc:Choice>
        <mc:Fallback xmlns="">
          <p:sp>
            <p:nvSpPr>
              <p:cNvPr id="86" name="Google Shape;86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712601"/>
                <a:ext cx="8520600" cy="3856249"/>
              </a:xfrm>
              <a:prstGeom prst="rect">
                <a:avLst/>
              </a:prstGeom>
              <a:blipFill>
                <a:blip r:embed="rId3"/>
                <a:stretch>
                  <a:fillRect r="-10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76485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Метрики качества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Верификация: это одно и то же место?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ROC-AUC — отражает то, насколько случайная истинная пара ближе случайной ложной. Не зависит от порога; чем больше, тем лучше.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FPR95 — доля ложных срабатываний при пороге, который находит 95% истинных пар. Это стандарт в статьях про сопоставление; чем меньше, тем лучше.</a:t>
            </a:r>
          </a:p>
          <a:p>
            <a:pPr marL="393700" lvl="0" indent="-285750">
              <a:spcAft>
                <a:spcPts val="600"/>
              </a:spcAft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Precision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/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Recall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/ F1 — при конкретном рабочем пороге. Порог выбираем на валидации, метрики сообщаем на тесте.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39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6115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Метрики качества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Google Shape;86;p1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686395"/>
                <a:ext cx="8520600" cy="3976819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sz="1600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Метрики соответствия точек</a:t>
                </a:r>
              </a:p>
              <a:p>
                <a:pPr marL="107950" lvl="0" indent="0">
                  <a:spcAft>
                    <a:spcPts val="600"/>
                  </a:spcAft>
                  <a:buClr>
                    <a:schemeClr val="dk1"/>
                  </a:buClr>
                  <a:buSzPts val="1900"/>
                  <a:buNone/>
                </a:pP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Нужна истинная геометрия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b="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ru-RU" sz="16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𝐻</m:t>
                        </m:r>
                      </m:e>
                      <m:sub>
                        <m:r>
                          <a:rPr lang="ru-RU" sz="16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𝑔𝑡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. Пара точек (p, q) считается верной, если</a:t>
                </a:r>
                <a:b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</a:b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 dirty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‖</m:t>
                    </m:r>
                    <m:sSub>
                      <m:sSubPr>
                        <m:ctrlPr>
                          <a:rPr lang="ru-RU" sz="1600" i="1" dirty="0" err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ru-RU" sz="1600" i="1" dirty="0" err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𝐻</m:t>
                        </m:r>
                      </m:e>
                      <m:sub>
                        <m:r>
                          <a:rPr lang="ru-RU" sz="1600" i="1" dirty="0" err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𝑔𝑡</m:t>
                        </m:r>
                      </m:sub>
                    </m:sSub>
                    <m:r>
                      <a:rPr lang="ru-RU" sz="16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(</m:t>
                    </m:r>
                    <m:r>
                      <a:rPr lang="ru-RU" sz="16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𝑝</m:t>
                    </m:r>
                    <m:r>
                      <a:rPr lang="ru-RU" sz="16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) − </m:t>
                    </m:r>
                    <m:r>
                      <a:rPr lang="ru-RU" sz="16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𝑞</m:t>
                    </m:r>
                    <m:r>
                      <a:rPr lang="ru-RU" sz="16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‖ &lt; </m:t>
                    </m:r>
                    <m:r>
                      <a:rPr lang="ru-RU" sz="1600" i="1" dirty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𝜀</m:t>
                    </m:r>
                  </m:oMath>
                </a14:m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(обычно ε = 3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px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).</a:t>
                </a:r>
              </a:p>
              <a:p>
                <a:pPr marL="393700" lvl="0" indent="-28575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Arial" panose="020B0604020202020204" pitchFamily="34" charset="0"/>
                  <a:buChar char="•"/>
                </a:pP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Количество правильных сопоставлений (NCM</a:t>
                </a:r>
                <a:r>
                  <a:rPr lang="en-US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, n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umber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of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correct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matches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) — сколько верных пар. Если их меньше четырёх —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гомографию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не построить вообще.</a:t>
                </a:r>
              </a:p>
              <a:p>
                <a:pPr marL="393700" lvl="0" indent="-28575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Arial" panose="020B0604020202020204" pitchFamily="34" charset="0"/>
                  <a:buChar char="•"/>
                </a:pP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Доля правильных сопоставлений </a:t>
                </a:r>
                <a:r>
                  <a:rPr lang="en-US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(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CMR</a:t>
                </a:r>
                <a:r>
                  <a:rPr lang="en-US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,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correct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matching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ratio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) —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sz="1600" i="1" dirty="0" smtClean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sym typeface="Nunito"/>
                          </a:rPr>
                        </m:ctrlPr>
                      </m:fPr>
                      <m:num>
                        <m:r>
                          <a:rPr lang="ru-RU" sz="16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𝑁𝐶𝑀</m:t>
                        </m:r>
                      </m:num>
                      <m:den>
                        <m:r>
                          <a:rPr lang="ru-RU" sz="1600" i="1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число всех пар от </m:t>
                        </m:r>
                        <m:r>
                          <a:rPr lang="ru-RU" sz="1600" i="1" dirty="0" err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матчера</m:t>
                        </m:r>
                      </m:den>
                    </m:f>
                  </m:oMath>
                </a14:m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. Это доля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inliers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w из формулы RANSAC: чем она выше, тем дешевле и надёжнее совмещение.</a:t>
                </a:r>
              </a:p>
              <a:p>
                <a:pPr marL="393700" lvl="0" indent="-285750">
                  <a:spcAft>
                    <a:spcPts val="600"/>
                  </a:spcAft>
                  <a:buClr>
                    <a:schemeClr val="dk1"/>
                  </a:buClr>
                  <a:buSzPts val="1900"/>
                  <a:buFont typeface="Arial" panose="020B0604020202020204" pitchFamily="34" charset="0"/>
                  <a:buChar char="•"/>
                </a:pP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Усреднённая точность сопоставления (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MMA@ε</a:t>
                </a:r>
                <a:r>
                  <a:rPr lang="en-US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,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mean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matching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accuracy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) — тот же CMR, посчитанный для ε = 1…10 </a:t>
                </a:r>
                <a:r>
                  <a:rPr lang="ru-RU" sz="1600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px</a:t>
                </a:r>
                <a:r>
                  <a:rPr lang="ru-RU" sz="16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и усреднённый по парам снимков. </a:t>
                </a:r>
              </a:p>
            </p:txBody>
          </p:sp>
        </mc:Choice>
        <mc:Fallback xmlns="">
          <p:sp>
            <p:nvSpPr>
              <p:cNvPr id="86" name="Google Shape;86;p1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686395"/>
                <a:ext cx="8520600" cy="39768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40</a:t>
            </a:fld>
            <a:endParaRPr dirty="0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7355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Метрики качества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Метрики точности совмещения</a:t>
            </a:r>
          </a:p>
          <a:p>
            <a:pPr marL="450850" lvl="0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Mean Matching Error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— среднее расстояние (в пикселях) между предсказанными и истинными положениями точек после применения найденного преобразования. Аналогично, можно посчитать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MSE 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RMSE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marL="450850" lvl="0">
              <a:spcAft>
                <a:spcPts val="600"/>
              </a:spcAft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Доля успешных совмещений (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Success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Rate@ε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SR) — доля пар снимков, совмещённых с RMSE &lt; ε (например, 3/5/10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px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).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69590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Метрики качества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Обратить внимание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1. Разметка сама неточна. Пары совмещены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геопривязкой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 какой-то остаточной ошибкой. Требовать точность лучше разметки бессмысленно 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2. Размер галереи и похожие сцены. Соседние фрагменты одного снимка, а тем более однородные (поле, вода), сложно различить даже эксперту — Recall@1 падает не по вине модели. 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3. Пороги и </a:t>
            </a:r>
            <a:r>
              <a:rPr lang="ru-RU" sz="16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гиперпараметры</a:t>
            </a: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подбираем на валидации, тест – только проверка.</a:t>
            </a:r>
          </a:p>
          <a:p>
            <a:pPr marL="107950" lvl="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4. Время и отказы. Метод с SR 95%, который считает пару минуту, для навигации БПЛА хуже метода с SR 90% за 50 мс. Время на пару и долю отказов (RANSAC не нашёл H) приводим наряду с метриками точности.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60155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В заключение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12601"/>
            <a:ext cx="8520600" cy="3856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Зачастую может оказаться так, что конкретная задача не вписывается в привычную парадигму, поэтому я всегда рекомендую сначала понять, чего не хватает уже имеющимся методам сопоставления, чтобы достичь поставленной цели и только после этого переходить к </a:t>
            </a:r>
            <a:r>
              <a:rPr lang="ru-RU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пайплайну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создания своей модели.</a:t>
            </a:r>
          </a:p>
          <a:p>
            <a:pPr marL="107950" indent="0">
              <a:spcAft>
                <a:spcPts val="600"/>
              </a:spcAft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Метрики, использующиеся для оценки качества работы алгоритма сопоставления, не являются строго универсальными. В отдельных случаях подходящую метрику можно будет создать, используя комбинацию уже имеющихся, чтобы в полной мере оценить получившийся алгоритм.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236797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16557</TotalTime>
  <Words>4199</Words>
  <Application>Microsoft Office PowerPoint</Application>
  <PresentationFormat>Экран (16:9)</PresentationFormat>
  <Paragraphs>369</Paragraphs>
  <Slides>43</Slides>
  <Notes>43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7" baseType="lpstr">
      <vt:lpstr>Nunito</vt:lpstr>
      <vt:lpstr>Arial</vt:lpstr>
      <vt:lpstr>Cambria Math</vt:lpstr>
      <vt:lpstr>Simple Light</vt:lpstr>
      <vt:lpstr> МФТИ, ПИШ РПИ Осень 2026/2027</vt:lpstr>
      <vt:lpstr>Темы на сегодня</vt:lpstr>
      <vt:lpstr>Постановка задачи  SAR-Opt Matching</vt:lpstr>
      <vt:lpstr>Постановка задачи SAR-Opt Matching</vt:lpstr>
      <vt:lpstr>Постановка задачи SAR-Opt Matching</vt:lpstr>
      <vt:lpstr>Постановка задачи SAR-Opt Matching</vt:lpstr>
      <vt:lpstr>Постановка задачи SAR-Opt Matching</vt:lpstr>
      <vt:lpstr>Постановка задачи SAR-Opt Matching</vt:lpstr>
      <vt:lpstr>Постановка задачи SAR-Opt Matching</vt:lpstr>
      <vt:lpstr>Постановка задачи SAR-Opt Matching</vt:lpstr>
      <vt:lpstr>Постановка задачи SAR-Opt Matching</vt:lpstr>
      <vt:lpstr>Классические методы  решения задачи</vt:lpstr>
      <vt:lpstr>Классические методы решения задачи</vt:lpstr>
      <vt:lpstr>Классические методы решения задачи</vt:lpstr>
      <vt:lpstr>Классические методы решения задачи</vt:lpstr>
      <vt:lpstr>Классические методы решения задачи</vt:lpstr>
      <vt:lpstr>Классические методы решения задачи</vt:lpstr>
      <vt:lpstr>Классические методы решения задачи</vt:lpstr>
      <vt:lpstr>Классические методы решения задачи</vt:lpstr>
      <vt:lpstr>ML-подходы к решению задачи</vt:lpstr>
      <vt:lpstr>ML-подходы к решению задачи</vt:lpstr>
      <vt:lpstr>ML-подходы к решению задачи</vt:lpstr>
      <vt:lpstr>ML-подходы к решению задачи</vt:lpstr>
      <vt:lpstr>ML-подходы к решению задачи</vt:lpstr>
      <vt:lpstr>ML-подходы к решению задачи</vt:lpstr>
      <vt:lpstr>ML-подходы к решению задачи</vt:lpstr>
      <vt:lpstr>ML-подходы к решению задачи</vt:lpstr>
      <vt:lpstr>Аугментации</vt:lpstr>
      <vt:lpstr>Аугментации</vt:lpstr>
      <vt:lpstr>Аугментации</vt:lpstr>
      <vt:lpstr>Аугментации</vt:lpstr>
      <vt:lpstr>Аугментации</vt:lpstr>
      <vt:lpstr>Датасеты и источники данных</vt:lpstr>
      <vt:lpstr>Датасеты и источники данных</vt:lpstr>
      <vt:lpstr>Датасеты и источники данных</vt:lpstr>
      <vt:lpstr>Метрики качества</vt:lpstr>
      <vt:lpstr>Метрики качества</vt:lpstr>
      <vt:lpstr>Метрики качества</vt:lpstr>
      <vt:lpstr>Метрики качества</vt:lpstr>
      <vt:lpstr>Метрики качества</vt:lpstr>
      <vt:lpstr>Метрики качества</vt:lpstr>
      <vt:lpstr>Метрики качества</vt:lpstr>
      <vt:lpstr>В 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#0: Вводная Лекция   Песоцкая Алиса МФТИ, ПИШ РПИ Осень 2026/2027</dc:title>
  <dc:creator>Михаил Гнатов</dc:creator>
  <cp:lastModifiedBy>Михаил Гнатов</cp:lastModifiedBy>
  <cp:revision>134</cp:revision>
  <dcterms:modified xsi:type="dcterms:W3CDTF">2026-10-09T14:51:42Z</dcterms:modified>
</cp:coreProperties>
</file>