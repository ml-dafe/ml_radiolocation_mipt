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8"/>
  </p:notesMasterIdLst>
  <p:sldIdLst>
    <p:sldId id="266" r:id="rId2"/>
    <p:sldId id="305" r:id="rId3"/>
    <p:sldId id="257" r:id="rId4"/>
    <p:sldId id="259" r:id="rId5"/>
    <p:sldId id="311" r:id="rId6"/>
    <p:sldId id="312" r:id="rId7"/>
    <p:sldId id="341" r:id="rId8"/>
    <p:sldId id="261" r:id="rId9"/>
    <p:sldId id="308" r:id="rId10"/>
    <p:sldId id="313" r:id="rId11"/>
    <p:sldId id="306" r:id="rId12"/>
    <p:sldId id="309" r:id="rId13"/>
    <p:sldId id="332" r:id="rId14"/>
    <p:sldId id="333" r:id="rId15"/>
    <p:sldId id="335" r:id="rId16"/>
    <p:sldId id="336" r:id="rId17"/>
    <p:sldId id="337" r:id="rId18"/>
    <p:sldId id="338" r:id="rId19"/>
    <p:sldId id="339" r:id="rId20"/>
    <p:sldId id="340" r:id="rId21"/>
    <p:sldId id="334" r:id="rId22"/>
    <p:sldId id="314" r:id="rId23"/>
    <p:sldId id="342" r:id="rId24"/>
    <p:sldId id="344" r:id="rId25"/>
    <p:sldId id="353" r:id="rId26"/>
    <p:sldId id="346" r:id="rId27"/>
    <p:sldId id="348" r:id="rId28"/>
    <p:sldId id="357" r:id="rId29"/>
    <p:sldId id="347" r:id="rId30"/>
    <p:sldId id="354" r:id="rId31"/>
    <p:sldId id="356" r:id="rId32"/>
    <p:sldId id="349" r:id="rId33"/>
    <p:sldId id="343" r:id="rId34"/>
    <p:sldId id="350" r:id="rId35"/>
    <p:sldId id="345" r:id="rId36"/>
    <p:sldId id="307" r:id="rId37"/>
    <p:sldId id="310" r:id="rId38"/>
    <p:sldId id="358" r:id="rId39"/>
    <p:sldId id="359" r:id="rId40"/>
    <p:sldId id="315" r:id="rId41"/>
    <p:sldId id="326" r:id="rId42"/>
    <p:sldId id="328" r:id="rId43"/>
    <p:sldId id="329" r:id="rId44"/>
    <p:sldId id="330" r:id="rId45"/>
    <p:sldId id="331" r:id="rId46"/>
    <p:sldId id="327" r:id="rId47"/>
  </p:sldIdLst>
  <p:sldSz cx="9144000" cy="5143500" type="screen16x9"/>
  <p:notesSz cx="6858000" cy="9144000"/>
  <p:embeddedFontLst>
    <p:embeddedFont>
      <p:font typeface="Cambria Math" panose="02040503050406030204" pitchFamily="18" charset="0"/>
      <p:regular r:id="rId49"/>
    </p:embeddedFont>
    <p:embeddedFont>
      <p:font typeface="Nunito" panose="020B0604020202020204" charset="-52"/>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B0B6F39-8058-48A1-B1E6-BB775B942AAB}">
  <a:tblStyle styleId="{2B0B6F39-8058-48A1-B1E6-BB775B942AA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603" autoAdjust="0"/>
  </p:normalViewPr>
  <p:slideViewPr>
    <p:cSldViewPr snapToGrid="0">
      <p:cViewPr varScale="1">
        <p:scale>
          <a:sx n="190" d="100"/>
          <a:sy n="190" d="100"/>
        </p:scale>
        <p:origin x="960" y="10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2.fntdata"/><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581383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f68ea1e0c8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f68ea1e0c8_0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В качестве платформы для получения могут использоваться как беспилотники и самолеты, так и спутники</a:t>
            </a:r>
          </a:p>
          <a:p>
            <a:pPr marL="0" lvl="0" indent="0" algn="l" rtl="0">
              <a:spcBef>
                <a:spcPts val="0"/>
              </a:spcBef>
              <a:spcAft>
                <a:spcPts val="0"/>
              </a:spcAft>
              <a:buNone/>
            </a:pPr>
            <a:r>
              <a:rPr lang="ru-RU" dirty="0"/>
              <a:t>У спутника </a:t>
            </a:r>
            <a:r>
              <a:rPr lang="ru-RU" dirty="0" err="1"/>
              <a:t>TerraSAR</a:t>
            </a:r>
            <a:r>
              <a:rPr lang="ru-RU" dirty="0"/>
              <a:t>-X реальная антенна — 5 метров. Чтобы получить то же разрешение (менее 1 метра) обычной антенной без синтеза, потребовалась бы антенна длиной больше 15 километров. </a:t>
            </a:r>
          </a:p>
          <a:p>
            <a:pPr marL="0" lvl="0" indent="0" algn="l" rtl="0">
              <a:spcBef>
                <a:spcPts val="0"/>
              </a:spcBef>
              <a:spcAft>
                <a:spcPts val="0"/>
              </a:spcAft>
              <a:buNone/>
            </a:pPr>
            <a:r>
              <a:rPr lang="ru-RU" dirty="0"/>
              <a:t>Другой пример: спутник летит со скоростью порядка 7.5 км/с, и луч радара освещает один и тот же участок земли до ~20 секунд — за это время платформа пролетает порядка 150 км, и вот эти 150 км и становятся длиной синтезированной апертуры.</a:t>
            </a:r>
          </a:p>
          <a:p>
            <a:pPr marL="0" lvl="0" indent="0" algn="l" rtl="0">
              <a:spcBef>
                <a:spcPts val="0"/>
              </a:spcBef>
              <a:spcAft>
                <a:spcPts val="0"/>
              </a:spcAft>
              <a:buNone/>
            </a:pPr>
            <a:r>
              <a:rPr lang="ru-RU"/>
              <a:t>Чаще всего используются X-, C- и L-диапазоны (длины волн — единицы см, около 5–6 см и около 20–25 см соответственно)</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r>
              <a:rPr lang="ru-RU" b="1" dirty="0"/>
              <a:t>1. </a:t>
            </a:r>
            <a:r>
              <a:rPr lang="ru-RU" b="1" dirty="0" err="1"/>
              <a:t>Foreshortening</a:t>
            </a:r>
            <a:r>
              <a:rPr lang="ru-RU" b="1" dirty="0"/>
              <a:t> (укорочение).</a:t>
            </a:r>
            <a:r>
              <a:rPr lang="ru-RU" dirty="0"/>
              <a:t> Представьте склон горы, обращённый к радару. Основание склона и вершина склона физически разнесены по горизонтали на приличное расстояние. Но по наклонной дальности (по времени сигнала) до основания и до вершины радар долетает почти одновременно — потому что склон наклонён навстречу лучу, и «шаг» по наклонной дальности между соседними точками склона гораздо меньше, чем был бы для ровной поверхности. В итоге на изображении весь этот склон «сжимается» в узкую яркую полосу — выглядит короче и круче, чем на самом деле, и ярче (потому что энергия, отражённая от большой физической площади склона, попадает в маленькое число пикселей).</a:t>
            </a:r>
          </a:p>
          <a:p>
            <a:pPr rtl="0"/>
            <a:r>
              <a:rPr lang="ru-RU" b="1" dirty="0"/>
              <a:t>2. </a:t>
            </a:r>
            <a:r>
              <a:rPr lang="ru-RU" b="1" dirty="0" err="1"/>
              <a:t>Layover</a:t>
            </a:r>
            <a:r>
              <a:rPr lang="ru-RU" b="1" dirty="0"/>
              <a:t> (наложение) — это </a:t>
            </a:r>
            <a:r>
              <a:rPr lang="ru-RU" b="1" dirty="0" err="1"/>
              <a:t>foreshortening</a:t>
            </a:r>
            <a:r>
              <a:rPr lang="ru-RU" b="1" dirty="0"/>
              <a:t>, доведённый до предела.</a:t>
            </a:r>
            <a:r>
              <a:rPr lang="ru-RU" dirty="0"/>
              <a:t> Если склон достаточно крутой (круче, чем угол падения луча радара), происходит нечто более странное: сигнал от </a:t>
            </a:r>
            <a:r>
              <a:rPr lang="ru-RU" b="1" dirty="0"/>
              <a:t>вершины</a:t>
            </a:r>
            <a:r>
              <a:rPr lang="ru-RU" dirty="0"/>
              <a:t> горы физически долетает до радара </a:t>
            </a:r>
            <a:r>
              <a:rPr lang="ru-RU" b="1" dirty="0"/>
              <a:t>быстрее</a:t>
            </a:r>
            <a:r>
              <a:rPr lang="ru-RU" dirty="0"/>
              <a:t>, чем сигнал от подножия — просто потому что по прямой линии до вершины оказывается ближе, чем до подножия. Радар же строит изображение строго по порядку прихода сигнала. Получается, что на картинке вершина оказывается «перед» подножием, как будто гора завалилась на бок в сторону радара и легла поверх собственного основания. Это же явление отвечает за то, что высокие здания на радарных снимках городов часто выглядят «лежащими» — угадывается на нашем примере на слайде 7.</a:t>
            </a:r>
          </a:p>
          <a:p>
            <a:pPr rtl="0"/>
            <a:r>
              <a:rPr lang="ru-RU" b="1" dirty="0"/>
              <a:t>3. </a:t>
            </a:r>
            <a:r>
              <a:rPr lang="ru-RU" b="1" dirty="0" err="1"/>
              <a:t>Shadow</a:t>
            </a:r>
            <a:r>
              <a:rPr lang="ru-RU" b="1" dirty="0"/>
              <a:t> (радиолокационная тень).</a:t>
            </a:r>
            <a:r>
              <a:rPr lang="ru-RU" dirty="0"/>
              <a:t> За высоким объектом (относительно направления взгляда радара) есть область, куда луч радара просто физически не может попасть — он весь «упирается» в объект раньше. Значит, оттуда не приходит вообще никакого сигнала — на изображении это абсолютно чёрная зона, полное отсутствие данных, а не «тёмный, но видимый» участок.</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9336707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Поляризация: Излучение/приём</a:t>
            </a:r>
          </a:p>
          <a:p>
            <a:pPr marL="0" lvl="0" indent="0" algn="l" rtl="0">
              <a:spcBef>
                <a:spcPts val="0"/>
              </a:spcBef>
              <a:spcAft>
                <a:spcPts val="0"/>
              </a:spcAft>
              <a:buNone/>
            </a:pPr>
            <a:r>
              <a:rPr lang="ru-RU" dirty="0"/>
              <a:t>Формат: </a:t>
            </a:r>
          </a:p>
          <a:p>
            <a:pPr marL="0" lvl="0" indent="0" algn="l" rtl="0">
              <a:spcBef>
                <a:spcPts val="0"/>
              </a:spcBef>
              <a:spcAft>
                <a:spcPts val="0"/>
              </a:spcAft>
              <a:buNone/>
            </a:pPr>
            <a:r>
              <a:rPr lang="ru-RU" dirty="0"/>
              <a:t>- </a:t>
            </a:r>
            <a:r>
              <a:rPr lang="en-US" dirty="0"/>
              <a:t>SLC: </a:t>
            </a:r>
            <a:r>
              <a:rPr lang="ru-RU" dirty="0"/>
              <a:t>«сырой», необработанный до конца продукт: каждый пиксель — комплексное число (амплитуда </a:t>
            </a:r>
            <a:r>
              <a:rPr lang="ru-RU" b="1" dirty="0"/>
              <a:t>и</a:t>
            </a:r>
            <a:r>
              <a:rPr lang="ru-RU" dirty="0"/>
              <a:t> фаза), координаты — ещё в наклонной дальности (</a:t>
            </a:r>
            <a:r>
              <a:rPr lang="ru-RU" dirty="0" err="1"/>
              <a:t>slant</a:t>
            </a:r>
            <a:r>
              <a:rPr lang="ru-RU" dirty="0"/>
              <a:t> </a:t>
            </a:r>
            <a:r>
              <a:rPr lang="ru-RU" dirty="0" err="1"/>
              <a:t>range</a:t>
            </a:r>
            <a:r>
              <a:rPr lang="ru-RU" dirty="0"/>
              <a:t>), без </a:t>
            </a:r>
            <a:r>
              <a:rPr lang="ru-RU" dirty="0" err="1"/>
              <a:t>геопривязки</a:t>
            </a:r>
            <a:r>
              <a:rPr lang="ru-RU" dirty="0"/>
              <a:t> к «плоской карте»</a:t>
            </a:r>
          </a:p>
          <a:p>
            <a:pPr marL="0" lvl="0" indent="0" algn="l" rtl="0">
              <a:spcBef>
                <a:spcPts val="0"/>
              </a:spcBef>
              <a:spcAft>
                <a:spcPts val="0"/>
              </a:spcAft>
              <a:buNone/>
            </a:pPr>
            <a:r>
              <a:rPr lang="en-US" dirty="0"/>
              <a:t>- GRD: </a:t>
            </a:r>
            <a:r>
              <a:rPr lang="ru-RU" dirty="0"/>
              <a:t>«проявленный» продукт: фаза выброшена, остаётся только амплитуда/яркость (то, что реально можно посмотреть глазами как обычную картинку), геометрия пересчитана из наклонной в горизонтальную (</a:t>
            </a:r>
            <a:r>
              <a:rPr lang="ru-RU" dirty="0" err="1"/>
              <a:t>ground</a:t>
            </a:r>
            <a:r>
              <a:rPr lang="ru-RU" dirty="0"/>
              <a:t> </a:t>
            </a:r>
            <a:r>
              <a:rPr lang="ru-RU" dirty="0" err="1"/>
              <a:t>range</a:t>
            </a:r>
            <a:r>
              <a:rPr lang="ru-RU" dirty="0"/>
              <a:t>, ближе к привычной проекции карты)</a:t>
            </a:r>
          </a:p>
          <a:p>
            <a:pPr marL="0" lvl="0" indent="0" algn="l" rtl="0">
              <a:spcBef>
                <a:spcPts val="0"/>
              </a:spcBef>
              <a:spcAft>
                <a:spcPts val="0"/>
              </a:spcAft>
              <a:buNone/>
            </a:pPr>
            <a:r>
              <a:rPr lang="ru-RU" dirty="0"/>
              <a:t>Режим: Все режимы — это разные компромиссы между </a:t>
            </a:r>
            <a:r>
              <a:rPr lang="ru-RU" b="1" dirty="0"/>
              <a:t>разрешением</a:t>
            </a:r>
            <a:r>
              <a:rPr lang="ru-RU" dirty="0"/>
              <a:t> и </a:t>
            </a:r>
            <a:r>
              <a:rPr lang="ru-RU" b="1" dirty="0"/>
              <a:t>шириной полосы захвата (охватом)</a:t>
            </a:r>
            <a:r>
              <a:rPr lang="ru-RU" dirty="0"/>
              <a:t>, и определяются тем, как долго луч радара «держит» одну и ту же точку земли в поле зрения (чем дольше держит — тем длиннее синтезированная апертура из слайда 4 — тем выше разрешение, но тем уже область одновременного охвата).</a:t>
            </a:r>
          </a:p>
          <a:p>
            <a:pPr marL="0" lvl="0" indent="0" algn="l" rtl="0">
              <a:spcBef>
                <a:spcPts val="0"/>
              </a:spcBef>
              <a:spcAft>
                <a:spcPts val="0"/>
              </a:spcAft>
              <a:buNone/>
            </a:pPr>
            <a:r>
              <a:rPr lang="ru-RU" dirty="0"/>
              <a:t>Например: «VV/VH, GRD, режим TOPS» — это ровно то, чем является Sentinel-1 в основном режиме съёмки</a:t>
            </a:r>
            <a:endParaRPr dirty="0"/>
          </a:p>
        </p:txBody>
      </p:sp>
    </p:spTree>
    <p:extLst>
      <p:ext uri="{BB962C8B-B14F-4D97-AF65-F5344CB8AC3E}">
        <p14:creationId xmlns:p14="http://schemas.microsoft.com/office/powerpoint/2010/main" val="3600959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90642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f68ea1e0c8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f68ea1e0c8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 Влажность почвы и растительный покров сильно меняют диэлектрические свойства поверхности (см. слайд 10) — а значит, и яркость на SAR-снимке, поэтому по регулярным пролётам можно отслеживать влажность почвы и рост сельскохозяйственных культур в течение сезона. </a:t>
            </a:r>
          </a:p>
          <a:p>
            <a:pPr marL="0" lvl="0" indent="0" algn="l" rtl="0">
              <a:spcBef>
                <a:spcPts val="0"/>
              </a:spcBef>
              <a:spcAft>
                <a:spcPts val="0"/>
              </a:spcAft>
              <a:buNone/>
            </a:pPr>
            <a:r>
              <a:rPr lang="ru-RU" dirty="0"/>
              <a:t>- Разлив нефти на морской поверхности гасит рябь и мелкие волны, поверхность становится локально более гладкой — и, как и в случае со спокойной водой, даёт заметно более тёмное пятно на радарном снимке на фоне окружающего моря, что позволяет его </a:t>
            </a:r>
            <a:r>
              <a:rPr lang="ru-RU" dirty="0" err="1"/>
              <a:t>закартографировать</a:t>
            </a:r>
            <a:r>
              <a:rPr lang="ru-RU" dirty="0"/>
              <a:t>. </a:t>
            </a:r>
          </a:p>
          <a:p>
            <a:pPr marL="0" lvl="0" indent="0" algn="l" rtl="0">
              <a:spcBef>
                <a:spcPts val="0"/>
              </a:spcBef>
              <a:spcAft>
                <a:spcPts val="0"/>
              </a:spcAft>
              <a:buNone/>
            </a:pPr>
            <a:r>
              <a:rPr lang="ru-RU" dirty="0"/>
              <a:t>- если снять одну и ту же территорию дважды с чуть разных положений в пространстве, разница фаз в каждой точке напрямую связана с высотой рельефа</a:t>
            </a:r>
          </a:p>
          <a:p>
            <a:pPr marL="0" lvl="0" indent="0" algn="l" rtl="0">
              <a:spcBef>
                <a:spcPts val="0"/>
              </a:spcBef>
              <a:spcAft>
                <a:spcPts val="0"/>
              </a:spcAft>
              <a:buNone/>
            </a:pPr>
            <a:r>
              <a:rPr lang="ru-RU" dirty="0"/>
              <a:t>- Наша тема</a:t>
            </a:r>
          </a:p>
          <a:p>
            <a:pPr marL="0" lvl="0" indent="0" algn="l" rtl="0">
              <a:spcBef>
                <a:spcPts val="0"/>
              </a:spcBef>
              <a:spcAft>
                <a:spcPts val="0"/>
              </a:spcAft>
              <a:buNone/>
            </a:pPr>
            <a:r>
              <a:rPr lang="ru-RU" dirty="0"/>
              <a:t>- Ещё будет</a:t>
            </a:r>
            <a:endParaRPr dirty="0"/>
          </a:p>
        </p:txBody>
      </p:sp>
    </p:spTree>
    <p:extLst>
      <p:ext uri="{BB962C8B-B14F-4D97-AF65-F5344CB8AC3E}">
        <p14:creationId xmlns:p14="http://schemas.microsoft.com/office/powerpoint/2010/main" val="36846158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sz="1100" dirty="0">
                <a:solidFill>
                  <a:schemeClr val="dk1"/>
                </a:solidFill>
                <a:latin typeface="Nunito"/>
                <a:ea typeface="Nunito"/>
                <a:cs typeface="Nunito"/>
                <a:sym typeface="Nunito"/>
              </a:rPr>
              <a:t>Укорочение, наложение, тень</a:t>
            </a:r>
          </a:p>
          <a:p>
            <a:pPr marL="0" lvl="0" indent="0" algn="l" rtl="0">
              <a:spcBef>
                <a:spcPts val="0"/>
              </a:spcBef>
              <a:spcAft>
                <a:spcPts val="0"/>
              </a:spcAft>
              <a:buNone/>
            </a:pPr>
            <a:r>
              <a:rPr lang="ru-RU" dirty="0" err="1"/>
              <a:t>спекл</a:t>
            </a:r>
            <a:r>
              <a:rPr lang="ru-RU" dirty="0"/>
              <a:t> — это не «шум измерения» вроде теплового шума в оптической камере, который можно просто усреднить как случайную добавку — он </a:t>
            </a:r>
            <a:r>
              <a:rPr lang="ru-RU" b="1" dirty="0"/>
              <a:t>мультипликативный</a:t>
            </a:r>
            <a:r>
              <a:rPr lang="ru-RU" dirty="0"/>
              <a:t>, то есть его сила пропорциональна самой яркости сигнала, и (2) поэтому для его подавления нужны специальные фильтры (Ли, Фроста), учитывающие именно эту природу шума, а не обычные фильтры для «обычных» </a:t>
            </a:r>
            <a:r>
              <a:rPr lang="ru-RU" dirty="0" err="1"/>
              <a:t>фотошумов</a:t>
            </a:r>
            <a:r>
              <a:rPr lang="ru-RU" dirty="0"/>
              <a:t> — мы разбирали это подробнее в блоке про подготовку SAR-изображений и увидим на практике в семинаре.</a:t>
            </a:r>
          </a:p>
          <a:p>
            <a:pPr marL="0" lvl="0" indent="0" algn="l" rtl="0">
              <a:spcBef>
                <a:spcPts val="0"/>
              </a:spcBef>
              <a:spcAft>
                <a:spcPts val="0"/>
              </a:spcAft>
              <a:buNone/>
            </a:pPr>
            <a:r>
              <a:rPr lang="ru-RU" dirty="0"/>
              <a:t>интуиция «читать» SAR-снимок как обычное фото не работает и даже вредит — яркий пиксель не значит «светлый предмет», тёмный не значит «тень» в привычном смысле.</a:t>
            </a:r>
          </a:p>
          <a:p>
            <a:pPr marL="0" lvl="0" indent="0" algn="l" rtl="0">
              <a:spcBef>
                <a:spcPts val="0"/>
              </a:spcBef>
              <a:spcAft>
                <a:spcPts val="0"/>
              </a:spcAft>
              <a:buNone/>
            </a:pPr>
            <a:r>
              <a:rPr lang="ru-RU" dirty="0"/>
              <a:t>гладкая поверхность (спокойная вода, асфальт) отражает сигнал зеркально </a:t>
            </a:r>
            <a:r>
              <a:rPr lang="ru-RU" b="1" dirty="0"/>
              <a:t>в сторону от радара</a:t>
            </a:r>
            <a:r>
              <a:rPr lang="ru-RU" dirty="0"/>
              <a:t> и выглядит тёмной, а шероховатая поверхность (лес, вспаханное поле, взволнованное море) рассеивает сигнал во все стороны, в том числе обратно к радару, и выглядит яркой;</a:t>
            </a:r>
            <a:endParaRPr dirty="0"/>
          </a:p>
        </p:txBody>
      </p:sp>
    </p:spTree>
    <p:extLst>
      <p:ext uri="{BB962C8B-B14F-4D97-AF65-F5344CB8AC3E}">
        <p14:creationId xmlns:p14="http://schemas.microsoft.com/office/powerpoint/2010/main" val="42616347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f68ea1e0c8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f68ea1e0c8_0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38172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680422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04735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28491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40406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9825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179443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98032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95956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38911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64573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8158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f68ea1e0c8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f68ea1e0c8_0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39929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89300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87099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26000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170869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16938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19039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03378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30926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98489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f68ea1e0c8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f68ea1e0c8_0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66357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18952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49211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f68ea1e0c8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f68ea1e0c8_0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89109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64328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10336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40448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02354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r>
              <a:rPr lang="ru-RU" b="1" dirty="0"/>
              <a:t>Геометрические трансформации</a:t>
            </a:r>
            <a:r>
              <a:rPr lang="ru-RU" dirty="0"/>
              <a:t> (повороты, отражения, сдвиги) в целом безопасны — смена системы координат не меняет сам сигнал</a:t>
            </a:r>
          </a:p>
          <a:p>
            <a:pPr marL="171450" lvl="0" indent="-171450" algn="l" rtl="0">
              <a:spcBef>
                <a:spcPts val="0"/>
              </a:spcBef>
              <a:spcAft>
                <a:spcPts val="0"/>
              </a:spcAft>
              <a:buFontTx/>
              <a:buChar char="-"/>
            </a:pPr>
            <a:r>
              <a:rPr lang="ru-RU" b="1" dirty="0"/>
              <a:t>Смешивание изображений</a:t>
            </a:r>
            <a:r>
              <a:rPr lang="ru-RU" dirty="0"/>
              <a:t> (</a:t>
            </a:r>
            <a:r>
              <a:rPr lang="ru-RU" dirty="0" err="1"/>
              <a:t>MixUp</a:t>
            </a:r>
            <a:r>
              <a:rPr lang="ru-RU" dirty="0"/>
              <a:t>/</a:t>
            </a:r>
            <a:r>
              <a:rPr lang="ru-RU" dirty="0" err="1"/>
              <a:t>CutMix</a:t>
            </a:r>
            <a:r>
              <a:rPr lang="ru-RU" dirty="0"/>
              <a:t>) рискованно не просто «визуально неестественно»: SAR-сигнал — когерентное отражение, и наложение двух независимых сцен не соответствует никакому реальному физическому процессу формирования сигнала — модель может выучить несуществующие в реальности паттерны</a:t>
            </a:r>
          </a:p>
          <a:p>
            <a:pPr marL="171450" lvl="0" indent="-171450" algn="l" rtl="0">
              <a:spcBef>
                <a:spcPts val="0"/>
              </a:spcBef>
              <a:spcAft>
                <a:spcPts val="0"/>
              </a:spcAft>
              <a:buFontTx/>
              <a:buChar char="-"/>
            </a:pPr>
            <a:r>
              <a:rPr lang="ru-RU" b="1" dirty="0"/>
              <a:t>Вырезание фрагментов</a:t>
            </a:r>
            <a:r>
              <a:rPr lang="ru-RU" dirty="0"/>
              <a:t> (</a:t>
            </a:r>
            <a:r>
              <a:rPr lang="ru-RU" dirty="0" err="1"/>
              <a:t>CutOut</a:t>
            </a:r>
            <a:r>
              <a:rPr lang="ru-RU" dirty="0"/>
              <a:t>) может случайно замаскировать критичный признак — например, кильватерный след корабля, который на воде часто важнее самого корабля для его обнаружения</a:t>
            </a:r>
          </a:p>
          <a:p>
            <a:pPr marL="171450" lvl="0" indent="-171450" algn="l" rtl="0">
              <a:spcBef>
                <a:spcPts val="0"/>
              </a:spcBef>
              <a:spcAft>
                <a:spcPts val="0"/>
              </a:spcAft>
              <a:buFontTx/>
              <a:buChar char="-"/>
            </a:pPr>
            <a:r>
              <a:rPr lang="ru-RU" b="1" dirty="0"/>
              <a:t>Изменение насыщенности</a:t>
            </a:r>
            <a:r>
              <a:rPr lang="ru-RU" dirty="0"/>
              <a:t> буквально неприменимо (SAR обычно одноканальный или с отдельными поляризационными каналами), но аналог — избыточное искажение соотношения между поляризационными каналами — может нарушить физически корректное соотношение отражений (например, VV обычно ярче VH для металлических объектов)</a:t>
            </a:r>
            <a:endParaRPr dirty="0"/>
          </a:p>
        </p:txBody>
      </p:sp>
    </p:spTree>
    <p:extLst>
      <p:ext uri="{BB962C8B-B14F-4D97-AF65-F5344CB8AC3E}">
        <p14:creationId xmlns:p14="http://schemas.microsoft.com/office/powerpoint/2010/main" val="1638856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f68ea1e0c8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f68ea1e0c8_0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20764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7979402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33676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729460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68ea1e0c8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68ea1e0c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9652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image" Target="../media/image3.png"/><Relationship Id="rId7"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image" Target="../media/image11.jp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gif"/><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6.gif"/><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15.gif"/><Relationship Id="rId5" Type="http://schemas.openxmlformats.org/officeDocument/2006/relationships/image" Target="../media/image14.gif"/><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5.gif"/><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jpe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7.png"/><Relationship Id="rId2" Type="http://schemas.openxmlformats.org/officeDocument/2006/relationships/notesSlide" Target="../notesSlides/notesSlide45.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0" y="2359958"/>
            <a:ext cx="9144000" cy="2783691"/>
          </a:xfrm>
          <a:prstGeom prst="rect">
            <a:avLst/>
          </a:prstGeom>
          <a:solidFill>
            <a:srgbClr val="0069B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55" name="Google Shape;55;p13"/>
          <p:cNvSpPr txBox="1">
            <a:spLocks noGrp="1"/>
          </p:cNvSpPr>
          <p:nvPr>
            <p:ph type="subTitle" idx="1"/>
          </p:nvPr>
        </p:nvSpPr>
        <p:spPr>
          <a:xfrm>
            <a:off x="311700" y="871950"/>
            <a:ext cx="8520600" cy="1362536"/>
          </a:xfrm>
          <a:prstGeom prst="rect">
            <a:avLst/>
          </a:prstGeom>
        </p:spPr>
        <p:txBody>
          <a:bodyPr spcFirstLastPara="1" wrap="square" lIns="91425" tIns="91425" rIns="91425" bIns="91425" anchor="t" anchorCtr="0">
            <a:normAutofit fontScale="92500" lnSpcReduction="10000"/>
          </a:bodyPr>
          <a:lstStyle/>
          <a:p>
            <a:pPr marL="0" lvl="0" indent="0" algn="ctr" rtl="0">
              <a:spcBef>
                <a:spcPts val="0"/>
              </a:spcBef>
              <a:spcAft>
                <a:spcPts val="0"/>
              </a:spcAft>
              <a:buSzPts val="770"/>
              <a:buNone/>
            </a:pPr>
            <a:r>
              <a:rPr lang="en-GB" sz="4400" dirty="0" err="1">
                <a:solidFill>
                  <a:schemeClr val="dk1"/>
                </a:solidFill>
                <a:latin typeface="Nunito" panose="020B0604020202020204" charset="-52"/>
                <a:ea typeface="Nunito"/>
                <a:cs typeface="Nunito"/>
                <a:sym typeface="Nunito"/>
              </a:rPr>
              <a:t>Машинное</a:t>
            </a:r>
            <a:r>
              <a:rPr lang="en-GB" sz="4400" dirty="0">
                <a:solidFill>
                  <a:schemeClr val="dk1"/>
                </a:solidFill>
                <a:latin typeface="Nunito" panose="020B0604020202020204" charset="-52"/>
                <a:ea typeface="Nunito"/>
                <a:cs typeface="Nunito"/>
                <a:sym typeface="Nunito"/>
              </a:rPr>
              <a:t> </a:t>
            </a:r>
            <a:r>
              <a:rPr lang="en-GB" sz="4400" dirty="0" err="1">
                <a:solidFill>
                  <a:schemeClr val="dk1"/>
                </a:solidFill>
                <a:latin typeface="Nunito" panose="020B0604020202020204" charset="-52"/>
                <a:ea typeface="Nunito"/>
                <a:cs typeface="Nunito"/>
                <a:sym typeface="Nunito"/>
              </a:rPr>
              <a:t>Обучение</a:t>
            </a:r>
            <a:endParaRPr lang="ru-RU" sz="4400" dirty="0">
              <a:solidFill>
                <a:schemeClr val="dk1"/>
              </a:solidFill>
              <a:latin typeface="Nunito" panose="020B0604020202020204" charset="-52"/>
              <a:ea typeface="Nunito"/>
              <a:cs typeface="Nunito"/>
              <a:sym typeface="Nunito"/>
            </a:endParaRPr>
          </a:p>
          <a:p>
            <a:pPr marL="0" lvl="0" indent="0" algn="ctr" rtl="0">
              <a:spcBef>
                <a:spcPts val="0"/>
              </a:spcBef>
              <a:spcAft>
                <a:spcPts val="0"/>
              </a:spcAft>
              <a:buSzPts val="770"/>
              <a:buNone/>
            </a:pPr>
            <a:r>
              <a:rPr lang="ru-RU" sz="4400" dirty="0">
                <a:solidFill>
                  <a:schemeClr val="dk1"/>
                </a:solidFill>
                <a:latin typeface="Nunito" panose="020B0604020202020204" charset="-52"/>
                <a:ea typeface="Nunito"/>
                <a:cs typeface="Nunito"/>
                <a:sym typeface="Nunito"/>
              </a:rPr>
              <a:t>В Задачах Радиолокации</a:t>
            </a:r>
            <a:endParaRPr sz="4400" dirty="0">
              <a:latin typeface="Nunito" panose="020B0604020202020204" charset="-52"/>
              <a:ea typeface="Nunito"/>
              <a:cs typeface="Nunito"/>
              <a:sym typeface="Nunito"/>
            </a:endParaRPr>
          </a:p>
        </p:txBody>
      </p:sp>
      <p:pic>
        <p:nvPicPr>
          <p:cNvPr id="56" name="Google Shape;56;p13"/>
          <p:cNvPicPr preferRelativeResize="0"/>
          <p:nvPr/>
        </p:nvPicPr>
        <p:blipFill rotWithShape="1">
          <a:blip r:embed="rId3">
            <a:alphaModFix/>
          </a:blip>
          <a:srcRect t="31266" b="27950"/>
          <a:stretch/>
        </p:blipFill>
        <p:spPr>
          <a:xfrm>
            <a:off x="153000" y="147925"/>
            <a:ext cx="1775250" cy="724025"/>
          </a:xfrm>
          <a:prstGeom prst="rect">
            <a:avLst/>
          </a:prstGeom>
          <a:noFill/>
          <a:ln>
            <a:noFill/>
          </a:ln>
        </p:spPr>
      </p:pic>
      <p:pic>
        <p:nvPicPr>
          <p:cNvPr id="58" name="Google Shape;58;p13"/>
          <p:cNvPicPr preferRelativeResize="0"/>
          <p:nvPr/>
        </p:nvPicPr>
        <p:blipFill>
          <a:blip r:embed="rId4">
            <a:alphaModFix/>
          </a:blip>
          <a:stretch>
            <a:fillRect/>
          </a:stretch>
        </p:blipFill>
        <p:spPr>
          <a:xfrm>
            <a:off x="8153282" y="202886"/>
            <a:ext cx="801467" cy="792600"/>
          </a:xfrm>
          <a:prstGeom prst="rect">
            <a:avLst/>
          </a:prstGeom>
          <a:noFill/>
          <a:ln>
            <a:noFill/>
          </a:ln>
        </p:spPr>
      </p:pic>
      <p:sp>
        <p:nvSpPr>
          <p:cNvPr id="59" name="Google Shape;59;p13"/>
          <p:cNvSpPr txBox="1">
            <a:spLocks noGrp="1"/>
          </p:cNvSpPr>
          <p:nvPr>
            <p:ph type="ctrTitle"/>
          </p:nvPr>
        </p:nvSpPr>
        <p:spPr>
          <a:xfrm>
            <a:off x="311700" y="4271550"/>
            <a:ext cx="2359959" cy="785400"/>
          </a:xfrm>
          <a:prstGeom prst="rect">
            <a:avLst/>
          </a:prstGeom>
        </p:spPr>
        <p:txBody>
          <a:bodyPr spcFirstLastPara="1" wrap="square" lIns="91425" tIns="91425" rIns="91425" bIns="91425" anchor="b" anchorCtr="0">
            <a:normAutofit fontScale="90000"/>
          </a:bodyPr>
          <a:lstStyle/>
          <a:p>
            <a:pPr lvl="0"/>
            <a:br>
              <a:rPr lang="ru-RU" sz="2000" dirty="0">
                <a:solidFill>
                  <a:schemeClr val="lt1"/>
                </a:solidFill>
                <a:latin typeface="Nunito"/>
                <a:ea typeface="Nunito"/>
                <a:cs typeface="Nunito"/>
                <a:sym typeface="Nunito"/>
              </a:rPr>
            </a:br>
            <a:r>
              <a:rPr lang="en-GB" sz="2000" dirty="0">
                <a:solidFill>
                  <a:schemeClr val="lt1"/>
                </a:solidFill>
                <a:latin typeface="Nunito"/>
                <a:ea typeface="Nunito"/>
                <a:cs typeface="Nunito"/>
                <a:sym typeface="Nunito"/>
              </a:rPr>
              <a:t>МФТИ, ПИШ РПИ</a:t>
            </a:r>
            <a:endParaRPr sz="2000" dirty="0">
              <a:solidFill>
                <a:schemeClr val="lt1"/>
              </a:solidFill>
              <a:latin typeface="Nunito"/>
              <a:ea typeface="Nunito"/>
              <a:cs typeface="Nunito"/>
              <a:sym typeface="Nunito"/>
            </a:endParaRPr>
          </a:p>
          <a:p>
            <a:pPr marL="0" lvl="0" indent="0" algn="ctr" rtl="0">
              <a:spcBef>
                <a:spcPts val="0"/>
              </a:spcBef>
              <a:spcAft>
                <a:spcPts val="0"/>
              </a:spcAft>
              <a:buNone/>
            </a:pPr>
            <a:r>
              <a:rPr lang="en-GB" sz="2000" dirty="0" err="1">
                <a:solidFill>
                  <a:schemeClr val="lt1"/>
                </a:solidFill>
                <a:latin typeface="Nunito"/>
                <a:ea typeface="Nunito"/>
                <a:cs typeface="Nunito"/>
                <a:sym typeface="Nunito"/>
              </a:rPr>
              <a:t>Осень</a:t>
            </a:r>
            <a:r>
              <a:rPr lang="en-GB" sz="2000" dirty="0">
                <a:solidFill>
                  <a:schemeClr val="lt1"/>
                </a:solidFill>
                <a:latin typeface="Nunito"/>
                <a:ea typeface="Nunito"/>
                <a:cs typeface="Nunito"/>
                <a:sym typeface="Nunito"/>
              </a:rPr>
              <a:t> 2026/2027</a:t>
            </a:r>
            <a:endParaRPr sz="2000" dirty="0">
              <a:solidFill>
                <a:schemeClr val="lt1"/>
              </a:solidFill>
              <a:latin typeface="Nunito"/>
              <a:ea typeface="Nunito"/>
              <a:cs typeface="Nunito"/>
              <a:sym typeface="Nunito"/>
            </a:endParaRPr>
          </a:p>
        </p:txBody>
      </p:sp>
      <p:sp>
        <p:nvSpPr>
          <p:cNvPr id="2" name="TextBox 1">
            <a:extLst>
              <a:ext uri="{FF2B5EF4-FFF2-40B4-BE49-F238E27FC236}">
                <a16:creationId xmlns:a16="http://schemas.microsoft.com/office/drawing/2014/main" id="{BDC68BDA-96CA-4ADC-BAD7-9D151CF9ADAA}"/>
              </a:ext>
            </a:extLst>
          </p:cNvPr>
          <p:cNvSpPr txBox="1"/>
          <p:nvPr/>
        </p:nvSpPr>
        <p:spPr>
          <a:xfrm>
            <a:off x="4298485" y="4041287"/>
            <a:ext cx="4820550" cy="1015663"/>
          </a:xfrm>
          <a:prstGeom prst="rect">
            <a:avLst/>
          </a:prstGeom>
          <a:noFill/>
        </p:spPr>
        <p:txBody>
          <a:bodyPr wrap="none" rtlCol="0">
            <a:spAutoFit/>
          </a:bodyPr>
          <a:lstStyle/>
          <a:p>
            <a:r>
              <a:rPr lang="ru-RU" sz="2000" dirty="0">
                <a:solidFill>
                  <a:schemeClr val="lt1"/>
                </a:solidFill>
                <a:latin typeface="Nunito"/>
                <a:ea typeface="Nunito"/>
                <a:cs typeface="Nunito"/>
                <a:sym typeface="Nunito"/>
              </a:rPr>
              <a:t>Авторы:</a:t>
            </a:r>
          </a:p>
          <a:p>
            <a:r>
              <a:rPr lang="ru-RU" sz="2000" dirty="0">
                <a:solidFill>
                  <a:schemeClr val="lt1"/>
                </a:solidFill>
                <a:latin typeface="Nunito"/>
                <a:ea typeface="Nunito"/>
                <a:cs typeface="Nunito"/>
                <a:sym typeface="Nunito"/>
              </a:rPr>
              <a:t>Гнатов Михаил Андреевич </a:t>
            </a:r>
          </a:p>
          <a:p>
            <a:r>
              <a:rPr lang="ru-RU" sz="2000" dirty="0" err="1">
                <a:solidFill>
                  <a:schemeClr val="lt1"/>
                </a:solidFill>
                <a:latin typeface="Nunito"/>
                <a:ea typeface="Nunito"/>
                <a:cs typeface="Nunito"/>
                <a:sym typeface="Nunito"/>
              </a:rPr>
              <a:t>Доброжанский</a:t>
            </a:r>
            <a:r>
              <a:rPr lang="ru-RU" sz="2000" dirty="0">
                <a:solidFill>
                  <a:schemeClr val="lt1"/>
                </a:solidFill>
                <a:latin typeface="Nunito"/>
                <a:ea typeface="Nunito"/>
                <a:cs typeface="Nunito"/>
                <a:sym typeface="Nunito"/>
              </a:rPr>
              <a:t> Владимир Алексеевич</a:t>
            </a:r>
            <a:endParaRPr lang="ru-RU" sz="2000" dirty="0"/>
          </a:p>
        </p:txBody>
      </p:sp>
      <p:sp>
        <p:nvSpPr>
          <p:cNvPr id="3" name="TextBox 2">
            <a:extLst>
              <a:ext uri="{FF2B5EF4-FFF2-40B4-BE49-F238E27FC236}">
                <a16:creationId xmlns:a16="http://schemas.microsoft.com/office/drawing/2014/main" id="{A5BFBCDC-6F83-4920-A6D3-701104C497C5}"/>
              </a:ext>
            </a:extLst>
          </p:cNvPr>
          <p:cNvSpPr txBox="1"/>
          <p:nvPr/>
        </p:nvSpPr>
        <p:spPr>
          <a:xfrm>
            <a:off x="1973370" y="2491606"/>
            <a:ext cx="5572359" cy="707886"/>
          </a:xfrm>
          <a:prstGeom prst="rect">
            <a:avLst/>
          </a:prstGeom>
          <a:noFill/>
        </p:spPr>
        <p:txBody>
          <a:bodyPr wrap="none" rtlCol="0">
            <a:spAutoFit/>
          </a:bodyPr>
          <a:lstStyle/>
          <a:p>
            <a:r>
              <a:rPr lang="en-GB" sz="4000" dirty="0">
                <a:solidFill>
                  <a:schemeClr val="lt1"/>
                </a:solidFill>
                <a:latin typeface="Nunito"/>
                <a:ea typeface="Nunito"/>
                <a:cs typeface="Nunito"/>
                <a:sym typeface="Nunito"/>
              </a:rPr>
              <a:t>#</a:t>
            </a:r>
            <a:r>
              <a:rPr lang="en-US" sz="4000" dirty="0">
                <a:solidFill>
                  <a:schemeClr val="lt1"/>
                </a:solidFill>
                <a:latin typeface="Nunito"/>
                <a:ea typeface="Nunito"/>
                <a:cs typeface="Nunito"/>
                <a:sym typeface="Nunito"/>
              </a:rPr>
              <a:t>3</a:t>
            </a:r>
            <a:r>
              <a:rPr lang="en-GB" sz="4000" dirty="0">
                <a:solidFill>
                  <a:schemeClr val="lt1"/>
                </a:solidFill>
                <a:latin typeface="Nunito"/>
                <a:ea typeface="Nunito"/>
                <a:cs typeface="Nunito"/>
                <a:sym typeface="Nunito"/>
              </a:rPr>
              <a:t>: SAR-</a:t>
            </a:r>
            <a:r>
              <a:rPr lang="ru-RU" sz="4000" dirty="0">
                <a:solidFill>
                  <a:schemeClr val="lt1"/>
                </a:solidFill>
                <a:latin typeface="Nunito"/>
                <a:ea typeface="Nunito"/>
                <a:cs typeface="Nunito"/>
                <a:sym typeface="Nunito"/>
              </a:rPr>
              <a:t>изображения</a:t>
            </a:r>
            <a:endParaRPr lang="ru-RU"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369679"/>
            <a:ext cx="8520600" cy="572700"/>
          </a:xfrm>
          <a:prstGeom prst="rect">
            <a:avLst/>
          </a:prstGeom>
        </p:spPr>
        <p:txBody>
          <a:bodyPr spcFirstLastPara="1" wrap="square" lIns="91425" tIns="91425" rIns="91425" bIns="91425" anchor="t" anchorCtr="0">
            <a:normAutofit/>
          </a:bodyPr>
          <a:lstStyle/>
          <a:p>
            <a:pPr lvl="0"/>
            <a:r>
              <a:rPr lang="ru-RU" sz="2400" b="1" dirty="0">
                <a:latin typeface="Nunito" panose="020B0604020202020204" charset="-52"/>
              </a:rPr>
              <a:t>Темы на сегодня</a:t>
            </a:r>
            <a:endParaRPr sz="2400" b="1" dirty="0">
              <a:latin typeface="Nunito" panose="020B0604020202020204" charset="-52"/>
              <a:sym typeface="Nunito"/>
            </a:endParaRPr>
          </a:p>
        </p:txBody>
      </p:sp>
      <p:sp>
        <p:nvSpPr>
          <p:cNvPr id="86" name="Google Shape;86;p16"/>
          <p:cNvSpPr txBox="1">
            <a:spLocks noGrp="1"/>
          </p:cNvSpPr>
          <p:nvPr>
            <p:ph type="body" idx="1"/>
          </p:nvPr>
        </p:nvSpPr>
        <p:spPr>
          <a:xfrm>
            <a:off x="311700" y="1053885"/>
            <a:ext cx="8520600" cy="3514965"/>
          </a:xfrm>
          <a:prstGeom prst="rect">
            <a:avLst/>
          </a:prstGeom>
        </p:spPr>
        <p:txBody>
          <a:bodyPr spcFirstLastPara="1" wrap="square" lIns="91425" tIns="91425" rIns="91425" bIns="91425" anchor="t" anchorCtr="0">
            <a:normAutofit/>
          </a:bodyPr>
          <a:lstStyle/>
          <a:p>
            <a:pPr marL="565150" indent="-457200">
              <a:lnSpc>
                <a:spcPct val="150000"/>
              </a:lnSpc>
              <a:buClr>
                <a:schemeClr val="dk1"/>
              </a:buClr>
              <a:buSzPts val="1900"/>
              <a:buFont typeface="+mj-lt"/>
              <a:buAutoNum type="arabicPeriod"/>
            </a:pPr>
            <a:r>
              <a:rPr lang="ru-RU" dirty="0">
                <a:solidFill>
                  <a:schemeClr val="dk1"/>
                </a:solidFill>
                <a:latin typeface="Nunito"/>
                <a:ea typeface="Nunito"/>
                <a:cs typeface="Nunito"/>
                <a:sym typeface="Nunito"/>
              </a:rPr>
              <a:t>Что такое </a:t>
            </a:r>
            <a:r>
              <a:rPr lang="en-US" dirty="0">
                <a:solidFill>
                  <a:schemeClr val="dk1"/>
                </a:solidFill>
                <a:latin typeface="Nunito"/>
                <a:ea typeface="Nunito"/>
                <a:cs typeface="Nunito"/>
                <a:sym typeface="Nunito"/>
              </a:rPr>
              <a:t>SAR</a:t>
            </a:r>
            <a:r>
              <a:rPr lang="ru-RU" dirty="0">
                <a:solidFill>
                  <a:schemeClr val="dk1"/>
                </a:solidFill>
                <a:latin typeface="Nunito"/>
                <a:ea typeface="Nunito"/>
                <a:cs typeface="Nunito"/>
                <a:sym typeface="Nunito"/>
              </a:rPr>
              <a:t> изображения</a:t>
            </a:r>
          </a:p>
          <a:p>
            <a:pPr marL="565150" indent="-457200">
              <a:lnSpc>
                <a:spcPct val="150000"/>
              </a:lnSpc>
              <a:buClr>
                <a:schemeClr val="dk1"/>
              </a:buClr>
              <a:buSzPts val="1900"/>
              <a:buFont typeface="+mj-lt"/>
              <a:buAutoNum type="arabicPeriod"/>
            </a:pPr>
            <a:r>
              <a:rPr lang="ru-RU" dirty="0">
                <a:solidFill>
                  <a:schemeClr val="dk1"/>
                </a:solidFill>
                <a:latin typeface="Nunito"/>
                <a:ea typeface="Nunito"/>
                <a:cs typeface="Nunito"/>
                <a:sym typeface="Nunito"/>
              </a:rPr>
              <a:t>Задачи, решаемые при помощи SAR</a:t>
            </a:r>
          </a:p>
          <a:p>
            <a:pPr marL="565150" indent="-457200">
              <a:lnSpc>
                <a:spcPct val="150000"/>
              </a:lnSpc>
              <a:buClr>
                <a:schemeClr val="dk1"/>
              </a:buClr>
              <a:buSzPts val="1900"/>
              <a:buFont typeface="+mj-lt"/>
              <a:buAutoNum type="arabicPeriod"/>
            </a:pPr>
            <a:r>
              <a:rPr lang="ru-RU" dirty="0">
                <a:solidFill>
                  <a:schemeClr val="dk1"/>
                </a:solidFill>
                <a:latin typeface="Nunito"/>
                <a:ea typeface="Nunito"/>
                <a:cs typeface="Nunito"/>
                <a:sym typeface="Nunito"/>
              </a:rPr>
              <a:t>Полный пайплайн обучения </a:t>
            </a:r>
            <a:r>
              <a:rPr lang="en-US" dirty="0">
                <a:solidFill>
                  <a:schemeClr val="dk1"/>
                </a:solidFill>
                <a:latin typeface="Nunito"/>
                <a:ea typeface="Nunito"/>
                <a:cs typeface="Nunito"/>
                <a:sym typeface="Nunito"/>
              </a:rPr>
              <a:t>ML-</a:t>
            </a:r>
            <a:r>
              <a:rPr lang="ru-RU" dirty="0">
                <a:solidFill>
                  <a:schemeClr val="dk1"/>
                </a:solidFill>
                <a:latin typeface="Nunito"/>
                <a:ea typeface="Nunito"/>
                <a:cs typeface="Nunito"/>
                <a:sym typeface="Nunito"/>
              </a:rPr>
              <a:t>модели</a:t>
            </a:r>
          </a:p>
          <a:p>
            <a:pPr marL="565150" indent="-457200">
              <a:lnSpc>
                <a:spcPct val="150000"/>
              </a:lnSpc>
              <a:buClr>
                <a:schemeClr val="dk1"/>
              </a:buClr>
              <a:buSzPts val="1900"/>
              <a:buFont typeface="+mj-lt"/>
              <a:buAutoNum type="arabicPeriod"/>
            </a:pPr>
            <a:r>
              <a:rPr lang="ru-RU" dirty="0">
                <a:solidFill>
                  <a:schemeClr val="dk1"/>
                </a:solidFill>
                <a:latin typeface="Nunito"/>
                <a:ea typeface="Nunito"/>
                <a:cs typeface="Nunito"/>
                <a:sym typeface="Nunito"/>
              </a:rPr>
              <a:t>Свёртки и </a:t>
            </a:r>
            <a:r>
              <a:rPr lang="ru-RU" dirty="0" err="1">
                <a:solidFill>
                  <a:schemeClr val="dk1"/>
                </a:solidFill>
                <a:latin typeface="Nunito"/>
                <a:ea typeface="Nunito"/>
                <a:cs typeface="Nunito"/>
                <a:sym typeface="Nunito"/>
              </a:rPr>
              <a:t>свёрточные</a:t>
            </a:r>
            <a:r>
              <a:rPr lang="ru-RU" dirty="0">
                <a:solidFill>
                  <a:schemeClr val="dk1"/>
                </a:solidFill>
                <a:latin typeface="Nunito"/>
                <a:ea typeface="Nunito"/>
                <a:cs typeface="Nunito"/>
                <a:sym typeface="Nunito"/>
              </a:rPr>
              <a:t> нейронные сети</a:t>
            </a:r>
          </a:p>
          <a:p>
            <a:pPr marL="565150" indent="-457200">
              <a:lnSpc>
                <a:spcPct val="150000"/>
              </a:lnSpc>
              <a:buClr>
                <a:schemeClr val="dk1"/>
              </a:buClr>
              <a:buSzPts val="1900"/>
              <a:buFont typeface="+mj-lt"/>
              <a:buAutoNum type="arabicPeriod"/>
            </a:pPr>
            <a:r>
              <a:rPr lang="ru-RU" dirty="0">
                <a:solidFill>
                  <a:schemeClr val="dk1"/>
                </a:solidFill>
                <a:latin typeface="Nunito"/>
                <a:ea typeface="Nunito"/>
                <a:cs typeface="Nunito"/>
                <a:sym typeface="Nunito"/>
              </a:rPr>
              <a:t>Разведочный анализ данных</a:t>
            </a:r>
            <a:r>
              <a:rPr lang="en-US" dirty="0">
                <a:solidFill>
                  <a:schemeClr val="dk1"/>
                </a:solidFill>
                <a:latin typeface="Nunito"/>
                <a:ea typeface="Nunito"/>
                <a:cs typeface="Nunito"/>
                <a:sym typeface="Nunito"/>
              </a:rPr>
              <a:t> </a:t>
            </a:r>
            <a:r>
              <a:rPr lang="ru-RU" dirty="0">
                <a:solidFill>
                  <a:schemeClr val="dk1"/>
                </a:solidFill>
                <a:latin typeface="Nunito"/>
                <a:ea typeface="Nunito"/>
                <a:cs typeface="Nunito"/>
                <a:sym typeface="Nunito"/>
              </a:rPr>
              <a:t>для обнаружения</a:t>
            </a:r>
          </a:p>
          <a:p>
            <a:pPr marL="565150" indent="-457200">
              <a:lnSpc>
                <a:spcPct val="150000"/>
              </a:lnSpc>
              <a:buClr>
                <a:schemeClr val="dk1"/>
              </a:buClr>
              <a:buSzPts val="1900"/>
              <a:buFont typeface="+mj-lt"/>
              <a:buAutoNum type="arabicPeriod"/>
            </a:pPr>
            <a:r>
              <a:rPr lang="ru-RU" dirty="0">
                <a:solidFill>
                  <a:schemeClr val="dk1"/>
                </a:solidFill>
                <a:latin typeface="Nunito"/>
                <a:ea typeface="Nunito"/>
                <a:cs typeface="Nunito"/>
                <a:sym typeface="Nunito"/>
              </a:rPr>
              <a:t>Особенности подготовки </a:t>
            </a:r>
            <a:r>
              <a:rPr lang="en-US" dirty="0">
                <a:solidFill>
                  <a:schemeClr val="dk1"/>
                </a:solidFill>
                <a:latin typeface="Nunito"/>
                <a:ea typeface="Nunito"/>
                <a:cs typeface="Nunito"/>
                <a:sym typeface="Nunito"/>
              </a:rPr>
              <a:t>SAR</a:t>
            </a:r>
            <a:r>
              <a:rPr lang="ru-RU" dirty="0">
                <a:solidFill>
                  <a:schemeClr val="dk1"/>
                </a:solidFill>
                <a:latin typeface="Nunito"/>
                <a:ea typeface="Nunito"/>
                <a:cs typeface="Nunito"/>
                <a:sym typeface="Nunito"/>
              </a:rPr>
              <a:t> изображений</a:t>
            </a:r>
          </a:p>
          <a:p>
            <a:pPr marL="565150" indent="-457200">
              <a:lnSpc>
                <a:spcPct val="150000"/>
              </a:lnSpc>
              <a:buClr>
                <a:schemeClr val="dk1"/>
              </a:buClr>
              <a:buSzPts val="1900"/>
              <a:buFont typeface="+mj-lt"/>
              <a:buAutoNum type="arabicPeriod"/>
            </a:pPr>
            <a:r>
              <a:rPr lang="ru-RU" dirty="0" err="1">
                <a:solidFill>
                  <a:schemeClr val="dk1"/>
                </a:solidFill>
                <a:latin typeface="Nunito"/>
                <a:ea typeface="Nunito"/>
                <a:cs typeface="Nunito"/>
                <a:sym typeface="Nunito"/>
              </a:rPr>
              <a:t>Датасет</a:t>
            </a:r>
            <a:r>
              <a:rPr lang="ru-RU" dirty="0">
                <a:solidFill>
                  <a:schemeClr val="dk1"/>
                </a:solidFill>
                <a:latin typeface="Nunito"/>
                <a:ea typeface="Nunito"/>
                <a:cs typeface="Nunito"/>
                <a:sym typeface="Nunito"/>
              </a:rPr>
              <a:t> </a:t>
            </a:r>
            <a:r>
              <a:rPr lang="en-US" dirty="0" err="1">
                <a:solidFill>
                  <a:schemeClr val="dk1"/>
                </a:solidFill>
                <a:latin typeface="Nunito"/>
                <a:ea typeface="Nunito"/>
                <a:cs typeface="Nunito"/>
                <a:sym typeface="Nunito"/>
              </a:rPr>
              <a:t>SARscope</a:t>
            </a:r>
            <a:endParaRPr lang="ru-RU"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2</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spTree>
    <p:extLst>
      <p:ext uri="{BB962C8B-B14F-4D97-AF65-F5344CB8AC3E}">
        <p14:creationId xmlns:p14="http://schemas.microsoft.com/office/powerpoint/2010/main" val="276516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p:nvPr/>
        </p:nvSpPr>
        <p:spPr>
          <a:xfrm>
            <a:off x="0" y="452450"/>
            <a:ext cx="9144000" cy="46911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 name="Google Shape;65;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3</a:t>
            </a:fld>
            <a:endParaRPr>
              <a:solidFill>
                <a:schemeClr val="lt1"/>
              </a:solidFill>
            </a:endParaRPr>
          </a:p>
        </p:txBody>
      </p:sp>
      <p:sp>
        <p:nvSpPr>
          <p:cNvPr id="66" name="Google Shape;66;p14"/>
          <p:cNvSpPr txBox="1">
            <a:spLocks noGrp="1"/>
          </p:cNvSpPr>
          <p:nvPr>
            <p:ph type="ctrTitle"/>
          </p:nvPr>
        </p:nvSpPr>
        <p:spPr>
          <a:xfrm>
            <a:off x="0" y="2011680"/>
            <a:ext cx="9144000" cy="1256856"/>
          </a:xfrm>
          <a:prstGeom prst="rect">
            <a:avLst/>
          </a:prstGeom>
        </p:spPr>
        <p:txBody>
          <a:bodyPr spcFirstLastPara="1" wrap="square" lIns="91425" tIns="91425" rIns="91425" bIns="91425" anchor="b" anchorCtr="0">
            <a:normAutofit fontScale="90000"/>
          </a:bodyPr>
          <a:lstStyle/>
          <a:p>
            <a:pPr lvl="0"/>
            <a:r>
              <a:rPr lang="ru-RU" b="1" dirty="0">
                <a:solidFill>
                  <a:schemeClr val="lt1"/>
                </a:solidFill>
                <a:latin typeface="Nunito"/>
                <a:ea typeface="Nunito"/>
                <a:cs typeface="Nunito"/>
                <a:sym typeface="Nunito"/>
              </a:rPr>
              <a:t>Что такое </a:t>
            </a:r>
            <a:r>
              <a:rPr lang="en-US" b="1" dirty="0">
                <a:solidFill>
                  <a:schemeClr val="lt1"/>
                </a:solidFill>
                <a:latin typeface="Nunito"/>
                <a:ea typeface="Nunito"/>
                <a:cs typeface="Nunito"/>
                <a:sym typeface="Nunito"/>
              </a:rPr>
              <a:t>SAR </a:t>
            </a:r>
            <a:r>
              <a:rPr lang="ru-RU" b="1" dirty="0">
                <a:solidFill>
                  <a:schemeClr val="lt1"/>
                </a:solidFill>
                <a:latin typeface="Nunito"/>
                <a:ea typeface="Nunito"/>
                <a:cs typeface="Nunito"/>
                <a:sym typeface="Nunito"/>
              </a:rPr>
              <a:t>изображения</a:t>
            </a:r>
          </a:p>
        </p:txBody>
      </p:sp>
      <p:pic>
        <p:nvPicPr>
          <p:cNvPr id="67" name="Google Shape;67;p14"/>
          <p:cNvPicPr preferRelativeResize="0"/>
          <p:nvPr/>
        </p:nvPicPr>
        <p:blipFill rotWithShape="1">
          <a:blip r:embed="rId3">
            <a:alphaModFix/>
          </a:blip>
          <a:srcRect l="30316" t="32807" r="29285" b="24140"/>
          <a:stretch/>
        </p:blipFill>
        <p:spPr>
          <a:xfrm>
            <a:off x="2865625" y="3973562"/>
            <a:ext cx="1015825" cy="1082575"/>
          </a:xfrm>
          <a:prstGeom prst="rect">
            <a:avLst/>
          </a:prstGeom>
          <a:noFill/>
          <a:ln>
            <a:noFill/>
          </a:ln>
        </p:spPr>
      </p:pic>
      <p:pic>
        <p:nvPicPr>
          <p:cNvPr id="68" name="Google Shape;68;p14"/>
          <p:cNvPicPr preferRelativeResize="0"/>
          <p:nvPr/>
        </p:nvPicPr>
        <p:blipFill rotWithShape="1">
          <a:blip r:embed="rId4">
            <a:alphaModFix/>
          </a:blip>
          <a:srcRect l="3410" t="59058" r="2904" b="6827"/>
          <a:stretch/>
        </p:blipFill>
        <p:spPr>
          <a:xfrm>
            <a:off x="205475" y="4048412"/>
            <a:ext cx="2561601" cy="9329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0"/>
            <a:ext cx="8520600" cy="48469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Что такое </a:t>
            </a:r>
            <a:r>
              <a:rPr lang="en-GB" b="1" dirty="0">
                <a:latin typeface="Nunito"/>
                <a:ea typeface="Nunito"/>
                <a:cs typeface="Nunito"/>
                <a:sym typeface="Nunito"/>
              </a:rPr>
              <a:t>SAR </a:t>
            </a:r>
            <a:r>
              <a:rPr lang="ru-RU" b="1" dirty="0">
                <a:latin typeface="Nunito"/>
                <a:ea typeface="Nunito"/>
                <a:cs typeface="Nunito"/>
                <a:sym typeface="Nunito"/>
              </a:rPr>
              <a:t>изображения</a:t>
            </a:r>
          </a:p>
        </p:txBody>
      </p:sp>
      <p:sp>
        <p:nvSpPr>
          <p:cNvPr id="86" name="Google Shape;86;p16"/>
          <p:cNvSpPr txBox="1">
            <a:spLocks noGrp="1"/>
          </p:cNvSpPr>
          <p:nvPr>
            <p:ph type="body" idx="1"/>
          </p:nvPr>
        </p:nvSpPr>
        <p:spPr>
          <a:xfrm>
            <a:off x="311701" y="616833"/>
            <a:ext cx="4793442" cy="4010961"/>
          </a:xfrm>
          <a:prstGeom prst="rect">
            <a:avLst/>
          </a:prstGeom>
        </p:spPr>
        <p:txBody>
          <a:bodyPr spcFirstLastPara="1" wrap="square" lIns="91425" tIns="91425" rIns="91425" bIns="91425" anchor="t" anchorCtr="0">
            <a:normAutofit lnSpcReduction="10000"/>
          </a:bodyPr>
          <a:lstStyle/>
          <a:p>
            <a:pPr marL="107950" lvl="0" indent="0">
              <a:buClr>
                <a:schemeClr val="dk1"/>
              </a:buClr>
              <a:buSzPts val="1900"/>
              <a:buNone/>
            </a:pPr>
            <a:r>
              <a:rPr lang="en-US" sz="1400" b="1" dirty="0">
                <a:solidFill>
                  <a:schemeClr val="dk1"/>
                </a:solidFill>
                <a:latin typeface="Nunito"/>
                <a:ea typeface="Nunito"/>
                <a:cs typeface="Nunito"/>
                <a:sym typeface="Nunito"/>
              </a:rPr>
              <a:t>SAR</a:t>
            </a:r>
            <a:r>
              <a:rPr lang="en-US" sz="1400" dirty="0">
                <a:solidFill>
                  <a:schemeClr val="dk1"/>
                </a:solidFill>
                <a:latin typeface="Nunito"/>
                <a:ea typeface="Nunito"/>
                <a:cs typeface="Nunito"/>
                <a:sym typeface="Nunito"/>
              </a:rPr>
              <a:t> (</a:t>
            </a:r>
            <a:r>
              <a:rPr lang="ru-RU" sz="1400" dirty="0">
                <a:solidFill>
                  <a:schemeClr val="dk1"/>
                </a:solidFill>
                <a:latin typeface="Nunito"/>
                <a:ea typeface="Nunito"/>
                <a:cs typeface="Nunito"/>
                <a:sym typeface="Nunito"/>
              </a:rPr>
              <a:t>англ. </a:t>
            </a:r>
            <a:r>
              <a:rPr lang="en-US" sz="1400" dirty="0">
                <a:solidFill>
                  <a:schemeClr val="dk1"/>
                </a:solidFill>
                <a:latin typeface="Nunito"/>
                <a:ea typeface="Nunito"/>
                <a:cs typeface="Nunito"/>
                <a:sym typeface="Nunito"/>
              </a:rPr>
              <a:t>Synthetic Aperture Radar) </a:t>
            </a:r>
            <a:r>
              <a:rPr lang="ru-RU" sz="1400" dirty="0">
                <a:solidFill>
                  <a:schemeClr val="dk1"/>
                </a:solidFill>
                <a:latin typeface="Nunito"/>
                <a:ea typeface="Nunito"/>
                <a:cs typeface="Nunito"/>
                <a:sym typeface="Nunito"/>
              </a:rPr>
              <a:t>или</a:t>
            </a:r>
            <a:r>
              <a:rPr lang="en-US" sz="1400" dirty="0">
                <a:solidFill>
                  <a:schemeClr val="dk1"/>
                </a:solidFill>
                <a:latin typeface="Nunito"/>
                <a:ea typeface="Nunito"/>
                <a:cs typeface="Nunito"/>
                <a:sym typeface="Nunito"/>
              </a:rPr>
              <a:t> </a:t>
            </a:r>
            <a:br>
              <a:rPr lang="ru-RU" sz="1400" dirty="0">
                <a:solidFill>
                  <a:schemeClr val="dk1"/>
                </a:solidFill>
                <a:latin typeface="Nunito"/>
                <a:ea typeface="Nunito"/>
                <a:cs typeface="Nunito"/>
                <a:sym typeface="Nunito"/>
              </a:rPr>
            </a:br>
            <a:r>
              <a:rPr lang="ru-RU" sz="1400" b="1" dirty="0">
                <a:solidFill>
                  <a:schemeClr val="dk1"/>
                </a:solidFill>
                <a:latin typeface="Nunito"/>
                <a:ea typeface="Nunito"/>
                <a:cs typeface="Nunito"/>
                <a:sym typeface="Nunito"/>
              </a:rPr>
              <a:t>РСА</a:t>
            </a:r>
            <a:r>
              <a:rPr lang="ru-RU" sz="1400" dirty="0">
                <a:solidFill>
                  <a:schemeClr val="dk1"/>
                </a:solidFill>
                <a:latin typeface="Nunito"/>
                <a:ea typeface="Nunito"/>
                <a:cs typeface="Nunito"/>
                <a:sym typeface="Nunito"/>
              </a:rPr>
              <a:t> (Радиолокационное синтезирование апертуры) — это технология, которая позволяет получать радиолокационные изображения поверхности Земли и находящихся на ней объектов с высоким разрешением независимо от погодных условий, времени суток и наличия естественного освещения.</a:t>
            </a:r>
            <a:endParaRPr lang="en-US" sz="1400" dirty="0">
              <a:solidFill>
                <a:schemeClr val="dk1"/>
              </a:solidFill>
              <a:latin typeface="Nunito"/>
              <a:ea typeface="Nunito"/>
              <a:cs typeface="Nunito"/>
              <a:sym typeface="Nunito"/>
            </a:endParaRPr>
          </a:p>
          <a:p>
            <a:pPr marL="107950" lvl="0" indent="0">
              <a:buClr>
                <a:schemeClr val="dk1"/>
              </a:buClr>
              <a:buSzPts val="1900"/>
              <a:buNone/>
            </a:pPr>
            <a:endParaRPr lang="ru-RU" sz="1400" dirty="0">
              <a:solidFill>
                <a:schemeClr val="dk1"/>
              </a:solidFill>
              <a:latin typeface="Nunito"/>
              <a:ea typeface="Nunito"/>
              <a:cs typeface="Nunito"/>
              <a:sym typeface="Nunito"/>
            </a:endParaRPr>
          </a:p>
          <a:p>
            <a:pPr marL="107950" lvl="0" indent="0">
              <a:buClr>
                <a:schemeClr val="dk1"/>
              </a:buClr>
              <a:buSzPts val="1900"/>
              <a:buNone/>
            </a:pPr>
            <a:r>
              <a:rPr lang="ru-RU" sz="1400" b="1" dirty="0">
                <a:solidFill>
                  <a:schemeClr val="dk1"/>
                </a:solidFill>
                <a:latin typeface="Nunito"/>
                <a:ea typeface="Nunito"/>
                <a:cs typeface="Nunito"/>
                <a:sym typeface="Nunito"/>
              </a:rPr>
              <a:t>Принцип работы</a:t>
            </a:r>
            <a:r>
              <a:rPr lang="ru-RU" sz="1400" dirty="0">
                <a:solidFill>
                  <a:schemeClr val="dk1"/>
                </a:solidFill>
                <a:latin typeface="Nunito"/>
                <a:ea typeface="Nunito"/>
                <a:cs typeface="Nunito"/>
                <a:sym typeface="Nunito"/>
              </a:rPr>
              <a:t>: Движущаяся платформа излучает импульсы и записывает фазу отраженного сигнала, а также местоположение платформы. По окончании интервала полученные данные обрабатываются совместно, как если бы они были получены при помощи антенной решётки, элементы которой соответствуют положениям платформы с радиолокатором во время каждого из периодов зондирования.</a:t>
            </a:r>
            <a:endParaRPr sz="1400"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4</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pic>
        <p:nvPicPr>
          <p:cNvPr id="1026" name="Picture 2" descr="Picture background">
            <a:extLst>
              <a:ext uri="{FF2B5EF4-FFF2-40B4-BE49-F238E27FC236}">
                <a16:creationId xmlns:a16="http://schemas.microsoft.com/office/drawing/2014/main" id="{B5A0982D-EB98-438F-94C0-5CE0EA5286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87121" y="809011"/>
            <a:ext cx="3734037" cy="20120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0"/>
            <a:ext cx="8520600" cy="48469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Что такое </a:t>
            </a:r>
            <a:r>
              <a:rPr lang="en-GB" b="1" dirty="0">
                <a:latin typeface="Nunito"/>
                <a:ea typeface="Nunito"/>
                <a:cs typeface="Nunito"/>
                <a:sym typeface="Nunito"/>
              </a:rPr>
              <a:t>SAR </a:t>
            </a:r>
            <a:r>
              <a:rPr lang="ru-RU" b="1" dirty="0">
                <a:latin typeface="Nunito"/>
                <a:ea typeface="Nunito"/>
                <a:cs typeface="Nunito"/>
                <a:sym typeface="Nunito"/>
              </a:rPr>
              <a:t>изображения</a:t>
            </a:r>
          </a:p>
        </p:txBody>
      </p:sp>
      <p:sp>
        <p:nvSpPr>
          <p:cNvPr id="86" name="Google Shape;86;p16"/>
          <p:cNvSpPr txBox="1">
            <a:spLocks noGrp="1"/>
          </p:cNvSpPr>
          <p:nvPr>
            <p:ph type="body" idx="1"/>
          </p:nvPr>
        </p:nvSpPr>
        <p:spPr>
          <a:xfrm>
            <a:off x="136385" y="616833"/>
            <a:ext cx="4968758" cy="4010961"/>
          </a:xfrm>
          <a:prstGeom prst="rect">
            <a:avLst/>
          </a:prstGeom>
        </p:spPr>
        <p:txBody>
          <a:bodyPr spcFirstLastPara="1" wrap="square" lIns="91425" tIns="91425" rIns="91425" bIns="91425" anchor="t" anchorCtr="0">
            <a:normAutofit/>
          </a:bodyPr>
          <a:lstStyle/>
          <a:p>
            <a:pPr marL="107950" lvl="0" indent="0">
              <a:spcAft>
                <a:spcPts val="600"/>
              </a:spcAft>
              <a:buClr>
                <a:schemeClr val="dk1"/>
              </a:buClr>
              <a:buSzPts val="1900"/>
              <a:buNone/>
            </a:pPr>
            <a:r>
              <a:rPr lang="ru-RU" sz="1600" b="1" dirty="0">
                <a:solidFill>
                  <a:schemeClr val="dk1"/>
                </a:solidFill>
                <a:latin typeface="Nunito"/>
                <a:ea typeface="Nunito"/>
                <a:cs typeface="Nunito"/>
                <a:sym typeface="Nunito"/>
              </a:rPr>
              <a:t>Геометрические искажения </a:t>
            </a:r>
            <a:r>
              <a:rPr lang="en-US" sz="1600" b="1" dirty="0">
                <a:solidFill>
                  <a:schemeClr val="dk1"/>
                </a:solidFill>
                <a:latin typeface="Nunito"/>
                <a:ea typeface="Nunito"/>
                <a:cs typeface="Nunito"/>
                <a:sym typeface="Nunito"/>
              </a:rPr>
              <a:t>SAR</a:t>
            </a:r>
            <a:r>
              <a:rPr lang="ru-RU" sz="1600" b="1" dirty="0">
                <a:solidFill>
                  <a:schemeClr val="dk1"/>
                </a:solidFill>
                <a:latin typeface="Nunito"/>
                <a:ea typeface="Nunito"/>
                <a:cs typeface="Nunito"/>
                <a:sym typeface="Nunito"/>
              </a:rPr>
              <a:t>:</a:t>
            </a:r>
          </a:p>
          <a:p>
            <a:pPr marL="393700" indent="-285750">
              <a:spcAft>
                <a:spcPts val="600"/>
              </a:spcAft>
              <a:buClr>
                <a:schemeClr val="dk1"/>
              </a:buClr>
              <a:buSzPts val="1900"/>
              <a:buFont typeface="Arial" panose="020B0604020202020204" pitchFamily="34" charset="0"/>
              <a:buChar char="•"/>
            </a:pPr>
            <a:r>
              <a:rPr lang="ru-RU" sz="1600" dirty="0" err="1">
                <a:solidFill>
                  <a:schemeClr val="dk1"/>
                </a:solidFill>
                <a:latin typeface="Nunito"/>
                <a:ea typeface="Nunito"/>
                <a:cs typeface="Nunito"/>
                <a:sym typeface="Nunito"/>
              </a:rPr>
              <a:t>Foreshortening</a:t>
            </a:r>
            <a:r>
              <a:rPr lang="ru-RU" sz="1600" dirty="0">
                <a:solidFill>
                  <a:schemeClr val="dk1"/>
                </a:solidFill>
                <a:latin typeface="Nunito"/>
                <a:ea typeface="Nunito"/>
                <a:cs typeface="Nunito"/>
                <a:sym typeface="Nunito"/>
              </a:rPr>
              <a:t> (Укорочение): Ближний склон горы кажется круче и ярче.</a:t>
            </a:r>
          </a:p>
          <a:p>
            <a:pPr marL="393700" indent="-285750">
              <a:spcAft>
                <a:spcPts val="600"/>
              </a:spcAft>
              <a:buClr>
                <a:schemeClr val="dk1"/>
              </a:buClr>
              <a:buSzPts val="1900"/>
              <a:buFont typeface="Arial" panose="020B0604020202020204" pitchFamily="34" charset="0"/>
              <a:buChar char="•"/>
            </a:pPr>
            <a:r>
              <a:rPr lang="ru-RU" sz="1600" dirty="0" err="1">
                <a:solidFill>
                  <a:schemeClr val="dk1"/>
                </a:solidFill>
                <a:latin typeface="Nunito"/>
                <a:ea typeface="Nunito"/>
                <a:cs typeface="Nunito"/>
                <a:sym typeface="Nunito"/>
              </a:rPr>
              <a:t>Layover</a:t>
            </a:r>
            <a:r>
              <a:rPr lang="ru-RU" sz="1600" dirty="0">
                <a:solidFill>
                  <a:schemeClr val="dk1"/>
                </a:solidFill>
                <a:latin typeface="Nunito"/>
                <a:ea typeface="Nunito"/>
                <a:cs typeface="Nunito"/>
                <a:sym typeface="Nunito"/>
              </a:rPr>
              <a:t> (Наложение): Вершина горы "падает" на передний план, перекрывая подножие.</a:t>
            </a:r>
          </a:p>
          <a:p>
            <a:pPr marL="393700" indent="-285750">
              <a:spcAft>
                <a:spcPts val="600"/>
              </a:spcAft>
              <a:buClr>
                <a:schemeClr val="dk1"/>
              </a:buClr>
              <a:buSzPts val="1900"/>
              <a:buFont typeface="Arial" panose="020B0604020202020204" pitchFamily="34" charset="0"/>
              <a:buChar char="•"/>
            </a:pPr>
            <a:r>
              <a:rPr lang="ru-RU" sz="1600" dirty="0" err="1">
                <a:solidFill>
                  <a:schemeClr val="dk1"/>
                </a:solidFill>
                <a:latin typeface="Nunito"/>
                <a:ea typeface="Nunito"/>
                <a:cs typeface="Nunito"/>
                <a:sym typeface="Nunito"/>
              </a:rPr>
              <a:t>Shadow</a:t>
            </a:r>
            <a:r>
              <a:rPr lang="ru-RU" sz="1600" dirty="0">
                <a:solidFill>
                  <a:schemeClr val="dk1"/>
                </a:solidFill>
                <a:latin typeface="Nunito"/>
                <a:ea typeface="Nunito"/>
                <a:cs typeface="Nunito"/>
                <a:sym typeface="Nunito"/>
              </a:rPr>
              <a:t> (Тень): Область за высоким объектом, куда не попал сигнал (абсолютно черная).</a:t>
            </a:r>
            <a:endParaRPr sz="1600"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5</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pic>
        <p:nvPicPr>
          <p:cNvPr id="2050" name="Picture 2" descr="Picture background">
            <a:extLst>
              <a:ext uri="{FF2B5EF4-FFF2-40B4-BE49-F238E27FC236}">
                <a16:creationId xmlns:a16="http://schemas.microsoft.com/office/drawing/2014/main" id="{71A5881D-AAA1-4656-B23B-E4E4D5B740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3258" y="951539"/>
            <a:ext cx="3999273" cy="28665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4762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0"/>
            <a:ext cx="8520600" cy="48469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Что такое </a:t>
            </a:r>
            <a:r>
              <a:rPr lang="en-GB" b="1" dirty="0">
                <a:latin typeface="Nunito"/>
                <a:ea typeface="Nunito"/>
                <a:cs typeface="Nunito"/>
                <a:sym typeface="Nunito"/>
              </a:rPr>
              <a:t>SAR </a:t>
            </a:r>
            <a:r>
              <a:rPr lang="ru-RU" b="1" dirty="0">
                <a:latin typeface="Nunito"/>
                <a:ea typeface="Nunito"/>
                <a:cs typeface="Nunito"/>
                <a:sym typeface="Nunito"/>
              </a:rPr>
              <a:t>изображения</a:t>
            </a:r>
          </a:p>
        </p:txBody>
      </p:sp>
      <p:sp>
        <p:nvSpPr>
          <p:cNvPr id="86" name="Google Shape;86;p16"/>
          <p:cNvSpPr txBox="1">
            <a:spLocks noGrp="1"/>
          </p:cNvSpPr>
          <p:nvPr>
            <p:ph type="body" idx="1"/>
          </p:nvPr>
        </p:nvSpPr>
        <p:spPr>
          <a:xfrm>
            <a:off x="136385" y="616833"/>
            <a:ext cx="8542666" cy="4010961"/>
          </a:xfrm>
          <a:prstGeom prst="rect">
            <a:avLst/>
          </a:prstGeom>
        </p:spPr>
        <p:txBody>
          <a:bodyPr spcFirstLastPara="1" wrap="square" lIns="91425" tIns="91425" rIns="91425" bIns="91425" anchor="t" anchorCtr="0">
            <a:normAutofit/>
          </a:bodyPr>
          <a:lstStyle/>
          <a:p>
            <a:pPr marL="107950" lvl="0" indent="0">
              <a:spcAft>
                <a:spcPts val="600"/>
              </a:spcAft>
              <a:buClr>
                <a:schemeClr val="dk1"/>
              </a:buClr>
              <a:buSzPts val="1900"/>
              <a:buNone/>
            </a:pPr>
            <a:r>
              <a:rPr lang="ru-RU" b="1" dirty="0">
                <a:solidFill>
                  <a:schemeClr val="dk1"/>
                </a:solidFill>
                <a:latin typeface="Nunito"/>
                <a:ea typeface="Nunito"/>
                <a:cs typeface="Nunito"/>
                <a:sym typeface="Nunito"/>
              </a:rPr>
              <a:t>Виды </a:t>
            </a:r>
            <a:r>
              <a:rPr lang="en-US" b="1" dirty="0">
                <a:solidFill>
                  <a:schemeClr val="dk1"/>
                </a:solidFill>
                <a:latin typeface="Nunito"/>
                <a:ea typeface="Nunito"/>
                <a:cs typeface="Nunito"/>
                <a:sym typeface="Nunito"/>
              </a:rPr>
              <a:t>SAR </a:t>
            </a:r>
            <a:r>
              <a:rPr lang="ru-RU" b="1" dirty="0">
                <a:solidFill>
                  <a:schemeClr val="dk1"/>
                </a:solidFill>
                <a:latin typeface="Nunito"/>
                <a:ea typeface="Nunito"/>
                <a:cs typeface="Nunito"/>
                <a:sym typeface="Nunito"/>
              </a:rPr>
              <a:t>изображений:</a:t>
            </a:r>
          </a:p>
          <a:p>
            <a:pPr marL="393700" indent="-285750">
              <a:spcAft>
                <a:spcPts val="600"/>
              </a:spcAft>
              <a:buClr>
                <a:schemeClr val="dk1"/>
              </a:buClr>
              <a:buSzPts val="1900"/>
              <a:buFont typeface="Arial" panose="020B0604020202020204" pitchFamily="34" charset="0"/>
              <a:buChar char="•"/>
            </a:pPr>
            <a:r>
              <a:rPr lang="ru-RU" i="1" dirty="0">
                <a:solidFill>
                  <a:schemeClr val="dk1"/>
                </a:solidFill>
                <a:latin typeface="Nunito"/>
                <a:ea typeface="Nunito"/>
                <a:cs typeface="Nunito"/>
                <a:sym typeface="Nunito"/>
              </a:rPr>
              <a:t>по поляризации</a:t>
            </a:r>
            <a:r>
              <a:rPr lang="ru-RU" b="1" dirty="0">
                <a:solidFill>
                  <a:schemeClr val="dk1"/>
                </a:solidFill>
                <a:latin typeface="Nunito"/>
                <a:ea typeface="Nunito"/>
                <a:cs typeface="Nunito"/>
                <a:sym typeface="Nunito"/>
              </a:rPr>
              <a:t>: </a:t>
            </a:r>
            <a:br>
              <a:rPr lang="ru-RU" b="1" dirty="0">
                <a:solidFill>
                  <a:schemeClr val="dk1"/>
                </a:solidFill>
                <a:latin typeface="Nunito"/>
                <a:ea typeface="Nunito"/>
                <a:cs typeface="Nunito"/>
                <a:sym typeface="Nunito"/>
              </a:rPr>
            </a:br>
            <a:r>
              <a:rPr lang="ru-RU" dirty="0">
                <a:solidFill>
                  <a:schemeClr val="dk1"/>
                </a:solidFill>
                <a:latin typeface="Nunito"/>
                <a:ea typeface="Nunito"/>
                <a:cs typeface="Nunito"/>
                <a:sym typeface="Nunito"/>
              </a:rPr>
              <a:t>V</a:t>
            </a:r>
            <a:r>
              <a:rPr lang="en-US" dirty="0">
                <a:solidFill>
                  <a:schemeClr val="dk1"/>
                </a:solidFill>
                <a:latin typeface="Nunito"/>
                <a:ea typeface="Nunito"/>
                <a:cs typeface="Nunito"/>
                <a:sym typeface="Nunito"/>
              </a:rPr>
              <a:t>V</a:t>
            </a:r>
            <a:r>
              <a:rPr lang="ru-RU" dirty="0">
                <a:solidFill>
                  <a:schemeClr val="dk1"/>
                </a:solidFill>
                <a:latin typeface="Nunito"/>
                <a:ea typeface="Nunito"/>
                <a:cs typeface="Nunito"/>
                <a:sym typeface="Nunito"/>
              </a:rPr>
              <a:t>; VH/HV</a:t>
            </a:r>
            <a:r>
              <a:rPr lang="en-US" dirty="0">
                <a:solidFill>
                  <a:schemeClr val="dk1"/>
                </a:solidFill>
                <a:latin typeface="Nunito"/>
                <a:ea typeface="Nunito"/>
                <a:cs typeface="Nunito"/>
                <a:sym typeface="Nunito"/>
              </a:rPr>
              <a:t>; VV/VH</a:t>
            </a:r>
            <a:r>
              <a:rPr lang="ru-RU" dirty="0">
                <a:solidFill>
                  <a:schemeClr val="dk1"/>
                </a:solidFill>
                <a:latin typeface="Nunito"/>
                <a:ea typeface="Nunito"/>
                <a:cs typeface="Nunito"/>
                <a:sym typeface="Nunito"/>
              </a:rPr>
              <a:t>; </a:t>
            </a:r>
            <a:r>
              <a:rPr lang="en-US" dirty="0">
                <a:solidFill>
                  <a:schemeClr val="dk1"/>
                </a:solidFill>
                <a:latin typeface="Nunito"/>
                <a:ea typeface="Nunito"/>
                <a:cs typeface="Nunito"/>
                <a:sym typeface="Nunito"/>
              </a:rPr>
              <a:t>HH/HV</a:t>
            </a:r>
          </a:p>
          <a:p>
            <a:pPr marL="393700" indent="-285750">
              <a:spcAft>
                <a:spcPts val="600"/>
              </a:spcAft>
              <a:buClr>
                <a:schemeClr val="dk1"/>
              </a:buClr>
              <a:buSzPts val="1900"/>
              <a:buFont typeface="Arial" panose="020B0604020202020204" pitchFamily="34" charset="0"/>
              <a:buChar char="•"/>
            </a:pPr>
            <a:r>
              <a:rPr lang="ru-RU" i="1" dirty="0">
                <a:solidFill>
                  <a:schemeClr val="dk1"/>
                </a:solidFill>
                <a:latin typeface="Nunito"/>
                <a:ea typeface="Nunito"/>
                <a:cs typeface="Nunito"/>
                <a:sym typeface="Nunito"/>
              </a:rPr>
              <a:t>по формату данных</a:t>
            </a:r>
            <a:r>
              <a:rPr lang="ru-RU" dirty="0">
                <a:solidFill>
                  <a:schemeClr val="dk1"/>
                </a:solidFill>
                <a:latin typeface="Nunito"/>
                <a:ea typeface="Nunito"/>
                <a:cs typeface="Nunito"/>
                <a:sym typeface="Nunito"/>
              </a:rPr>
              <a:t>: </a:t>
            </a:r>
            <a:br>
              <a:rPr lang="ru-RU" dirty="0">
                <a:solidFill>
                  <a:schemeClr val="dk1"/>
                </a:solidFill>
                <a:latin typeface="Nunito"/>
                <a:ea typeface="Nunito"/>
                <a:cs typeface="Nunito"/>
                <a:sym typeface="Nunito"/>
              </a:rPr>
            </a:br>
            <a:r>
              <a:rPr lang="en-US" dirty="0">
                <a:solidFill>
                  <a:schemeClr val="dk1"/>
                </a:solidFill>
                <a:latin typeface="Nunito"/>
                <a:ea typeface="Nunito"/>
                <a:cs typeface="Nunito"/>
                <a:sym typeface="Nunito"/>
              </a:rPr>
              <a:t>SLC (single look complex)</a:t>
            </a:r>
            <a:r>
              <a:rPr lang="ru-RU" dirty="0">
                <a:solidFill>
                  <a:schemeClr val="dk1"/>
                </a:solidFill>
                <a:latin typeface="Nunito"/>
                <a:ea typeface="Nunito"/>
                <a:cs typeface="Nunito"/>
                <a:sym typeface="Nunito"/>
              </a:rPr>
              <a:t>; </a:t>
            </a:r>
            <a:r>
              <a:rPr lang="en-US" dirty="0">
                <a:solidFill>
                  <a:schemeClr val="dk1"/>
                </a:solidFill>
                <a:latin typeface="Nunito"/>
                <a:ea typeface="Nunito"/>
                <a:cs typeface="Nunito"/>
                <a:sym typeface="Nunito"/>
              </a:rPr>
              <a:t>GRD (ground range detected)</a:t>
            </a:r>
            <a:endParaRPr lang="ru-RU" dirty="0">
              <a:solidFill>
                <a:schemeClr val="dk1"/>
              </a:solidFill>
              <a:latin typeface="Nunito"/>
              <a:ea typeface="Nunito"/>
              <a:cs typeface="Nunito"/>
              <a:sym typeface="Nunito"/>
            </a:endParaRPr>
          </a:p>
          <a:p>
            <a:pPr marL="393700" indent="-285750">
              <a:spcAft>
                <a:spcPts val="600"/>
              </a:spcAft>
              <a:buClr>
                <a:schemeClr val="dk1"/>
              </a:buClr>
              <a:buSzPts val="1900"/>
              <a:buFont typeface="Arial" panose="020B0604020202020204" pitchFamily="34" charset="0"/>
              <a:buChar char="•"/>
            </a:pPr>
            <a:r>
              <a:rPr lang="ru-RU" i="1" dirty="0">
                <a:solidFill>
                  <a:schemeClr val="dk1"/>
                </a:solidFill>
                <a:latin typeface="Nunito"/>
                <a:ea typeface="Nunito"/>
                <a:cs typeface="Nunito"/>
                <a:sym typeface="Nunito"/>
              </a:rPr>
              <a:t>по режиму съёмки</a:t>
            </a:r>
            <a:r>
              <a:rPr lang="ru-RU" dirty="0">
                <a:solidFill>
                  <a:schemeClr val="dk1"/>
                </a:solidFill>
                <a:latin typeface="Nunito"/>
                <a:ea typeface="Nunito"/>
                <a:cs typeface="Nunito"/>
                <a:sym typeface="Nunito"/>
              </a:rPr>
              <a:t>: </a:t>
            </a:r>
            <a:br>
              <a:rPr lang="ru-RU" dirty="0">
                <a:solidFill>
                  <a:schemeClr val="dk1"/>
                </a:solidFill>
                <a:latin typeface="Nunito"/>
                <a:ea typeface="Nunito"/>
                <a:cs typeface="Nunito"/>
                <a:sym typeface="Nunito"/>
              </a:rPr>
            </a:br>
            <a:r>
              <a:rPr lang="en-US" dirty="0" err="1">
                <a:solidFill>
                  <a:schemeClr val="dk1"/>
                </a:solidFill>
                <a:latin typeface="Nunito"/>
                <a:ea typeface="Nunito"/>
                <a:cs typeface="Nunito"/>
                <a:sym typeface="Nunito"/>
              </a:rPr>
              <a:t>Stripmap</a:t>
            </a:r>
            <a:r>
              <a:rPr lang="ru-RU" dirty="0">
                <a:solidFill>
                  <a:schemeClr val="dk1"/>
                </a:solidFill>
                <a:latin typeface="Nunito"/>
                <a:ea typeface="Nunito"/>
                <a:cs typeface="Nunito"/>
                <a:sym typeface="Nunito"/>
              </a:rPr>
              <a:t>, </a:t>
            </a:r>
            <a:r>
              <a:rPr lang="en-US" dirty="0">
                <a:solidFill>
                  <a:schemeClr val="dk1"/>
                </a:solidFill>
                <a:latin typeface="Nunito"/>
                <a:ea typeface="Nunito"/>
                <a:cs typeface="Nunito"/>
                <a:sym typeface="Nunito"/>
              </a:rPr>
              <a:t>Spotlight</a:t>
            </a:r>
            <a:r>
              <a:rPr lang="ru-RU" dirty="0">
                <a:solidFill>
                  <a:schemeClr val="dk1"/>
                </a:solidFill>
                <a:latin typeface="Nunito"/>
                <a:ea typeface="Nunito"/>
                <a:cs typeface="Nunito"/>
                <a:sym typeface="Nunito"/>
              </a:rPr>
              <a:t>, </a:t>
            </a:r>
            <a:r>
              <a:rPr lang="en-US" dirty="0">
                <a:solidFill>
                  <a:schemeClr val="dk1"/>
                </a:solidFill>
                <a:latin typeface="Nunito"/>
                <a:ea typeface="Nunito"/>
                <a:cs typeface="Nunito"/>
                <a:sym typeface="Nunito"/>
              </a:rPr>
              <a:t>Sliding Spotlight, Scan</a:t>
            </a:r>
            <a:r>
              <a:rPr lang="ru-RU" dirty="0">
                <a:solidFill>
                  <a:schemeClr val="dk1"/>
                </a:solidFill>
                <a:latin typeface="Nunito"/>
                <a:ea typeface="Nunito"/>
                <a:cs typeface="Nunito"/>
                <a:sym typeface="Nunito"/>
              </a:rPr>
              <a:t> (</a:t>
            </a:r>
            <a:r>
              <a:rPr lang="en-US" dirty="0" err="1">
                <a:solidFill>
                  <a:schemeClr val="dk1"/>
                </a:solidFill>
                <a:latin typeface="Nunito"/>
                <a:ea typeface="Nunito"/>
                <a:cs typeface="Nunito"/>
                <a:sym typeface="Nunito"/>
              </a:rPr>
              <a:t>ScanSAR</a:t>
            </a:r>
            <a:r>
              <a:rPr lang="en-US" dirty="0">
                <a:solidFill>
                  <a:schemeClr val="dk1"/>
                </a:solidFill>
                <a:latin typeface="Nunito"/>
                <a:ea typeface="Nunito"/>
                <a:cs typeface="Nunito"/>
                <a:sym typeface="Nunito"/>
              </a:rPr>
              <a:t>)</a:t>
            </a:r>
            <a:r>
              <a:rPr lang="ru-RU" dirty="0">
                <a:solidFill>
                  <a:schemeClr val="dk1"/>
                </a:solidFill>
                <a:latin typeface="Nunito"/>
                <a:ea typeface="Nunito"/>
                <a:cs typeface="Nunito"/>
                <a:sym typeface="Nunito"/>
              </a:rPr>
              <a:t>,</a:t>
            </a:r>
            <a:r>
              <a:rPr lang="en-US" dirty="0">
                <a:solidFill>
                  <a:schemeClr val="dk1"/>
                </a:solidFill>
                <a:latin typeface="Nunito"/>
                <a:ea typeface="Nunito"/>
                <a:cs typeface="Nunito"/>
                <a:sym typeface="Nunito"/>
              </a:rPr>
              <a:t> TOPS (Terrain Observation by Progressive Scans)</a:t>
            </a:r>
            <a:endParaRPr lang="ru-RU"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6</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spTree>
    <p:extLst>
      <p:ext uri="{BB962C8B-B14F-4D97-AF65-F5344CB8AC3E}">
        <p14:creationId xmlns:p14="http://schemas.microsoft.com/office/powerpoint/2010/main" val="2135822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0"/>
            <a:ext cx="8520600" cy="48469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Что такое </a:t>
            </a:r>
            <a:r>
              <a:rPr lang="en-GB" b="1" dirty="0">
                <a:latin typeface="Nunito"/>
                <a:ea typeface="Nunito"/>
                <a:cs typeface="Nunito"/>
                <a:sym typeface="Nunito"/>
              </a:rPr>
              <a:t>SAR </a:t>
            </a:r>
            <a:r>
              <a:rPr lang="ru-RU" b="1" dirty="0">
                <a:latin typeface="Nunito"/>
                <a:ea typeface="Nunito"/>
                <a:cs typeface="Nunito"/>
                <a:sym typeface="Nunito"/>
              </a:rPr>
              <a:t>изображения</a:t>
            </a:r>
          </a:p>
        </p:txBody>
      </p:sp>
      <p:sp>
        <p:nvSpPr>
          <p:cNvPr id="86" name="Google Shape;86;p16"/>
          <p:cNvSpPr txBox="1">
            <a:spLocks noGrp="1"/>
          </p:cNvSpPr>
          <p:nvPr>
            <p:ph type="body" idx="1"/>
          </p:nvPr>
        </p:nvSpPr>
        <p:spPr>
          <a:xfrm>
            <a:off x="136385" y="616833"/>
            <a:ext cx="8542666" cy="4010961"/>
          </a:xfrm>
          <a:prstGeom prst="rect">
            <a:avLst/>
          </a:prstGeom>
        </p:spPr>
        <p:txBody>
          <a:bodyPr spcFirstLastPara="1" wrap="square" lIns="91425" tIns="91425" rIns="91425" bIns="91425" anchor="t" anchorCtr="0">
            <a:normAutofit/>
          </a:bodyPr>
          <a:lstStyle/>
          <a:p>
            <a:pPr marL="107950" lvl="0" indent="0">
              <a:spcAft>
                <a:spcPts val="600"/>
              </a:spcAft>
              <a:buClr>
                <a:schemeClr val="dk1"/>
              </a:buClr>
              <a:buSzPts val="1900"/>
              <a:buNone/>
            </a:pPr>
            <a:r>
              <a:rPr lang="ru-RU" b="1" dirty="0">
                <a:solidFill>
                  <a:schemeClr val="dk1"/>
                </a:solidFill>
                <a:latin typeface="Nunito"/>
                <a:ea typeface="Nunito"/>
                <a:cs typeface="Nunito"/>
                <a:sym typeface="Nunito"/>
              </a:rPr>
              <a:t>Примеры </a:t>
            </a:r>
            <a:r>
              <a:rPr lang="en-US" b="1" dirty="0">
                <a:solidFill>
                  <a:schemeClr val="dk1"/>
                </a:solidFill>
                <a:latin typeface="Nunito"/>
                <a:ea typeface="Nunito"/>
                <a:cs typeface="Nunito"/>
                <a:sym typeface="Nunito"/>
              </a:rPr>
              <a:t>SAR </a:t>
            </a:r>
            <a:r>
              <a:rPr lang="ru-RU" b="1" dirty="0">
                <a:solidFill>
                  <a:schemeClr val="dk1"/>
                </a:solidFill>
                <a:latin typeface="Nunito"/>
                <a:ea typeface="Nunito"/>
                <a:cs typeface="Nunito"/>
                <a:sym typeface="Nunito"/>
              </a:rPr>
              <a:t>изображений:</a:t>
            </a: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7</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pic>
        <p:nvPicPr>
          <p:cNvPr id="3" name="Рисунок 2">
            <a:extLst>
              <a:ext uri="{FF2B5EF4-FFF2-40B4-BE49-F238E27FC236}">
                <a16:creationId xmlns:a16="http://schemas.microsoft.com/office/drawing/2014/main" id="{ADFB1110-AE46-41F2-8CC1-BDFAC222ECE9}"/>
              </a:ext>
            </a:extLst>
          </p:cNvPr>
          <p:cNvPicPr>
            <a:picLocks noChangeAspect="1"/>
          </p:cNvPicPr>
          <p:nvPr/>
        </p:nvPicPr>
        <p:blipFill>
          <a:blip r:embed="rId5"/>
          <a:stretch>
            <a:fillRect/>
          </a:stretch>
        </p:blipFill>
        <p:spPr>
          <a:xfrm>
            <a:off x="6075336" y="2383639"/>
            <a:ext cx="2183324" cy="2183324"/>
          </a:xfrm>
          <a:prstGeom prst="rect">
            <a:avLst/>
          </a:prstGeom>
        </p:spPr>
      </p:pic>
      <p:pic>
        <p:nvPicPr>
          <p:cNvPr id="5" name="Рисунок 4">
            <a:extLst>
              <a:ext uri="{FF2B5EF4-FFF2-40B4-BE49-F238E27FC236}">
                <a16:creationId xmlns:a16="http://schemas.microsoft.com/office/drawing/2014/main" id="{530E02CB-EE31-4851-81AF-01DEA3E3E47B}"/>
              </a:ext>
            </a:extLst>
          </p:cNvPr>
          <p:cNvPicPr>
            <a:picLocks noChangeAspect="1"/>
          </p:cNvPicPr>
          <p:nvPr/>
        </p:nvPicPr>
        <p:blipFill>
          <a:blip r:embed="rId6"/>
          <a:stretch>
            <a:fillRect/>
          </a:stretch>
        </p:blipFill>
        <p:spPr>
          <a:xfrm>
            <a:off x="6075336" y="109521"/>
            <a:ext cx="2183324" cy="2183324"/>
          </a:xfrm>
          <a:prstGeom prst="rect">
            <a:avLst/>
          </a:prstGeom>
        </p:spPr>
      </p:pic>
      <p:pic>
        <p:nvPicPr>
          <p:cNvPr id="7" name="Рисунок 6">
            <a:extLst>
              <a:ext uri="{FF2B5EF4-FFF2-40B4-BE49-F238E27FC236}">
                <a16:creationId xmlns:a16="http://schemas.microsoft.com/office/drawing/2014/main" id="{159395E8-D120-4681-87AA-C9A657599391}"/>
              </a:ext>
            </a:extLst>
          </p:cNvPr>
          <p:cNvPicPr>
            <a:picLocks noChangeAspect="1"/>
          </p:cNvPicPr>
          <p:nvPr/>
        </p:nvPicPr>
        <p:blipFill>
          <a:blip r:embed="rId7"/>
          <a:stretch>
            <a:fillRect/>
          </a:stretch>
        </p:blipFill>
        <p:spPr>
          <a:xfrm>
            <a:off x="3958332" y="672756"/>
            <a:ext cx="1620089" cy="1620089"/>
          </a:xfrm>
          <a:prstGeom prst="rect">
            <a:avLst/>
          </a:prstGeom>
        </p:spPr>
      </p:pic>
      <p:pic>
        <p:nvPicPr>
          <p:cNvPr id="9" name="Рисунок 8">
            <a:extLst>
              <a:ext uri="{FF2B5EF4-FFF2-40B4-BE49-F238E27FC236}">
                <a16:creationId xmlns:a16="http://schemas.microsoft.com/office/drawing/2014/main" id="{80DFB932-8A10-41C8-ABBE-61DAC32171ED}"/>
              </a:ext>
            </a:extLst>
          </p:cNvPr>
          <p:cNvPicPr>
            <a:picLocks noChangeAspect="1"/>
          </p:cNvPicPr>
          <p:nvPr/>
        </p:nvPicPr>
        <p:blipFill>
          <a:blip r:embed="rId8"/>
          <a:stretch>
            <a:fillRect/>
          </a:stretch>
        </p:blipFill>
        <p:spPr>
          <a:xfrm>
            <a:off x="3395097" y="2383639"/>
            <a:ext cx="2183324" cy="2183324"/>
          </a:xfrm>
          <a:prstGeom prst="rect">
            <a:avLst/>
          </a:prstGeom>
        </p:spPr>
      </p:pic>
      <p:pic>
        <p:nvPicPr>
          <p:cNvPr id="11" name="Рисунок 10">
            <a:extLst>
              <a:ext uri="{FF2B5EF4-FFF2-40B4-BE49-F238E27FC236}">
                <a16:creationId xmlns:a16="http://schemas.microsoft.com/office/drawing/2014/main" id="{75C0F7FF-BB6C-48AE-8F38-819F58E24A28}"/>
              </a:ext>
            </a:extLst>
          </p:cNvPr>
          <p:cNvPicPr>
            <a:picLocks noChangeAspect="1"/>
          </p:cNvPicPr>
          <p:nvPr/>
        </p:nvPicPr>
        <p:blipFill>
          <a:blip r:embed="rId9"/>
          <a:stretch>
            <a:fillRect/>
          </a:stretch>
        </p:blipFill>
        <p:spPr>
          <a:xfrm>
            <a:off x="714160" y="2383639"/>
            <a:ext cx="2183324" cy="2183324"/>
          </a:xfrm>
          <a:prstGeom prst="rect">
            <a:avLst/>
          </a:prstGeom>
        </p:spPr>
      </p:pic>
    </p:spTree>
    <p:extLst>
      <p:ext uri="{BB962C8B-B14F-4D97-AF65-F5344CB8AC3E}">
        <p14:creationId xmlns:p14="http://schemas.microsoft.com/office/powerpoint/2010/main" val="3769922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8"/>
          <p:cNvSpPr/>
          <p:nvPr/>
        </p:nvSpPr>
        <p:spPr>
          <a:xfrm>
            <a:off x="0" y="452450"/>
            <a:ext cx="9144000" cy="46911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 name="Google Shape;105;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8</a:t>
            </a:fld>
            <a:endParaRPr>
              <a:solidFill>
                <a:schemeClr val="lt1"/>
              </a:solidFill>
            </a:endParaRPr>
          </a:p>
        </p:txBody>
      </p:sp>
      <p:sp>
        <p:nvSpPr>
          <p:cNvPr id="106" name="Google Shape;106;p18"/>
          <p:cNvSpPr txBox="1">
            <a:spLocks noGrp="1"/>
          </p:cNvSpPr>
          <p:nvPr>
            <p:ph type="ctrTitle"/>
          </p:nvPr>
        </p:nvSpPr>
        <p:spPr>
          <a:xfrm>
            <a:off x="0" y="1639721"/>
            <a:ext cx="9144000" cy="1501729"/>
          </a:xfrm>
          <a:prstGeom prst="rect">
            <a:avLst/>
          </a:prstGeom>
        </p:spPr>
        <p:txBody>
          <a:bodyPr spcFirstLastPara="1" wrap="square" lIns="91425" tIns="91425" rIns="91425" bIns="91425" anchor="b" anchorCtr="0">
            <a:normAutofit fontScale="90000"/>
          </a:bodyPr>
          <a:lstStyle/>
          <a:p>
            <a:pPr lvl="0">
              <a:buSzPts val="990"/>
            </a:pPr>
            <a:r>
              <a:rPr lang="ru-RU" b="1" dirty="0">
                <a:solidFill>
                  <a:schemeClr val="lt1"/>
                </a:solidFill>
                <a:latin typeface="Nunito"/>
                <a:ea typeface="Nunito"/>
                <a:cs typeface="Nunito"/>
                <a:sym typeface="Nunito"/>
              </a:rPr>
              <a:t>Задачи, решаемые при помощи SAR</a:t>
            </a:r>
            <a:endParaRPr sz="2000" dirty="0">
              <a:solidFill>
                <a:schemeClr val="lt1"/>
              </a:solidFill>
              <a:latin typeface="Nunito"/>
              <a:ea typeface="Nunito"/>
              <a:cs typeface="Nunito"/>
              <a:sym typeface="Nunito"/>
            </a:endParaRPr>
          </a:p>
        </p:txBody>
      </p:sp>
      <p:pic>
        <p:nvPicPr>
          <p:cNvPr id="107" name="Google Shape;107;p18"/>
          <p:cNvPicPr preferRelativeResize="0"/>
          <p:nvPr/>
        </p:nvPicPr>
        <p:blipFill rotWithShape="1">
          <a:blip r:embed="rId3">
            <a:alphaModFix/>
          </a:blip>
          <a:srcRect l="30316" t="32807" r="29285" b="24140"/>
          <a:stretch/>
        </p:blipFill>
        <p:spPr>
          <a:xfrm>
            <a:off x="2865625" y="3973562"/>
            <a:ext cx="1015825" cy="1082575"/>
          </a:xfrm>
          <a:prstGeom prst="rect">
            <a:avLst/>
          </a:prstGeom>
          <a:noFill/>
          <a:ln>
            <a:noFill/>
          </a:ln>
        </p:spPr>
      </p:pic>
      <p:pic>
        <p:nvPicPr>
          <p:cNvPr id="108" name="Google Shape;108;p18"/>
          <p:cNvPicPr preferRelativeResize="0"/>
          <p:nvPr/>
        </p:nvPicPr>
        <p:blipFill rotWithShape="1">
          <a:blip r:embed="rId4">
            <a:alphaModFix/>
          </a:blip>
          <a:srcRect l="3410" t="59058" r="2904" b="6827"/>
          <a:stretch/>
        </p:blipFill>
        <p:spPr>
          <a:xfrm>
            <a:off x="205475" y="4048412"/>
            <a:ext cx="2561601" cy="932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86683"/>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Задачи, решаемые при помощи SAR</a:t>
            </a:r>
            <a:endParaRPr b="1" dirty="0">
              <a:latin typeface="Nunito"/>
              <a:ea typeface="Nunito"/>
              <a:cs typeface="Nunito"/>
              <a:sym typeface="Nunito"/>
            </a:endParaRPr>
          </a:p>
        </p:txBody>
      </p:sp>
      <p:sp>
        <p:nvSpPr>
          <p:cNvPr id="86" name="Google Shape;86;p16"/>
          <p:cNvSpPr txBox="1">
            <a:spLocks noGrp="1"/>
          </p:cNvSpPr>
          <p:nvPr>
            <p:ph type="body" idx="1"/>
          </p:nvPr>
        </p:nvSpPr>
        <p:spPr>
          <a:xfrm>
            <a:off x="311700" y="972750"/>
            <a:ext cx="8627722" cy="3596100"/>
          </a:xfrm>
          <a:prstGeom prst="rect">
            <a:avLst/>
          </a:prstGeom>
        </p:spPr>
        <p:txBody>
          <a:bodyPr spcFirstLastPara="1" wrap="square" lIns="91425" tIns="91425" rIns="91425" bIns="91425" anchor="t" anchorCtr="0">
            <a:normAutofit/>
          </a:bodyPr>
          <a:lstStyle/>
          <a:p>
            <a:pPr marL="107950" lvl="0" indent="0" algn="l" rtl="0">
              <a:spcBef>
                <a:spcPts val="0"/>
              </a:spcBef>
              <a:spcAft>
                <a:spcPts val="0"/>
              </a:spcAft>
              <a:buClr>
                <a:schemeClr val="dk1"/>
              </a:buClr>
              <a:buSzPts val="1900"/>
              <a:buNone/>
            </a:pPr>
            <a:r>
              <a:rPr lang="ru-RU" b="1" dirty="0">
                <a:solidFill>
                  <a:schemeClr val="dk1"/>
                </a:solidFill>
                <a:latin typeface="Nunito"/>
                <a:ea typeface="Nunito"/>
                <a:cs typeface="Nunito"/>
                <a:sym typeface="Nunito"/>
              </a:rPr>
              <a:t>Примеры применения </a:t>
            </a:r>
            <a:r>
              <a:rPr lang="en-US" b="1" dirty="0">
                <a:solidFill>
                  <a:schemeClr val="dk1"/>
                </a:solidFill>
                <a:latin typeface="Nunito"/>
                <a:ea typeface="Nunito"/>
                <a:cs typeface="Nunito"/>
                <a:sym typeface="Nunito"/>
              </a:rPr>
              <a:t>SAR</a:t>
            </a:r>
            <a:r>
              <a:rPr lang="ru-RU" dirty="0">
                <a:solidFill>
                  <a:schemeClr val="dk1"/>
                </a:solidFill>
                <a:latin typeface="Nunito"/>
                <a:ea typeface="Nunito"/>
                <a:cs typeface="Nunito"/>
                <a:sym typeface="Nunito"/>
              </a:rPr>
              <a:t>:</a:t>
            </a:r>
          </a:p>
          <a:p>
            <a:pPr marL="4508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Мониторинг изменений и геологические исследования (оценка влажности почвы и просадки грунта, мониторинг роста культур)</a:t>
            </a:r>
          </a:p>
          <a:p>
            <a:pPr marL="4508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Мониторинг катастроф (обнаружение разливов нефти, картографирование наводнений)</a:t>
            </a:r>
          </a:p>
          <a:p>
            <a:pPr marL="4508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Построение цифровых моделей рельефа</a:t>
            </a:r>
          </a:p>
          <a:p>
            <a:pPr marL="4508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Обнаружение и отслеживание наземных и наводных целей</a:t>
            </a:r>
          </a:p>
          <a:p>
            <a:pPr marL="4508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Сопоставление оптических и </a:t>
            </a:r>
            <a:r>
              <a:rPr lang="en-US" dirty="0">
                <a:solidFill>
                  <a:schemeClr val="dk1"/>
                </a:solidFill>
                <a:latin typeface="Nunito"/>
                <a:ea typeface="Nunito"/>
                <a:cs typeface="Nunito"/>
                <a:sym typeface="Nunito"/>
              </a:rPr>
              <a:t>SAR-</a:t>
            </a:r>
            <a:r>
              <a:rPr lang="ru-RU" dirty="0">
                <a:solidFill>
                  <a:schemeClr val="dk1"/>
                </a:solidFill>
                <a:latin typeface="Nunito"/>
                <a:ea typeface="Nunito"/>
                <a:cs typeface="Nunito"/>
                <a:sym typeface="Nunito"/>
              </a:rPr>
              <a:t>изображений</a:t>
            </a:r>
          </a:p>
          <a:p>
            <a:pPr marL="450850">
              <a:buClr>
                <a:schemeClr val="dk1"/>
              </a:buClr>
              <a:buSzPts val="1900"/>
            </a:pPr>
            <a:endParaRPr lang="ru-RU" dirty="0">
              <a:solidFill>
                <a:schemeClr val="dk1"/>
              </a:solidFill>
              <a:latin typeface="Nunito"/>
              <a:ea typeface="Nunito"/>
              <a:cs typeface="Nunito"/>
              <a:sym typeface="Nunito"/>
            </a:endParaRPr>
          </a:p>
          <a:p>
            <a:pPr marL="450850">
              <a:buClr>
                <a:schemeClr val="dk1"/>
              </a:buClr>
              <a:buSzPts val="1900"/>
            </a:pPr>
            <a:endParaRPr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9</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spTree>
    <p:extLst>
      <p:ext uri="{BB962C8B-B14F-4D97-AF65-F5344CB8AC3E}">
        <p14:creationId xmlns:p14="http://schemas.microsoft.com/office/powerpoint/2010/main" val="1653272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86683"/>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Задачи, решаемые при помощи SAR</a:t>
            </a:r>
            <a:endParaRPr b="1" dirty="0">
              <a:latin typeface="Nunito"/>
              <a:ea typeface="Nunito"/>
              <a:cs typeface="Nunito"/>
              <a:sym typeface="Nunito"/>
            </a:endParaRPr>
          </a:p>
        </p:txBody>
      </p:sp>
      <p:sp>
        <p:nvSpPr>
          <p:cNvPr id="86" name="Google Shape;86;p16"/>
          <p:cNvSpPr txBox="1">
            <a:spLocks noGrp="1"/>
          </p:cNvSpPr>
          <p:nvPr>
            <p:ph type="body" idx="1"/>
          </p:nvPr>
        </p:nvSpPr>
        <p:spPr>
          <a:xfrm>
            <a:off x="311700" y="852407"/>
            <a:ext cx="8627722" cy="3716443"/>
          </a:xfrm>
          <a:prstGeom prst="rect">
            <a:avLst/>
          </a:prstGeom>
        </p:spPr>
        <p:txBody>
          <a:bodyPr spcFirstLastPara="1" wrap="square" lIns="91425" tIns="91425" rIns="91425" bIns="91425" anchor="t" anchorCtr="0">
            <a:normAutofit/>
          </a:bodyPr>
          <a:lstStyle/>
          <a:p>
            <a:pPr marL="107950" lvl="0" indent="0" algn="l" rtl="0">
              <a:spcBef>
                <a:spcPts val="0"/>
              </a:spcBef>
              <a:spcAft>
                <a:spcPts val="0"/>
              </a:spcAft>
              <a:buClr>
                <a:schemeClr val="dk1"/>
              </a:buClr>
              <a:buSzPts val="1900"/>
              <a:buNone/>
            </a:pPr>
            <a:r>
              <a:rPr lang="ru-RU" b="1" dirty="0">
                <a:solidFill>
                  <a:schemeClr val="dk1"/>
                </a:solidFill>
                <a:latin typeface="Nunito"/>
                <a:ea typeface="Nunito"/>
                <a:cs typeface="Nunito"/>
                <a:sym typeface="Nunito"/>
              </a:rPr>
              <a:t>Сложности при работе с </a:t>
            </a:r>
            <a:r>
              <a:rPr lang="en-US" b="1" dirty="0">
                <a:solidFill>
                  <a:schemeClr val="dk1"/>
                </a:solidFill>
                <a:latin typeface="Nunito"/>
                <a:ea typeface="Nunito"/>
                <a:cs typeface="Nunito"/>
                <a:sym typeface="Nunito"/>
              </a:rPr>
              <a:t>SAR</a:t>
            </a:r>
            <a:r>
              <a:rPr lang="ru-RU" b="1" dirty="0">
                <a:solidFill>
                  <a:schemeClr val="dk1"/>
                </a:solidFill>
                <a:latin typeface="Nunito"/>
                <a:ea typeface="Nunito"/>
                <a:cs typeface="Nunito"/>
                <a:sym typeface="Nunito"/>
              </a:rPr>
              <a:t> изображениями:</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Геометрические искажения и радиолокационные тени</a:t>
            </a:r>
          </a:p>
          <a:p>
            <a:pPr marL="393700" indent="-285750">
              <a:buClr>
                <a:schemeClr val="dk1"/>
              </a:buClr>
              <a:buSzPts val="1900"/>
              <a:buFont typeface="Arial" panose="020B0604020202020204" pitchFamily="34" charset="0"/>
              <a:buChar char="•"/>
            </a:pPr>
            <a:r>
              <a:rPr lang="ru-RU" dirty="0" err="1">
                <a:solidFill>
                  <a:schemeClr val="dk1"/>
                </a:solidFill>
                <a:latin typeface="Nunito"/>
                <a:ea typeface="Nunito"/>
                <a:cs typeface="Nunito"/>
                <a:sym typeface="Nunito"/>
              </a:rPr>
              <a:t>Спекл</a:t>
            </a:r>
            <a:r>
              <a:rPr lang="ru-RU" dirty="0">
                <a:solidFill>
                  <a:schemeClr val="dk1"/>
                </a:solidFill>
                <a:latin typeface="Nunito"/>
                <a:ea typeface="Nunito"/>
                <a:cs typeface="Nunito"/>
                <a:sym typeface="Nunito"/>
              </a:rPr>
              <a:t>-шум (</a:t>
            </a:r>
            <a:r>
              <a:rPr lang="ru-RU" dirty="0" err="1">
                <a:solidFill>
                  <a:schemeClr val="dk1"/>
                </a:solidFill>
                <a:latin typeface="Nunito"/>
                <a:ea typeface="Nunito"/>
                <a:cs typeface="Nunito"/>
                <a:sym typeface="Nunito"/>
              </a:rPr>
              <a:t>Speckle</a:t>
            </a:r>
            <a:r>
              <a:rPr lang="ru-RU" dirty="0">
                <a:solidFill>
                  <a:schemeClr val="dk1"/>
                </a:solidFill>
                <a:latin typeface="Nunito"/>
                <a:ea typeface="Nunito"/>
                <a:cs typeface="Nunito"/>
                <a:sym typeface="Nunito"/>
              </a:rPr>
              <a:t> </a:t>
            </a:r>
            <a:r>
              <a:rPr lang="ru-RU" dirty="0" err="1">
                <a:solidFill>
                  <a:schemeClr val="dk1"/>
                </a:solidFill>
                <a:latin typeface="Nunito"/>
                <a:ea typeface="Nunito"/>
                <a:cs typeface="Nunito"/>
                <a:sym typeface="Nunito"/>
              </a:rPr>
              <a:t>noise</a:t>
            </a:r>
            <a:r>
              <a:rPr lang="ru-RU" dirty="0">
                <a:solidFill>
                  <a:schemeClr val="dk1"/>
                </a:solidFill>
                <a:latin typeface="Nunito"/>
                <a:ea typeface="Nunito"/>
                <a:cs typeface="Nunito"/>
                <a:sym typeface="Nunito"/>
              </a:rPr>
              <a:t>): характерный зернистый шум, возникающий из-за когерентной интерференции волн внутри одного пикселя и требующий специальных методов фильтрации</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Отсутствие цвета и текстуры в привычном понимании: яркость пикселей на изображении зависит от угла падения</a:t>
            </a:r>
            <a:r>
              <a:rPr lang="en-US" dirty="0">
                <a:solidFill>
                  <a:schemeClr val="dk1"/>
                </a:solidFill>
                <a:latin typeface="Nunito"/>
                <a:ea typeface="Nunito"/>
                <a:cs typeface="Nunito"/>
                <a:sym typeface="Nunito"/>
              </a:rPr>
              <a:t>, </a:t>
            </a:r>
            <a:r>
              <a:rPr lang="ru-RU" dirty="0">
                <a:solidFill>
                  <a:schemeClr val="dk1"/>
                </a:solidFill>
                <a:latin typeface="Nunito"/>
                <a:ea typeface="Nunito"/>
                <a:cs typeface="Nunito"/>
                <a:sym typeface="Nunito"/>
              </a:rPr>
              <a:t>шероховатости поверхности и диэлектрической проницаемости, а не от цвета</a:t>
            </a: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10</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spTree>
    <p:extLst>
      <p:ext uri="{BB962C8B-B14F-4D97-AF65-F5344CB8AC3E}">
        <p14:creationId xmlns:p14="http://schemas.microsoft.com/office/powerpoint/2010/main" val="3474524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p:nvPr/>
        </p:nvSpPr>
        <p:spPr>
          <a:xfrm>
            <a:off x="0" y="452450"/>
            <a:ext cx="9144000" cy="46911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 name="Google Shape;65;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11</a:t>
            </a:fld>
            <a:endParaRPr>
              <a:solidFill>
                <a:schemeClr val="lt1"/>
              </a:solidFill>
            </a:endParaRPr>
          </a:p>
        </p:txBody>
      </p:sp>
      <p:sp>
        <p:nvSpPr>
          <p:cNvPr id="66" name="Google Shape;66;p14"/>
          <p:cNvSpPr txBox="1">
            <a:spLocks noGrp="1"/>
          </p:cNvSpPr>
          <p:nvPr>
            <p:ph type="ctrTitle"/>
          </p:nvPr>
        </p:nvSpPr>
        <p:spPr>
          <a:xfrm>
            <a:off x="0" y="1673817"/>
            <a:ext cx="9144000" cy="1594719"/>
          </a:xfrm>
          <a:prstGeom prst="rect">
            <a:avLst/>
          </a:prstGeom>
        </p:spPr>
        <p:txBody>
          <a:bodyPr spcFirstLastPara="1" wrap="square" lIns="91425" tIns="91425" rIns="91425" bIns="91425" anchor="b" anchorCtr="0">
            <a:normAutofit fontScale="90000"/>
          </a:bodyPr>
          <a:lstStyle/>
          <a:p>
            <a:pPr lvl="0"/>
            <a:r>
              <a:rPr lang="ru-RU" b="1" dirty="0">
                <a:solidFill>
                  <a:schemeClr val="lt1"/>
                </a:solidFill>
                <a:latin typeface="Nunito"/>
                <a:ea typeface="Nunito"/>
                <a:cs typeface="Nunito"/>
                <a:sym typeface="Nunito"/>
              </a:rPr>
              <a:t>Полный пайплайн обучения </a:t>
            </a:r>
            <a:r>
              <a:rPr lang="en-US" b="1" dirty="0">
                <a:solidFill>
                  <a:schemeClr val="lt1"/>
                </a:solidFill>
                <a:latin typeface="Nunito"/>
                <a:ea typeface="Nunito"/>
                <a:cs typeface="Nunito"/>
                <a:sym typeface="Nunito"/>
              </a:rPr>
              <a:t>ML-</a:t>
            </a:r>
            <a:r>
              <a:rPr lang="ru-RU" b="1" dirty="0">
                <a:solidFill>
                  <a:schemeClr val="lt1"/>
                </a:solidFill>
                <a:latin typeface="Nunito"/>
                <a:ea typeface="Nunito"/>
                <a:cs typeface="Nunito"/>
                <a:sym typeface="Nunito"/>
              </a:rPr>
              <a:t>модели</a:t>
            </a:r>
          </a:p>
        </p:txBody>
      </p:sp>
      <p:pic>
        <p:nvPicPr>
          <p:cNvPr id="67" name="Google Shape;67;p14"/>
          <p:cNvPicPr preferRelativeResize="0"/>
          <p:nvPr/>
        </p:nvPicPr>
        <p:blipFill rotWithShape="1">
          <a:blip r:embed="rId3">
            <a:alphaModFix/>
          </a:blip>
          <a:srcRect l="30316" t="32807" r="29285" b="24140"/>
          <a:stretch/>
        </p:blipFill>
        <p:spPr>
          <a:xfrm>
            <a:off x="2865625" y="3973562"/>
            <a:ext cx="1015825" cy="1082575"/>
          </a:xfrm>
          <a:prstGeom prst="rect">
            <a:avLst/>
          </a:prstGeom>
          <a:noFill/>
          <a:ln>
            <a:noFill/>
          </a:ln>
        </p:spPr>
      </p:pic>
      <p:pic>
        <p:nvPicPr>
          <p:cNvPr id="68" name="Google Shape;68;p14"/>
          <p:cNvPicPr preferRelativeResize="0"/>
          <p:nvPr/>
        </p:nvPicPr>
        <p:blipFill rotWithShape="1">
          <a:blip r:embed="rId4">
            <a:alphaModFix/>
          </a:blip>
          <a:srcRect l="3410" t="59058" r="2904" b="6827"/>
          <a:stretch/>
        </p:blipFill>
        <p:spPr>
          <a:xfrm>
            <a:off x="205475" y="4048412"/>
            <a:ext cx="2561601" cy="932900"/>
          </a:xfrm>
          <a:prstGeom prst="rect">
            <a:avLst/>
          </a:prstGeom>
          <a:noFill/>
          <a:ln>
            <a:noFill/>
          </a:ln>
        </p:spPr>
      </p:pic>
    </p:spTree>
    <p:extLst>
      <p:ext uri="{BB962C8B-B14F-4D97-AF65-F5344CB8AC3E}">
        <p14:creationId xmlns:p14="http://schemas.microsoft.com/office/powerpoint/2010/main" val="2905324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950"/>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Полный пайплайн обучения </a:t>
            </a:r>
            <a:r>
              <a:rPr lang="en-US" b="1" dirty="0">
                <a:latin typeface="Nunito"/>
                <a:ea typeface="Nunito"/>
                <a:cs typeface="Nunito"/>
                <a:sym typeface="Nunito"/>
              </a:rPr>
              <a:t>ML-</a:t>
            </a:r>
            <a:r>
              <a:rPr lang="ru-RU" b="1" dirty="0">
                <a:latin typeface="Nunito"/>
                <a:ea typeface="Nunito"/>
                <a:cs typeface="Nunito"/>
                <a:sym typeface="Nunito"/>
              </a:rPr>
              <a:t>модели</a:t>
            </a:r>
            <a:endParaRPr b="1" dirty="0">
              <a:latin typeface="Nunito"/>
              <a:ea typeface="Nunito"/>
              <a:cs typeface="Nunito"/>
              <a:sym typeface="Nunito"/>
            </a:endParaRPr>
          </a:p>
        </p:txBody>
      </p:sp>
      <p:sp>
        <p:nvSpPr>
          <p:cNvPr id="86" name="Google Shape;86;p16"/>
          <p:cNvSpPr txBox="1">
            <a:spLocks noGrp="1"/>
          </p:cNvSpPr>
          <p:nvPr>
            <p:ph type="body" idx="1"/>
          </p:nvPr>
        </p:nvSpPr>
        <p:spPr>
          <a:xfrm>
            <a:off x="311700" y="539341"/>
            <a:ext cx="8520600" cy="4029509"/>
          </a:xfrm>
          <a:prstGeom prst="rect">
            <a:avLst/>
          </a:prstGeom>
        </p:spPr>
        <p:txBody>
          <a:bodyPr spcFirstLastPara="1" wrap="square" lIns="91425" tIns="91425" rIns="91425" bIns="91425" anchor="t" anchorCtr="0">
            <a:normAutofit/>
          </a:bodyPr>
          <a:lstStyle/>
          <a:p>
            <a:pPr marL="107950" lvl="0" indent="0">
              <a:buClr>
                <a:schemeClr val="dk1"/>
              </a:buClr>
              <a:buSzPts val="1900"/>
              <a:buNone/>
            </a:pPr>
            <a:r>
              <a:rPr lang="ru-RU" b="1" dirty="0">
                <a:solidFill>
                  <a:schemeClr val="dk1"/>
                </a:solidFill>
                <a:latin typeface="Nunito"/>
                <a:ea typeface="Nunito"/>
                <a:cs typeface="Nunito"/>
                <a:sym typeface="Nunito"/>
              </a:rPr>
              <a:t>Обычный пайплайн </a:t>
            </a:r>
            <a:r>
              <a:rPr lang="ru-RU" dirty="0">
                <a:solidFill>
                  <a:schemeClr val="dk1"/>
                </a:solidFill>
                <a:latin typeface="Nunito"/>
                <a:ea typeface="Nunito"/>
                <a:cs typeface="Nunito"/>
                <a:sym typeface="Nunito"/>
              </a:rPr>
              <a:t>для обучения </a:t>
            </a:r>
            <a:r>
              <a:rPr lang="en-US" dirty="0">
                <a:solidFill>
                  <a:schemeClr val="dk1"/>
                </a:solidFill>
                <a:latin typeface="Nunito"/>
                <a:ea typeface="Nunito"/>
                <a:cs typeface="Nunito"/>
                <a:sym typeface="Nunito"/>
              </a:rPr>
              <a:t>ML-</a:t>
            </a:r>
            <a:r>
              <a:rPr lang="ru-RU" dirty="0">
                <a:solidFill>
                  <a:schemeClr val="dk1"/>
                </a:solidFill>
                <a:latin typeface="Nunito"/>
                <a:ea typeface="Nunito"/>
                <a:cs typeface="Nunito"/>
                <a:sym typeface="Nunito"/>
              </a:rPr>
              <a:t>модели:</a:t>
            </a:r>
          </a:p>
          <a:p>
            <a:pPr marL="107950" lvl="0" indent="0">
              <a:buClr>
                <a:schemeClr val="dk1"/>
              </a:buClr>
              <a:buSzPts val="1900"/>
              <a:buNone/>
            </a:pPr>
            <a:r>
              <a:rPr lang="ru-RU" dirty="0">
                <a:solidFill>
                  <a:schemeClr val="dk1"/>
                </a:solidFill>
                <a:latin typeface="Nunito"/>
                <a:ea typeface="Nunito"/>
                <a:cs typeface="Nunito"/>
                <a:sym typeface="Nunito"/>
              </a:rPr>
              <a:t>1. С чего начнём?</a:t>
            </a:r>
            <a:endParaRPr lang="en-US"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12</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spTree>
    <p:extLst>
      <p:ext uri="{BB962C8B-B14F-4D97-AF65-F5344CB8AC3E}">
        <p14:creationId xmlns:p14="http://schemas.microsoft.com/office/powerpoint/2010/main" val="4037838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950"/>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Полный пайплайн обучения </a:t>
            </a:r>
            <a:r>
              <a:rPr lang="en-US" b="1" dirty="0">
                <a:latin typeface="Nunito"/>
                <a:ea typeface="Nunito"/>
                <a:cs typeface="Nunito"/>
                <a:sym typeface="Nunito"/>
              </a:rPr>
              <a:t>ML-</a:t>
            </a:r>
            <a:r>
              <a:rPr lang="ru-RU" b="1" dirty="0">
                <a:latin typeface="Nunito"/>
                <a:ea typeface="Nunito"/>
                <a:cs typeface="Nunito"/>
                <a:sym typeface="Nunito"/>
              </a:rPr>
              <a:t>модели</a:t>
            </a:r>
            <a:endParaRPr b="1" dirty="0">
              <a:latin typeface="Nunito"/>
              <a:ea typeface="Nunito"/>
              <a:cs typeface="Nunito"/>
              <a:sym typeface="Nunito"/>
            </a:endParaRPr>
          </a:p>
        </p:txBody>
      </p:sp>
      <mc:AlternateContent xmlns:mc="http://schemas.openxmlformats.org/markup-compatibility/2006" xmlns:a14="http://schemas.microsoft.com/office/drawing/2010/main">
        <mc:Choice Requires="a14">
          <p:sp>
            <p:nvSpPr>
              <p:cNvPr id="86" name="Google Shape;86;p16"/>
              <p:cNvSpPr txBox="1">
                <a:spLocks noGrp="1"/>
              </p:cNvSpPr>
              <p:nvPr>
                <p:ph type="body" idx="1"/>
              </p:nvPr>
            </p:nvSpPr>
            <p:spPr>
              <a:xfrm>
                <a:off x="311700" y="539341"/>
                <a:ext cx="8520600" cy="4029509"/>
              </a:xfrm>
              <a:prstGeom prst="rect">
                <a:avLst/>
              </a:prstGeom>
            </p:spPr>
            <p:txBody>
              <a:bodyPr spcFirstLastPara="1" wrap="square" lIns="91425" tIns="91425" rIns="91425" bIns="91425" anchor="t" anchorCtr="0">
                <a:normAutofit/>
              </a:bodyPr>
              <a:lstStyle/>
              <a:p>
                <a:pPr marL="107950" lvl="0" indent="0">
                  <a:buClr>
                    <a:schemeClr val="dk1"/>
                  </a:buClr>
                  <a:buSzPts val="1900"/>
                  <a:buNone/>
                </a:pPr>
                <a:r>
                  <a:rPr lang="ru-RU" b="1" dirty="0">
                    <a:solidFill>
                      <a:schemeClr val="dk1"/>
                    </a:solidFill>
                    <a:latin typeface="Nunito"/>
                    <a:ea typeface="Nunito"/>
                    <a:cs typeface="Nunito"/>
                    <a:sym typeface="Nunito"/>
                  </a:rPr>
                  <a:t>Обычный пайплайн </a:t>
                </a:r>
                <a:r>
                  <a:rPr lang="ru-RU" dirty="0">
                    <a:solidFill>
                      <a:schemeClr val="dk1"/>
                    </a:solidFill>
                    <a:latin typeface="Nunito"/>
                    <a:ea typeface="Nunito"/>
                    <a:cs typeface="Nunito"/>
                    <a:sym typeface="Nunito"/>
                  </a:rPr>
                  <a:t>для обучения </a:t>
                </a:r>
                <a:r>
                  <a:rPr lang="en-US" dirty="0">
                    <a:solidFill>
                      <a:schemeClr val="dk1"/>
                    </a:solidFill>
                    <a:latin typeface="Nunito"/>
                    <a:ea typeface="Nunito"/>
                    <a:cs typeface="Nunito"/>
                    <a:sym typeface="Nunito"/>
                  </a:rPr>
                  <a:t>ML-</a:t>
                </a:r>
                <a:r>
                  <a:rPr lang="ru-RU" dirty="0">
                    <a:solidFill>
                      <a:schemeClr val="dk1"/>
                    </a:solidFill>
                    <a:latin typeface="Nunito"/>
                    <a:ea typeface="Nunito"/>
                    <a:cs typeface="Nunito"/>
                    <a:sym typeface="Nunito"/>
                  </a:rPr>
                  <a:t>модели:</a:t>
                </a:r>
                <a:endParaRPr lang="en-US" dirty="0">
                  <a:solidFill>
                    <a:schemeClr val="dk1"/>
                  </a:solidFill>
                  <a:latin typeface="Nunito"/>
                  <a:ea typeface="Nunito"/>
                  <a:cs typeface="Nunito"/>
                  <a:sym typeface="Nunito"/>
                </a:endParaRPr>
              </a:p>
              <a:p>
                <a:pPr marL="565150" lvl="0" indent="-457200">
                  <a:buClr>
                    <a:schemeClr val="dk1"/>
                  </a:buClr>
                  <a:buSzPts val="1900"/>
                  <a:buFont typeface="+mj-lt"/>
                  <a:buAutoNum type="arabicPeriod"/>
                </a:pPr>
                <a:r>
                  <a:rPr lang="ru-RU" dirty="0">
                    <a:solidFill>
                      <a:schemeClr val="dk1"/>
                    </a:solidFill>
                    <a:latin typeface="Nunito"/>
                    <a:ea typeface="Nunito"/>
                    <a:cs typeface="Nunito"/>
                    <a:sym typeface="Nunito"/>
                  </a:rPr>
                  <a:t>Постановка задачи и определение метрик</a:t>
                </a:r>
              </a:p>
              <a:p>
                <a:pPr marL="565150" lvl="0" indent="-457200">
                  <a:buClr>
                    <a:schemeClr val="dk1"/>
                  </a:buClr>
                  <a:buSzPts val="1900"/>
                  <a:buFont typeface="+mj-lt"/>
                  <a:buAutoNum type="arabicPeriod"/>
                </a:pPr>
                <a:endParaRPr lang="ru-RU" dirty="0">
                  <a:solidFill>
                    <a:schemeClr val="dk1"/>
                  </a:solidFill>
                  <a:latin typeface="Nunito"/>
                  <a:ea typeface="Nunito"/>
                  <a:cs typeface="Nunito"/>
                  <a:sym typeface="Nunito"/>
                </a:endParaRP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Определить тип задачи, которую собираемся решать (обнаружение; классификация; кластеризация и т.д.)</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Определить, какие метрики качества будут использоваться и какие к ним требования (</a:t>
                </a:r>
                <a14:m>
                  <m:oMath xmlns:m="http://schemas.openxmlformats.org/officeDocument/2006/math">
                    <m:r>
                      <a:rPr lang="en-US" i="1" dirty="0" smtClean="0">
                        <a:solidFill>
                          <a:schemeClr val="dk1"/>
                        </a:solidFill>
                        <a:latin typeface="Cambria Math" panose="02040503050406030204" pitchFamily="18" charset="0"/>
                        <a:ea typeface="Nunito"/>
                        <a:cs typeface="Nunito"/>
                        <a:sym typeface="Nunito"/>
                      </a:rPr>
                      <m:t>𝑚𝐴𝑃</m:t>
                    </m:r>
                    <m:r>
                      <a:rPr lang="en-US" i="1" dirty="0" smtClean="0">
                        <a:solidFill>
                          <a:schemeClr val="dk1"/>
                        </a:solidFill>
                        <a:latin typeface="Cambria Math" panose="02040503050406030204" pitchFamily="18" charset="0"/>
                        <a:ea typeface="Nunito"/>
                        <a:cs typeface="Nunito"/>
                        <a:sym typeface="Nunito"/>
                      </a:rPr>
                      <m:t> &gt; 0.9</m:t>
                    </m:r>
                  </m:oMath>
                </a14:m>
                <a:r>
                  <a:rPr lang="ru-RU" dirty="0">
                    <a:solidFill>
                      <a:schemeClr val="dk1"/>
                    </a:solidFill>
                    <a:latin typeface="Nunito"/>
                    <a:ea typeface="Nunito"/>
                    <a:cs typeface="Nunito"/>
                    <a:sym typeface="Nunito"/>
                  </a:rPr>
                  <a:t>; </a:t>
                </a:r>
                <a14:m>
                  <m:oMath xmlns:m="http://schemas.openxmlformats.org/officeDocument/2006/math">
                    <m:r>
                      <a:rPr lang="en-US" b="0" i="1" smtClean="0">
                        <a:solidFill>
                          <a:schemeClr val="dk1"/>
                        </a:solidFill>
                        <a:latin typeface="Cambria Math" panose="02040503050406030204" pitchFamily="18" charset="0"/>
                        <a:ea typeface="Nunito"/>
                        <a:cs typeface="Nunito"/>
                        <a:sym typeface="Nunito"/>
                      </a:rPr>
                      <m:t>𝐻𝑂𝑇𝐴</m:t>
                    </m:r>
                    <m:r>
                      <a:rPr lang="en-US" b="0" i="1" smtClean="0">
                        <a:solidFill>
                          <a:schemeClr val="dk1"/>
                        </a:solidFill>
                        <a:latin typeface="Cambria Math" panose="02040503050406030204" pitchFamily="18" charset="0"/>
                        <a:ea typeface="Nunito"/>
                        <a:cs typeface="Nunito"/>
                        <a:sym typeface="Nunito"/>
                      </a:rPr>
                      <m:t>&gt;0.7</m:t>
                    </m:r>
                  </m:oMath>
                </a14:m>
                <a:r>
                  <a:rPr lang="ru-RU" dirty="0">
                    <a:solidFill>
                      <a:schemeClr val="dk1"/>
                    </a:solidFill>
                    <a:latin typeface="Nunito"/>
                    <a:ea typeface="Nunito"/>
                    <a:cs typeface="Nunito"/>
                    <a:sym typeface="Nunito"/>
                  </a:rPr>
                  <a:t> и т.д.)</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Определить, какие есть требования по скорости работы модели (работа в реальном времени; время </a:t>
                </a:r>
                <a:r>
                  <a:rPr lang="ru-RU" dirty="0" err="1">
                    <a:solidFill>
                      <a:schemeClr val="dk1"/>
                    </a:solidFill>
                    <a:latin typeface="Nunito"/>
                    <a:ea typeface="Nunito"/>
                    <a:cs typeface="Nunito"/>
                    <a:sym typeface="Nunito"/>
                  </a:rPr>
                  <a:t>инференса</a:t>
                </a:r>
                <a:r>
                  <a:rPr lang="ru-RU" dirty="0">
                    <a:solidFill>
                      <a:schemeClr val="dk1"/>
                    </a:solidFill>
                    <a:latin typeface="Nunito"/>
                    <a:ea typeface="Nunito"/>
                    <a:cs typeface="Nunito"/>
                    <a:sym typeface="Nunito"/>
                  </a:rPr>
                  <a:t> </a:t>
                </a:r>
                <a:r>
                  <a:rPr lang="en-US" dirty="0">
                    <a:solidFill>
                      <a:schemeClr val="dk1"/>
                    </a:solidFill>
                    <a:latin typeface="Nunito"/>
                    <a:ea typeface="Nunito"/>
                    <a:cs typeface="Nunito"/>
                    <a:sym typeface="Nunito"/>
                  </a:rPr>
                  <a:t>&lt;1c)</a:t>
                </a:r>
                <a:endParaRPr lang="ru-RU" dirty="0">
                  <a:solidFill>
                    <a:schemeClr val="dk1"/>
                  </a:solidFill>
                  <a:latin typeface="Nunito"/>
                  <a:ea typeface="Nunito"/>
                  <a:cs typeface="Nunito"/>
                  <a:sym typeface="Nunito"/>
                </a:endParaRP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Определить домен и условия, в которых должна работать модель (работа на </a:t>
                </a:r>
                <a:r>
                  <a:rPr lang="en-US" dirty="0">
                    <a:solidFill>
                      <a:schemeClr val="dk1"/>
                    </a:solidFill>
                    <a:latin typeface="Nunito"/>
                    <a:ea typeface="Nunito"/>
                    <a:cs typeface="Nunito"/>
                    <a:sym typeface="Nunito"/>
                  </a:rPr>
                  <a:t>Jetson </a:t>
                </a:r>
                <a:r>
                  <a:rPr lang="ru-RU" dirty="0">
                    <a:solidFill>
                      <a:schemeClr val="dk1"/>
                    </a:solidFill>
                    <a:latin typeface="Nunito"/>
                    <a:ea typeface="Nunito"/>
                    <a:cs typeface="Nunito"/>
                    <a:sym typeface="Nunito"/>
                  </a:rPr>
                  <a:t>на катере; серверная модель, обрабатывающая данные с 500 источников в производственном цеху)</a:t>
                </a:r>
                <a:endParaRPr dirty="0">
                  <a:solidFill>
                    <a:schemeClr val="dk1"/>
                  </a:solidFill>
                  <a:latin typeface="Nunito"/>
                  <a:ea typeface="Nunito"/>
                  <a:cs typeface="Nunito"/>
                  <a:sym typeface="Nunito"/>
                </a:endParaRPr>
              </a:p>
            </p:txBody>
          </p:sp>
        </mc:Choice>
        <mc:Fallback xmlns="">
          <p:sp>
            <p:nvSpPr>
              <p:cNvPr id="86" name="Google Shape;86;p16"/>
              <p:cNvSpPr txBox="1">
                <a:spLocks noGrp="1" noRot="1" noChangeAspect="1" noMove="1" noResize="1" noEditPoints="1" noAdjustHandles="1" noChangeArrowheads="1" noChangeShapeType="1" noTextEdit="1"/>
              </p:cNvSpPr>
              <p:nvPr>
                <p:ph type="body" idx="1"/>
              </p:nvPr>
            </p:nvSpPr>
            <p:spPr>
              <a:xfrm>
                <a:off x="311700" y="539341"/>
                <a:ext cx="8520600" cy="4029509"/>
              </a:xfrm>
              <a:prstGeom prst="rect">
                <a:avLst/>
              </a:prstGeom>
              <a:blipFill>
                <a:blip r:embed="rId3"/>
                <a:stretch>
                  <a:fillRect r="-1216"/>
                </a:stretch>
              </a:blipFill>
            </p:spPr>
            <p:txBody>
              <a:bodyPr/>
              <a:lstStyle/>
              <a:p>
                <a:r>
                  <a:rPr lang="ru-RU">
                    <a:noFill/>
                  </a:rPr>
                  <a:t> </a:t>
                </a:r>
              </a:p>
            </p:txBody>
          </p:sp>
        </mc:Fallback>
      </mc:AlternateContent>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13</a:t>
            </a:fld>
            <a:endParaRPr>
              <a:solidFill>
                <a:schemeClr val="lt1"/>
              </a:solidFill>
              <a:highlight>
                <a:schemeClr val="lt1"/>
              </a:highlight>
            </a:endParaRPr>
          </a:p>
        </p:txBody>
      </p:sp>
      <p:pic>
        <p:nvPicPr>
          <p:cNvPr id="88" name="Google Shape;88;p16"/>
          <p:cNvPicPr preferRelativeResize="0"/>
          <p:nvPr/>
        </p:nvPicPr>
        <p:blipFill rotWithShape="1">
          <a:blip r:embed="rId4">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5">
            <a:alphaModFix/>
          </a:blip>
          <a:srcRect l="3410" t="59058" r="2904" b="6827"/>
          <a:stretch/>
        </p:blipFill>
        <p:spPr>
          <a:xfrm>
            <a:off x="569750" y="4663225"/>
            <a:ext cx="1318847" cy="480300"/>
          </a:xfrm>
          <a:prstGeom prst="rect">
            <a:avLst/>
          </a:prstGeom>
          <a:noFill/>
          <a:ln>
            <a:noFill/>
          </a:ln>
        </p:spPr>
      </p:pic>
    </p:spTree>
    <p:extLst>
      <p:ext uri="{BB962C8B-B14F-4D97-AF65-F5344CB8AC3E}">
        <p14:creationId xmlns:p14="http://schemas.microsoft.com/office/powerpoint/2010/main" val="1816126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950"/>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Полный пайплайн обучения </a:t>
            </a:r>
            <a:r>
              <a:rPr lang="en-US" b="1" dirty="0">
                <a:latin typeface="Nunito"/>
                <a:ea typeface="Nunito"/>
                <a:cs typeface="Nunito"/>
                <a:sym typeface="Nunito"/>
              </a:rPr>
              <a:t>ML-</a:t>
            </a:r>
            <a:r>
              <a:rPr lang="ru-RU" b="1" dirty="0">
                <a:latin typeface="Nunito"/>
                <a:ea typeface="Nunito"/>
                <a:cs typeface="Nunito"/>
                <a:sym typeface="Nunito"/>
              </a:rPr>
              <a:t>модели</a:t>
            </a:r>
            <a:endParaRPr b="1" dirty="0">
              <a:latin typeface="Nunito"/>
              <a:ea typeface="Nunito"/>
              <a:cs typeface="Nunito"/>
              <a:sym typeface="Nunito"/>
            </a:endParaRPr>
          </a:p>
        </p:txBody>
      </p:sp>
      <p:sp>
        <p:nvSpPr>
          <p:cNvPr id="86" name="Google Shape;86;p16"/>
          <p:cNvSpPr txBox="1">
            <a:spLocks noGrp="1"/>
          </p:cNvSpPr>
          <p:nvPr>
            <p:ph type="body" idx="1"/>
          </p:nvPr>
        </p:nvSpPr>
        <p:spPr>
          <a:xfrm>
            <a:off x="311700" y="539341"/>
            <a:ext cx="8520600" cy="4029509"/>
          </a:xfrm>
          <a:prstGeom prst="rect">
            <a:avLst/>
          </a:prstGeom>
        </p:spPr>
        <p:txBody>
          <a:bodyPr spcFirstLastPara="1" wrap="square" lIns="91425" tIns="91425" rIns="91425" bIns="91425" anchor="t" anchorCtr="0">
            <a:normAutofit/>
          </a:bodyPr>
          <a:lstStyle/>
          <a:p>
            <a:pPr marL="107950" lvl="0" indent="0">
              <a:buClr>
                <a:schemeClr val="dk1"/>
              </a:buClr>
              <a:buSzPts val="1900"/>
              <a:buNone/>
            </a:pPr>
            <a:r>
              <a:rPr lang="ru-RU" b="1" dirty="0">
                <a:solidFill>
                  <a:schemeClr val="dk1"/>
                </a:solidFill>
                <a:latin typeface="Nunito"/>
                <a:ea typeface="Nunito"/>
                <a:cs typeface="Nunito"/>
                <a:sym typeface="Nunito"/>
              </a:rPr>
              <a:t>Обычный пайплайн </a:t>
            </a:r>
            <a:r>
              <a:rPr lang="ru-RU" dirty="0">
                <a:solidFill>
                  <a:schemeClr val="dk1"/>
                </a:solidFill>
                <a:latin typeface="Nunito"/>
                <a:ea typeface="Nunito"/>
                <a:cs typeface="Nunito"/>
                <a:sym typeface="Nunito"/>
              </a:rPr>
              <a:t>для обучения </a:t>
            </a:r>
            <a:r>
              <a:rPr lang="en-US" dirty="0">
                <a:solidFill>
                  <a:schemeClr val="dk1"/>
                </a:solidFill>
                <a:latin typeface="Nunito"/>
                <a:ea typeface="Nunito"/>
                <a:cs typeface="Nunito"/>
                <a:sym typeface="Nunito"/>
              </a:rPr>
              <a:t>ML-</a:t>
            </a:r>
            <a:r>
              <a:rPr lang="ru-RU" dirty="0">
                <a:solidFill>
                  <a:schemeClr val="dk1"/>
                </a:solidFill>
                <a:latin typeface="Nunito"/>
                <a:ea typeface="Nunito"/>
                <a:cs typeface="Nunito"/>
                <a:sym typeface="Nunito"/>
              </a:rPr>
              <a:t>модели:</a:t>
            </a:r>
            <a:endParaRPr lang="en-US" dirty="0">
              <a:solidFill>
                <a:schemeClr val="dk1"/>
              </a:solidFill>
              <a:latin typeface="Nunito"/>
              <a:ea typeface="Nunito"/>
              <a:cs typeface="Nunito"/>
              <a:sym typeface="Nunito"/>
            </a:endParaRPr>
          </a:p>
          <a:p>
            <a:pPr marL="565150" lvl="0" indent="-457200" algn="l" rtl="0">
              <a:spcBef>
                <a:spcPts val="0"/>
              </a:spcBef>
              <a:spcAft>
                <a:spcPts val="0"/>
              </a:spcAft>
              <a:buClr>
                <a:schemeClr val="dk1"/>
              </a:buClr>
              <a:buSzPts val="1900"/>
              <a:buFont typeface="+mj-lt"/>
              <a:buAutoNum type="arabicPeriod" startAt="2"/>
            </a:pPr>
            <a:r>
              <a:rPr lang="ru-RU" dirty="0">
                <a:solidFill>
                  <a:schemeClr val="dk1"/>
                </a:solidFill>
                <a:latin typeface="Nunito"/>
                <a:ea typeface="Nunito"/>
                <a:cs typeface="Nunito"/>
                <a:sym typeface="Nunito"/>
              </a:rPr>
              <a:t>Получение «сырых» или готовых данных</a:t>
            </a:r>
            <a:endParaRPr lang="en-US" dirty="0">
              <a:solidFill>
                <a:schemeClr val="dk1"/>
              </a:solidFill>
              <a:latin typeface="Nunito"/>
              <a:ea typeface="Nunito"/>
              <a:cs typeface="Nunito"/>
              <a:sym typeface="Nunito"/>
            </a:endParaRPr>
          </a:p>
          <a:p>
            <a:pPr marL="565150" lvl="0" indent="-457200" algn="l" rtl="0">
              <a:spcBef>
                <a:spcPts val="0"/>
              </a:spcBef>
              <a:spcAft>
                <a:spcPts val="0"/>
              </a:spcAft>
              <a:buClr>
                <a:schemeClr val="dk1"/>
              </a:buClr>
              <a:buSzPts val="1900"/>
              <a:buFont typeface="+mj-lt"/>
              <a:buAutoNum type="arabicPeriod" startAt="2"/>
            </a:pPr>
            <a:endParaRPr lang="en-US" dirty="0">
              <a:solidFill>
                <a:schemeClr val="dk1"/>
              </a:solidFill>
              <a:latin typeface="Nunito"/>
              <a:ea typeface="Nunito"/>
              <a:cs typeface="Nunito"/>
              <a:sym typeface="Nunito"/>
            </a:endParaRP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Выбрать возможные и целесообразные источники данных (открытые источники; полигон; генераторы реалистичных данных и т.д.)</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Провести первичный анализ полученных «сырых» данных, чтобы проверить соответствие данных домену и условиям задачи (модели, которая будет работать на катере не нужны снимки моря с воздуха)</a:t>
            </a:r>
          </a:p>
          <a:p>
            <a:pPr marL="393700" indent="-285750">
              <a:buClr>
                <a:schemeClr val="dk1"/>
              </a:buClr>
              <a:buSzPts val="1900"/>
            </a:pPr>
            <a:endParaRPr lang="ru-RU" dirty="0">
              <a:solidFill>
                <a:schemeClr val="dk1"/>
              </a:solidFill>
              <a:latin typeface="Nunito"/>
              <a:ea typeface="Nunito"/>
              <a:cs typeface="Nunito"/>
              <a:sym typeface="Nunito"/>
            </a:endParaRPr>
          </a:p>
          <a:p>
            <a:pPr marL="393700" indent="-285750">
              <a:buClr>
                <a:schemeClr val="dk1"/>
              </a:buClr>
              <a:buSzPts val="1900"/>
            </a:pPr>
            <a:endParaRPr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14</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spTree>
    <p:extLst>
      <p:ext uri="{BB962C8B-B14F-4D97-AF65-F5344CB8AC3E}">
        <p14:creationId xmlns:p14="http://schemas.microsoft.com/office/powerpoint/2010/main" val="519247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950"/>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Полный пайплайн обучения </a:t>
            </a:r>
            <a:r>
              <a:rPr lang="en-US" b="1" dirty="0">
                <a:latin typeface="Nunito"/>
                <a:ea typeface="Nunito"/>
                <a:cs typeface="Nunito"/>
                <a:sym typeface="Nunito"/>
              </a:rPr>
              <a:t>ML-</a:t>
            </a:r>
            <a:r>
              <a:rPr lang="ru-RU" b="1" dirty="0">
                <a:latin typeface="Nunito"/>
                <a:ea typeface="Nunito"/>
                <a:cs typeface="Nunito"/>
                <a:sym typeface="Nunito"/>
              </a:rPr>
              <a:t>модели</a:t>
            </a:r>
            <a:endParaRPr b="1" dirty="0">
              <a:latin typeface="Nunito"/>
              <a:ea typeface="Nunito"/>
              <a:cs typeface="Nunito"/>
              <a:sym typeface="Nunito"/>
            </a:endParaRPr>
          </a:p>
        </p:txBody>
      </p:sp>
      <p:sp>
        <p:nvSpPr>
          <p:cNvPr id="86" name="Google Shape;86;p16"/>
          <p:cNvSpPr txBox="1">
            <a:spLocks noGrp="1"/>
          </p:cNvSpPr>
          <p:nvPr>
            <p:ph type="body" idx="1"/>
          </p:nvPr>
        </p:nvSpPr>
        <p:spPr>
          <a:xfrm>
            <a:off x="311700" y="539341"/>
            <a:ext cx="8520600" cy="4029509"/>
          </a:xfrm>
          <a:prstGeom prst="rect">
            <a:avLst/>
          </a:prstGeom>
        </p:spPr>
        <p:txBody>
          <a:bodyPr spcFirstLastPara="1" wrap="square" lIns="91425" tIns="91425" rIns="91425" bIns="91425" anchor="t" anchorCtr="0">
            <a:normAutofit/>
          </a:bodyPr>
          <a:lstStyle/>
          <a:p>
            <a:pPr marL="107950" lvl="0" indent="0">
              <a:buClr>
                <a:schemeClr val="dk1"/>
              </a:buClr>
              <a:buSzPts val="1900"/>
              <a:buNone/>
            </a:pPr>
            <a:r>
              <a:rPr lang="ru-RU" b="1" dirty="0">
                <a:solidFill>
                  <a:schemeClr val="dk1"/>
                </a:solidFill>
                <a:latin typeface="Nunito"/>
                <a:ea typeface="Nunito"/>
                <a:cs typeface="Nunito"/>
                <a:sym typeface="Nunito"/>
              </a:rPr>
              <a:t>Обычный пайплайн </a:t>
            </a:r>
            <a:r>
              <a:rPr lang="ru-RU" dirty="0">
                <a:solidFill>
                  <a:schemeClr val="dk1"/>
                </a:solidFill>
                <a:latin typeface="Nunito"/>
                <a:ea typeface="Nunito"/>
                <a:cs typeface="Nunito"/>
                <a:sym typeface="Nunito"/>
              </a:rPr>
              <a:t>для обучения </a:t>
            </a:r>
            <a:r>
              <a:rPr lang="en-US" dirty="0">
                <a:solidFill>
                  <a:schemeClr val="dk1"/>
                </a:solidFill>
                <a:latin typeface="Nunito"/>
                <a:ea typeface="Nunito"/>
                <a:cs typeface="Nunito"/>
                <a:sym typeface="Nunito"/>
              </a:rPr>
              <a:t>ML-</a:t>
            </a:r>
            <a:r>
              <a:rPr lang="ru-RU" dirty="0">
                <a:solidFill>
                  <a:schemeClr val="dk1"/>
                </a:solidFill>
                <a:latin typeface="Nunito"/>
                <a:ea typeface="Nunito"/>
                <a:cs typeface="Nunito"/>
                <a:sym typeface="Nunito"/>
              </a:rPr>
              <a:t>модели:</a:t>
            </a:r>
            <a:endParaRPr lang="en-US" dirty="0">
              <a:solidFill>
                <a:schemeClr val="dk1"/>
              </a:solidFill>
              <a:latin typeface="Nunito"/>
              <a:ea typeface="Nunito"/>
              <a:cs typeface="Nunito"/>
              <a:sym typeface="Nunito"/>
            </a:endParaRPr>
          </a:p>
          <a:p>
            <a:pPr marL="565150" lvl="0" indent="-457200">
              <a:buClr>
                <a:schemeClr val="dk1"/>
              </a:buClr>
              <a:buSzPts val="1900"/>
              <a:buFont typeface="+mj-lt"/>
              <a:buAutoNum type="arabicPeriod" startAt="3"/>
            </a:pPr>
            <a:r>
              <a:rPr lang="ru-RU" dirty="0">
                <a:solidFill>
                  <a:schemeClr val="dk1"/>
                </a:solidFill>
                <a:latin typeface="Nunito"/>
                <a:ea typeface="Nunito"/>
                <a:cs typeface="Nunito"/>
                <a:sym typeface="Nunito"/>
              </a:rPr>
              <a:t>Калибровка (фильтрация) и разметка данных</a:t>
            </a:r>
          </a:p>
          <a:p>
            <a:pPr marL="565150" lvl="0" indent="-457200" algn="l" rtl="0">
              <a:spcBef>
                <a:spcPts val="0"/>
              </a:spcBef>
              <a:spcAft>
                <a:spcPts val="0"/>
              </a:spcAft>
              <a:buClr>
                <a:schemeClr val="dk1"/>
              </a:buClr>
              <a:buSzPts val="1900"/>
              <a:buFont typeface="+mj-lt"/>
              <a:buAutoNum type="arabicPeriod" startAt="2"/>
            </a:pPr>
            <a:endParaRPr lang="en-US" dirty="0">
              <a:solidFill>
                <a:schemeClr val="dk1"/>
              </a:solidFill>
              <a:latin typeface="Nunito"/>
              <a:ea typeface="Nunito"/>
              <a:cs typeface="Nunito"/>
              <a:sym typeface="Nunito"/>
            </a:endParaRP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Данный пункт не актуален, если данные </a:t>
            </a:r>
            <a:r>
              <a:rPr lang="ru-RU" b="1" dirty="0">
                <a:solidFill>
                  <a:schemeClr val="dk1"/>
                </a:solidFill>
                <a:latin typeface="Nunito"/>
                <a:ea typeface="Nunito"/>
                <a:cs typeface="Nunito"/>
                <a:sym typeface="Nunito"/>
              </a:rPr>
              <a:t>уже</a:t>
            </a:r>
            <a:r>
              <a:rPr lang="ru-RU" dirty="0">
                <a:solidFill>
                  <a:schemeClr val="dk1"/>
                </a:solidFill>
                <a:latin typeface="Nunito"/>
                <a:ea typeface="Nunito"/>
                <a:cs typeface="Nunito"/>
                <a:sym typeface="Nunito"/>
              </a:rPr>
              <a:t> имеют </a:t>
            </a:r>
            <a:r>
              <a:rPr lang="ru-RU" b="1" dirty="0">
                <a:solidFill>
                  <a:schemeClr val="dk1"/>
                </a:solidFill>
                <a:latin typeface="Nunito"/>
                <a:ea typeface="Nunito"/>
                <a:cs typeface="Nunito"/>
                <a:sym typeface="Nunito"/>
              </a:rPr>
              <a:t>хорошую </a:t>
            </a:r>
            <a:r>
              <a:rPr lang="ru-RU" dirty="0">
                <a:solidFill>
                  <a:schemeClr val="dk1"/>
                </a:solidFill>
                <a:latin typeface="Nunito"/>
                <a:ea typeface="Nunito"/>
                <a:cs typeface="Nunito"/>
                <a:sym typeface="Nunito"/>
              </a:rPr>
              <a:t>разметку или вовсе не могут её иметь</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Фильтрация данных производится для поиска дубликатов, артефактов, пустых записей и т.д.</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Разметка данных может производиться как самими экспертами, так и просто под их контролем. Популярные фреймворки для проведения разметки: </a:t>
            </a:r>
            <a:r>
              <a:rPr lang="en-US" dirty="0">
                <a:solidFill>
                  <a:schemeClr val="dk1"/>
                </a:solidFill>
                <a:latin typeface="Nunito"/>
                <a:ea typeface="Nunito"/>
                <a:cs typeface="Nunito"/>
                <a:sym typeface="Nunito"/>
              </a:rPr>
              <a:t>CVAT</a:t>
            </a:r>
            <a:r>
              <a:rPr lang="ru-RU" dirty="0">
                <a:solidFill>
                  <a:schemeClr val="dk1"/>
                </a:solidFill>
                <a:latin typeface="Nunito"/>
                <a:ea typeface="Nunito"/>
                <a:cs typeface="Nunito"/>
                <a:sym typeface="Nunito"/>
              </a:rPr>
              <a:t>, </a:t>
            </a:r>
            <a:r>
              <a:rPr lang="en-US" dirty="0">
                <a:solidFill>
                  <a:schemeClr val="dk1"/>
                </a:solidFill>
                <a:latin typeface="Nunito"/>
                <a:ea typeface="Nunito"/>
                <a:cs typeface="Nunito"/>
                <a:sym typeface="Nunito"/>
              </a:rPr>
              <a:t>Label Studio, </a:t>
            </a:r>
            <a:r>
              <a:rPr lang="en-US" dirty="0" err="1">
                <a:solidFill>
                  <a:schemeClr val="dk1"/>
                </a:solidFill>
                <a:latin typeface="Nunito"/>
                <a:ea typeface="Nunito"/>
                <a:cs typeface="Nunito"/>
                <a:sym typeface="Nunito"/>
              </a:rPr>
              <a:t>Doccano</a:t>
            </a:r>
            <a:endParaRPr lang="ru-RU" dirty="0">
              <a:solidFill>
                <a:schemeClr val="dk1"/>
              </a:solidFill>
              <a:latin typeface="Nunito"/>
              <a:ea typeface="Nunito"/>
              <a:cs typeface="Nunito"/>
              <a:sym typeface="Nunito"/>
            </a:endParaRPr>
          </a:p>
          <a:p>
            <a:pPr marL="393700" indent="-285750">
              <a:buClr>
                <a:schemeClr val="dk1"/>
              </a:buClr>
              <a:buSzPts val="1900"/>
            </a:pPr>
            <a:endParaRPr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15</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spTree>
    <p:extLst>
      <p:ext uri="{BB962C8B-B14F-4D97-AF65-F5344CB8AC3E}">
        <p14:creationId xmlns:p14="http://schemas.microsoft.com/office/powerpoint/2010/main" val="658662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950"/>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Полный пайплайн обучения </a:t>
            </a:r>
            <a:r>
              <a:rPr lang="en-US" b="1" dirty="0">
                <a:latin typeface="Nunito"/>
                <a:ea typeface="Nunito"/>
                <a:cs typeface="Nunito"/>
                <a:sym typeface="Nunito"/>
              </a:rPr>
              <a:t>ML-</a:t>
            </a:r>
            <a:r>
              <a:rPr lang="ru-RU" b="1" dirty="0">
                <a:latin typeface="Nunito"/>
                <a:ea typeface="Nunito"/>
                <a:cs typeface="Nunito"/>
                <a:sym typeface="Nunito"/>
              </a:rPr>
              <a:t>модели</a:t>
            </a:r>
            <a:endParaRPr b="1" dirty="0">
              <a:latin typeface="Nunito"/>
              <a:ea typeface="Nunito"/>
              <a:cs typeface="Nunito"/>
              <a:sym typeface="Nunito"/>
            </a:endParaRPr>
          </a:p>
        </p:txBody>
      </p:sp>
      <p:sp>
        <p:nvSpPr>
          <p:cNvPr id="86" name="Google Shape;86;p16"/>
          <p:cNvSpPr txBox="1">
            <a:spLocks noGrp="1"/>
          </p:cNvSpPr>
          <p:nvPr>
            <p:ph type="body" idx="1"/>
          </p:nvPr>
        </p:nvSpPr>
        <p:spPr>
          <a:xfrm>
            <a:off x="311700" y="539341"/>
            <a:ext cx="8520600" cy="4029509"/>
          </a:xfrm>
          <a:prstGeom prst="rect">
            <a:avLst/>
          </a:prstGeom>
        </p:spPr>
        <p:txBody>
          <a:bodyPr spcFirstLastPara="1" wrap="square" lIns="91425" tIns="91425" rIns="91425" bIns="91425" anchor="t" anchorCtr="0">
            <a:normAutofit/>
          </a:bodyPr>
          <a:lstStyle/>
          <a:p>
            <a:pPr marL="107950" lvl="0" indent="0">
              <a:buClr>
                <a:schemeClr val="dk1"/>
              </a:buClr>
              <a:buSzPts val="1900"/>
              <a:buNone/>
            </a:pPr>
            <a:r>
              <a:rPr lang="ru-RU" b="1" dirty="0">
                <a:solidFill>
                  <a:schemeClr val="dk1"/>
                </a:solidFill>
                <a:latin typeface="Nunito"/>
                <a:ea typeface="Nunito"/>
                <a:cs typeface="Nunito"/>
                <a:sym typeface="Nunito"/>
              </a:rPr>
              <a:t>Обычный пайплайн </a:t>
            </a:r>
            <a:r>
              <a:rPr lang="ru-RU" dirty="0">
                <a:solidFill>
                  <a:schemeClr val="dk1"/>
                </a:solidFill>
                <a:latin typeface="Nunito"/>
                <a:ea typeface="Nunito"/>
                <a:cs typeface="Nunito"/>
                <a:sym typeface="Nunito"/>
              </a:rPr>
              <a:t>для обучения </a:t>
            </a:r>
            <a:r>
              <a:rPr lang="en-US" dirty="0">
                <a:solidFill>
                  <a:schemeClr val="dk1"/>
                </a:solidFill>
                <a:latin typeface="Nunito"/>
                <a:ea typeface="Nunito"/>
                <a:cs typeface="Nunito"/>
                <a:sym typeface="Nunito"/>
              </a:rPr>
              <a:t>ML-</a:t>
            </a:r>
            <a:r>
              <a:rPr lang="ru-RU" dirty="0">
                <a:solidFill>
                  <a:schemeClr val="dk1"/>
                </a:solidFill>
                <a:latin typeface="Nunito"/>
                <a:ea typeface="Nunito"/>
                <a:cs typeface="Nunito"/>
                <a:sym typeface="Nunito"/>
              </a:rPr>
              <a:t>модели:</a:t>
            </a:r>
            <a:endParaRPr lang="en-US" dirty="0">
              <a:solidFill>
                <a:schemeClr val="dk1"/>
              </a:solidFill>
              <a:latin typeface="Nunito"/>
              <a:ea typeface="Nunito"/>
              <a:cs typeface="Nunito"/>
              <a:sym typeface="Nunito"/>
            </a:endParaRPr>
          </a:p>
          <a:p>
            <a:pPr marL="565150" lvl="0" indent="-457200">
              <a:buClr>
                <a:schemeClr val="dk1"/>
              </a:buClr>
              <a:buSzPts val="1900"/>
              <a:buFont typeface="+mj-lt"/>
              <a:buAutoNum type="arabicPeriod" startAt="4"/>
            </a:pPr>
            <a:r>
              <a:rPr lang="ru-RU" dirty="0" err="1">
                <a:solidFill>
                  <a:schemeClr val="dk1"/>
                </a:solidFill>
                <a:latin typeface="Nunito"/>
                <a:ea typeface="Nunito"/>
                <a:cs typeface="Nunito"/>
                <a:sym typeface="Nunito"/>
              </a:rPr>
              <a:t>Разведовательный</a:t>
            </a:r>
            <a:r>
              <a:rPr lang="ru-RU" dirty="0">
                <a:solidFill>
                  <a:schemeClr val="dk1"/>
                </a:solidFill>
                <a:latin typeface="Nunito"/>
                <a:ea typeface="Nunito"/>
                <a:cs typeface="Nunito"/>
                <a:sym typeface="Nunito"/>
              </a:rPr>
              <a:t> анализ данных (</a:t>
            </a:r>
            <a:r>
              <a:rPr lang="en-US" dirty="0">
                <a:solidFill>
                  <a:schemeClr val="dk1"/>
                </a:solidFill>
                <a:latin typeface="Nunito"/>
                <a:ea typeface="Nunito"/>
                <a:cs typeface="Nunito"/>
                <a:sym typeface="Nunito"/>
              </a:rPr>
              <a:t>EDA</a:t>
            </a:r>
            <a:r>
              <a:rPr lang="ru-RU" dirty="0">
                <a:solidFill>
                  <a:schemeClr val="dk1"/>
                </a:solidFill>
                <a:latin typeface="Nunito"/>
                <a:ea typeface="Nunito"/>
                <a:cs typeface="Nunito"/>
                <a:sym typeface="Nunito"/>
              </a:rPr>
              <a:t>, </a:t>
            </a:r>
            <a:r>
              <a:rPr lang="en-US" dirty="0">
                <a:solidFill>
                  <a:schemeClr val="dk1"/>
                </a:solidFill>
                <a:latin typeface="Nunito"/>
                <a:ea typeface="Nunito"/>
                <a:cs typeface="Nunito"/>
                <a:sym typeface="Nunito"/>
              </a:rPr>
              <a:t>Exploratory Data Analysis) </a:t>
            </a:r>
            <a:r>
              <a:rPr lang="ru-RU" dirty="0">
                <a:solidFill>
                  <a:schemeClr val="dk1"/>
                </a:solidFill>
                <a:latin typeface="Nunito"/>
                <a:ea typeface="Nunito"/>
                <a:cs typeface="Nunito"/>
                <a:sym typeface="Nunito"/>
              </a:rPr>
              <a:t>и аугментация данных</a:t>
            </a:r>
          </a:p>
          <a:p>
            <a:pPr marL="565150" lvl="0" indent="-457200" algn="l" rtl="0">
              <a:spcBef>
                <a:spcPts val="0"/>
              </a:spcBef>
              <a:spcAft>
                <a:spcPts val="0"/>
              </a:spcAft>
              <a:buClr>
                <a:schemeClr val="dk1"/>
              </a:buClr>
              <a:buSzPts val="1900"/>
              <a:buFont typeface="+mj-lt"/>
              <a:buAutoNum type="arabicPeriod" startAt="2"/>
            </a:pPr>
            <a:endParaRPr lang="en-US" dirty="0">
              <a:solidFill>
                <a:schemeClr val="dk1"/>
              </a:solidFill>
              <a:latin typeface="Nunito"/>
              <a:ea typeface="Nunito"/>
              <a:cs typeface="Nunito"/>
              <a:sym typeface="Nunito"/>
            </a:endParaRP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В этот раздел входит всестороннее изучение данных, и их подготовка к дальнейшему использованию</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Ключевыми шагами являются: обработка пропущенных значений, анализ распределения переменных и разметки, поиск корреляций и аномалий, </a:t>
            </a:r>
            <a:r>
              <a:rPr lang="ru-RU" b="1" dirty="0">
                <a:solidFill>
                  <a:schemeClr val="dk1"/>
                </a:solidFill>
                <a:latin typeface="Nunito"/>
                <a:ea typeface="Nunito"/>
                <a:cs typeface="Nunito"/>
                <a:sym typeface="Nunito"/>
              </a:rPr>
              <a:t>визуализация и фиксация </a:t>
            </a:r>
            <a:r>
              <a:rPr lang="ru-RU" dirty="0">
                <a:solidFill>
                  <a:schemeClr val="dk1"/>
                </a:solidFill>
                <a:latin typeface="Nunito"/>
                <a:ea typeface="Nunito"/>
                <a:cs typeface="Nunito"/>
                <a:sym typeface="Nunito"/>
              </a:rPr>
              <a:t>полученных результатов</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При необходимости, в этот раздел также входит </a:t>
            </a:r>
            <a:r>
              <a:rPr lang="ru-RU" b="1" dirty="0">
                <a:solidFill>
                  <a:schemeClr val="dk1"/>
                </a:solidFill>
                <a:latin typeface="Nunito"/>
                <a:ea typeface="Nunito"/>
                <a:cs typeface="Nunito"/>
                <a:sym typeface="Nunito"/>
              </a:rPr>
              <a:t>нормализация </a:t>
            </a:r>
            <a:r>
              <a:rPr lang="ru-RU" dirty="0">
                <a:solidFill>
                  <a:schemeClr val="dk1"/>
                </a:solidFill>
                <a:latin typeface="Nunito"/>
                <a:ea typeface="Nunito"/>
                <a:cs typeface="Nunito"/>
                <a:sym typeface="Nunito"/>
              </a:rPr>
              <a:t>данных</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Аугментация данных применяется только при </a:t>
            </a:r>
            <a:r>
              <a:rPr lang="ru-RU" b="1" dirty="0">
                <a:solidFill>
                  <a:schemeClr val="dk1"/>
                </a:solidFill>
                <a:latin typeface="Nunito"/>
                <a:ea typeface="Nunito"/>
                <a:cs typeface="Nunito"/>
                <a:sym typeface="Nunito"/>
              </a:rPr>
              <a:t>обучении</a:t>
            </a:r>
          </a:p>
          <a:p>
            <a:pPr marL="393700" indent="-285750">
              <a:buClr>
                <a:schemeClr val="dk1"/>
              </a:buClr>
              <a:buSzPts val="1900"/>
            </a:pPr>
            <a:endParaRPr lang="ru-RU" dirty="0">
              <a:solidFill>
                <a:schemeClr val="dk1"/>
              </a:solidFill>
              <a:latin typeface="Nunito"/>
              <a:ea typeface="Nunito"/>
              <a:cs typeface="Nunito"/>
              <a:sym typeface="Nunito"/>
            </a:endParaRPr>
          </a:p>
          <a:p>
            <a:pPr marL="393700" indent="-285750">
              <a:buClr>
                <a:schemeClr val="dk1"/>
              </a:buClr>
              <a:buSzPts val="1900"/>
            </a:pPr>
            <a:endParaRPr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16</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spTree>
    <p:extLst>
      <p:ext uri="{BB962C8B-B14F-4D97-AF65-F5344CB8AC3E}">
        <p14:creationId xmlns:p14="http://schemas.microsoft.com/office/powerpoint/2010/main" val="16870306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950"/>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Полный пайплайн обучения </a:t>
            </a:r>
            <a:r>
              <a:rPr lang="en-US" b="1" dirty="0">
                <a:latin typeface="Nunito"/>
                <a:ea typeface="Nunito"/>
                <a:cs typeface="Nunito"/>
                <a:sym typeface="Nunito"/>
              </a:rPr>
              <a:t>ML-</a:t>
            </a:r>
            <a:r>
              <a:rPr lang="ru-RU" b="1" dirty="0">
                <a:latin typeface="Nunito"/>
                <a:ea typeface="Nunito"/>
                <a:cs typeface="Nunito"/>
                <a:sym typeface="Nunito"/>
              </a:rPr>
              <a:t>модели</a:t>
            </a:r>
            <a:endParaRPr b="1" dirty="0">
              <a:latin typeface="Nunito"/>
              <a:ea typeface="Nunito"/>
              <a:cs typeface="Nunito"/>
              <a:sym typeface="Nunito"/>
            </a:endParaRPr>
          </a:p>
        </p:txBody>
      </p:sp>
      <p:sp>
        <p:nvSpPr>
          <p:cNvPr id="86" name="Google Shape;86;p16"/>
          <p:cNvSpPr txBox="1">
            <a:spLocks noGrp="1"/>
          </p:cNvSpPr>
          <p:nvPr>
            <p:ph type="body" idx="1"/>
          </p:nvPr>
        </p:nvSpPr>
        <p:spPr>
          <a:xfrm>
            <a:off x="311700" y="539341"/>
            <a:ext cx="8520600" cy="4029509"/>
          </a:xfrm>
          <a:prstGeom prst="rect">
            <a:avLst/>
          </a:prstGeom>
        </p:spPr>
        <p:txBody>
          <a:bodyPr spcFirstLastPara="1" wrap="square" lIns="91425" tIns="91425" rIns="91425" bIns="91425" anchor="t" anchorCtr="0">
            <a:normAutofit/>
          </a:bodyPr>
          <a:lstStyle/>
          <a:p>
            <a:pPr marL="107950" lvl="0" indent="0">
              <a:buClr>
                <a:schemeClr val="dk1"/>
              </a:buClr>
              <a:buSzPts val="1900"/>
              <a:buNone/>
            </a:pPr>
            <a:r>
              <a:rPr lang="ru-RU" b="1" dirty="0">
                <a:solidFill>
                  <a:schemeClr val="dk1"/>
                </a:solidFill>
                <a:latin typeface="Nunito"/>
                <a:ea typeface="Nunito"/>
                <a:cs typeface="Nunito"/>
                <a:sym typeface="Nunito"/>
              </a:rPr>
              <a:t>Обычный пайплайн </a:t>
            </a:r>
            <a:r>
              <a:rPr lang="ru-RU" dirty="0">
                <a:solidFill>
                  <a:schemeClr val="dk1"/>
                </a:solidFill>
                <a:latin typeface="Nunito"/>
                <a:ea typeface="Nunito"/>
                <a:cs typeface="Nunito"/>
                <a:sym typeface="Nunito"/>
              </a:rPr>
              <a:t>для обучения </a:t>
            </a:r>
            <a:r>
              <a:rPr lang="en-US" dirty="0">
                <a:solidFill>
                  <a:schemeClr val="dk1"/>
                </a:solidFill>
                <a:latin typeface="Nunito"/>
                <a:ea typeface="Nunito"/>
                <a:cs typeface="Nunito"/>
                <a:sym typeface="Nunito"/>
              </a:rPr>
              <a:t>ML-</a:t>
            </a:r>
            <a:r>
              <a:rPr lang="ru-RU" dirty="0">
                <a:solidFill>
                  <a:schemeClr val="dk1"/>
                </a:solidFill>
                <a:latin typeface="Nunito"/>
                <a:ea typeface="Nunito"/>
                <a:cs typeface="Nunito"/>
                <a:sym typeface="Nunito"/>
              </a:rPr>
              <a:t>модели:</a:t>
            </a:r>
            <a:endParaRPr lang="en-US" dirty="0">
              <a:solidFill>
                <a:schemeClr val="dk1"/>
              </a:solidFill>
              <a:latin typeface="Nunito"/>
              <a:ea typeface="Nunito"/>
              <a:cs typeface="Nunito"/>
              <a:sym typeface="Nunito"/>
            </a:endParaRPr>
          </a:p>
          <a:p>
            <a:pPr marL="565150" lvl="0" indent="-457200">
              <a:buClr>
                <a:schemeClr val="dk1"/>
              </a:buClr>
              <a:buSzPts val="1900"/>
              <a:buFont typeface="+mj-lt"/>
              <a:buAutoNum type="arabicPeriod" startAt="5"/>
            </a:pPr>
            <a:r>
              <a:rPr lang="ru-RU" dirty="0">
                <a:solidFill>
                  <a:schemeClr val="dk1"/>
                </a:solidFill>
                <a:latin typeface="Nunito"/>
                <a:ea typeface="Nunito"/>
                <a:cs typeface="Nunito"/>
                <a:sym typeface="Nunito"/>
              </a:rPr>
              <a:t>Инжиниринг и отбор признаков</a:t>
            </a:r>
          </a:p>
          <a:p>
            <a:pPr marL="565150" lvl="0" indent="-457200" algn="l" rtl="0">
              <a:spcBef>
                <a:spcPts val="0"/>
              </a:spcBef>
              <a:spcAft>
                <a:spcPts val="0"/>
              </a:spcAft>
              <a:buClr>
                <a:schemeClr val="dk1"/>
              </a:buClr>
              <a:buSzPts val="1900"/>
              <a:buFont typeface="+mj-lt"/>
              <a:buAutoNum type="arabicPeriod" startAt="2"/>
            </a:pPr>
            <a:endParaRPr lang="en-US" dirty="0">
              <a:solidFill>
                <a:schemeClr val="dk1"/>
              </a:solidFill>
              <a:latin typeface="Nunito"/>
              <a:ea typeface="Nunito"/>
              <a:cs typeface="Nunito"/>
              <a:sym typeface="Nunito"/>
            </a:endParaRP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Данный раздел относится к области классического машинного обучения, где создание и отбор признаков производятся </a:t>
            </a:r>
            <a:r>
              <a:rPr lang="ru-RU" b="1" dirty="0">
                <a:solidFill>
                  <a:schemeClr val="dk1"/>
                </a:solidFill>
                <a:latin typeface="Nunito"/>
                <a:ea typeface="Nunito"/>
                <a:cs typeface="Nunito"/>
                <a:sym typeface="Nunito"/>
              </a:rPr>
              <a:t>вручную</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На этом этапе, на основе результатов </a:t>
            </a:r>
            <a:r>
              <a:rPr lang="en-US" dirty="0">
                <a:solidFill>
                  <a:schemeClr val="dk1"/>
                </a:solidFill>
                <a:latin typeface="Nunito"/>
                <a:ea typeface="Nunito"/>
                <a:cs typeface="Nunito"/>
                <a:sym typeface="Nunito"/>
              </a:rPr>
              <a:t>EDA</a:t>
            </a:r>
            <a:r>
              <a:rPr lang="ru-RU" dirty="0">
                <a:solidFill>
                  <a:schemeClr val="dk1"/>
                </a:solidFill>
                <a:latin typeface="Nunito"/>
                <a:ea typeface="Nunito"/>
                <a:cs typeface="Nunito"/>
                <a:sym typeface="Nunito"/>
              </a:rPr>
              <a:t>, производится создание новых признаков на основе имеющихся, выбор содержательных признаков (рекурсивный отбор коррелирующих)</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Особое внимание здесь уделяется кодированию категориальных признаков, если таковые имеются</a:t>
            </a:r>
          </a:p>
          <a:p>
            <a:pPr marL="393700" indent="-285750">
              <a:buClr>
                <a:schemeClr val="dk1"/>
              </a:buClr>
              <a:buSzPts val="1900"/>
            </a:pPr>
            <a:endParaRPr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17</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spTree>
    <p:extLst>
      <p:ext uri="{BB962C8B-B14F-4D97-AF65-F5344CB8AC3E}">
        <p14:creationId xmlns:p14="http://schemas.microsoft.com/office/powerpoint/2010/main" val="34691738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950"/>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Полный пайплайн обучения </a:t>
            </a:r>
            <a:r>
              <a:rPr lang="en-US" b="1" dirty="0">
                <a:latin typeface="Nunito"/>
                <a:ea typeface="Nunito"/>
                <a:cs typeface="Nunito"/>
                <a:sym typeface="Nunito"/>
              </a:rPr>
              <a:t>ML-</a:t>
            </a:r>
            <a:r>
              <a:rPr lang="ru-RU" b="1" dirty="0">
                <a:latin typeface="Nunito"/>
                <a:ea typeface="Nunito"/>
                <a:cs typeface="Nunito"/>
                <a:sym typeface="Nunito"/>
              </a:rPr>
              <a:t>модели</a:t>
            </a:r>
            <a:endParaRPr b="1" dirty="0">
              <a:latin typeface="Nunito"/>
              <a:ea typeface="Nunito"/>
              <a:cs typeface="Nunito"/>
              <a:sym typeface="Nunito"/>
            </a:endParaRPr>
          </a:p>
        </p:txBody>
      </p:sp>
      <p:sp>
        <p:nvSpPr>
          <p:cNvPr id="86" name="Google Shape;86;p16"/>
          <p:cNvSpPr txBox="1">
            <a:spLocks noGrp="1"/>
          </p:cNvSpPr>
          <p:nvPr>
            <p:ph type="body" idx="1"/>
          </p:nvPr>
        </p:nvSpPr>
        <p:spPr>
          <a:xfrm>
            <a:off x="311700" y="539341"/>
            <a:ext cx="8520600" cy="4029509"/>
          </a:xfrm>
          <a:prstGeom prst="rect">
            <a:avLst/>
          </a:prstGeom>
        </p:spPr>
        <p:txBody>
          <a:bodyPr spcFirstLastPara="1" wrap="square" lIns="91425" tIns="91425" rIns="91425" bIns="91425" anchor="t" anchorCtr="0">
            <a:normAutofit/>
          </a:bodyPr>
          <a:lstStyle/>
          <a:p>
            <a:pPr marL="107950" lvl="0" indent="0">
              <a:buClr>
                <a:schemeClr val="dk1"/>
              </a:buClr>
              <a:buSzPts val="1900"/>
              <a:buNone/>
            </a:pPr>
            <a:r>
              <a:rPr lang="ru-RU" b="1" dirty="0">
                <a:solidFill>
                  <a:schemeClr val="dk1"/>
                </a:solidFill>
                <a:latin typeface="Nunito"/>
                <a:ea typeface="Nunito"/>
                <a:cs typeface="Nunito"/>
                <a:sym typeface="Nunito"/>
              </a:rPr>
              <a:t>Обычный пайплайн </a:t>
            </a:r>
            <a:r>
              <a:rPr lang="ru-RU" dirty="0">
                <a:solidFill>
                  <a:schemeClr val="dk1"/>
                </a:solidFill>
                <a:latin typeface="Nunito"/>
                <a:ea typeface="Nunito"/>
                <a:cs typeface="Nunito"/>
                <a:sym typeface="Nunito"/>
              </a:rPr>
              <a:t>для обучения </a:t>
            </a:r>
            <a:r>
              <a:rPr lang="en-US" dirty="0">
                <a:solidFill>
                  <a:schemeClr val="dk1"/>
                </a:solidFill>
                <a:latin typeface="Nunito"/>
                <a:ea typeface="Nunito"/>
                <a:cs typeface="Nunito"/>
                <a:sym typeface="Nunito"/>
              </a:rPr>
              <a:t>ML-</a:t>
            </a:r>
            <a:r>
              <a:rPr lang="ru-RU" dirty="0">
                <a:solidFill>
                  <a:schemeClr val="dk1"/>
                </a:solidFill>
                <a:latin typeface="Nunito"/>
                <a:ea typeface="Nunito"/>
                <a:cs typeface="Nunito"/>
                <a:sym typeface="Nunito"/>
              </a:rPr>
              <a:t>модели:</a:t>
            </a:r>
            <a:endParaRPr lang="en-US" dirty="0">
              <a:solidFill>
                <a:schemeClr val="dk1"/>
              </a:solidFill>
              <a:latin typeface="Nunito"/>
              <a:ea typeface="Nunito"/>
              <a:cs typeface="Nunito"/>
              <a:sym typeface="Nunito"/>
            </a:endParaRPr>
          </a:p>
          <a:p>
            <a:pPr marL="565150" lvl="0" indent="-457200">
              <a:buClr>
                <a:schemeClr val="dk1"/>
              </a:buClr>
              <a:buSzPts val="1900"/>
              <a:buFont typeface="+mj-lt"/>
              <a:buAutoNum type="arabicPeriod" startAt="6"/>
            </a:pPr>
            <a:r>
              <a:rPr lang="ru-RU" dirty="0">
                <a:solidFill>
                  <a:schemeClr val="dk1"/>
                </a:solidFill>
                <a:latin typeface="Nunito"/>
                <a:ea typeface="Nunito"/>
                <a:cs typeface="Nunito"/>
                <a:sym typeface="Nunito"/>
              </a:rPr>
              <a:t>Разделение данных на выборки</a:t>
            </a:r>
          </a:p>
          <a:p>
            <a:pPr marL="565150" lvl="0" indent="-457200" algn="l" rtl="0">
              <a:spcBef>
                <a:spcPts val="0"/>
              </a:spcBef>
              <a:spcAft>
                <a:spcPts val="0"/>
              </a:spcAft>
              <a:buClr>
                <a:schemeClr val="dk1"/>
              </a:buClr>
              <a:buSzPts val="1900"/>
              <a:buFont typeface="+mj-lt"/>
              <a:buAutoNum type="arabicPeriod" startAt="2"/>
            </a:pPr>
            <a:endParaRPr lang="en-US" dirty="0">
              <a:solidFill>
                <a:schemeClr val="dk1"/>
              </a:solidFill>
              <a:latin typeface="Nunito"/>
              <a:ea typeface="Nunito"/>
              <a:cs typeface="Nunito"/>
              <a:sym typeface="Nunito"/>
            </a:endParaRP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Цель: разделить имеющиеся данные</a:t>
            </a:r>
            <a:r>
              <a:rPr lang="en-US" dirty="0">
                <a:solidFill>
                  <a:schemeClr val="dk1"/>
                </a:solidFill>
                <a:latin typeface="Nunito"/>
                <a:ea typeface="Nunito"/>
                <a:cs typeface="Nunito"/>
                <a:sym typeface="Nunito"/>
              </a:rPr>
              <a:t> </a:t>
            </a:r>
            <a:r>
              <a:rPr lang="ru-RU" dirty="0">
                <a:solidFill>
                  <a:schemeClr val="dk1"/>
                </a:solidFill>
                <a:latin typeface="Nunito"/>
                <a:ea typeface="Nunito"/>
                <a:cs typeface="Nunito"/>
                <a:sym typeface="Nunito"/>
              </a:rPr>
              <a:t>на тренировочные и </a:t>
            </a:r>
            <a:r>
              <a:rPr lang="ru-RU" dirty="0" err="1">
                <a:solidFill>
                  <a:schemeClr val="dk1"/>
                </a:solidFill>
                <a:latin typeface="Nunito"/>
                <a:ea typeface="Nunito"/>
                <a:cs typeface="Nunito"/>
                <a:sym typeface="Nunito"/>
              </a:rPr>
              <a:t>валидационные</a:t>
            </a:r>
            <a:r>
              <a:rPr lang="ru-RU" dirty="0">
                <a:solidFill>
                  <a:schemeClr val="dk1"/>
                </a:solidFill>
                <a:latin typeface="Nunito"/>
                <a:ea typeface="Nunito"/>
                <a:cs typeface="Nunito"/>
                <a:sym typeface="Nunito"/>
              </a:rPr>
              <a:t> (тестовые данные считаем скрытыми)</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Популярные варианты разделения: стратифицированное, групповое, использование скользящего окна, кросс-валидация</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Типичные ошибки: не фиксировать </a:t>
            </a:r>
            <a:r>
              <a:rPr lang="en-US" dirty="0" err="1">
                <a:solidFill>
                  <a:schemeClr val="dk1"/>
                </a:solidFill>
                <a:latin typeface="Nunito"/>
                <a:ea typeface="Nunito"/>
                <a:cs typeface="Nunito"/>
                <a:sym typeface="Nunito"/>
              </a:rPr>
              <a:t>random_state</a:t>
            </a:r>
            <a:r>
              <a:rPr lang="en-US" dirty="0">
                <a:solidFill>
                  <a:schemeClr val="dk1"/>
                </a:solidFill>
                <a:latin typeface="Nunito"/>
                <a:ea typeface="Nunito"/>
                <a:cs typeface="Nunito"/>
                <a:sym typeface="Nunito"/>
              </a:rPr>
              <a:t>, </a:t>
            </a:r>
            <a:r>
              <a:rPr lang="ru-RU" dirty="0">
                <a:solidFill>
                  <a:schemeClr val="dk1"/>
                </a:solidFill>
                <a:latin typeface="Nunito"/>
                <a:ea typeface="Nunito"/>
                <a:cs typeface="Nunito"/>
                <a:sym typeface="Nunito"/>
              </a:rPr>
              <a:t>допускать утечку данных в тренировочную выборку, неправильно разбивать временные серии</a:t>
            </a:r>
          </a:p>
          <a:p>
            <a:pPr marL="393700" indent="-285750">
              <a:buClr>
                <a:schemeClr val="dk1"/>
              </a:buClr>
              <a:buSzPts val="1900"/>
            </a:pPr>
            <a:endParaRPr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18</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spTree>
    <p:extLst>
      <p:ext uri="{BB962C8B-B14F-4D97-AF65-F5344CB8AC3E}">
        <p14:creationId xmlns:p14="http://schemas.microsoft.com/office/powerpoint/2010/main" val="42007920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950"/>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Полный пайплайн обучения </a:t>
            </a:r>
            <a:r>
              <a:rPr lang="en-US" b="1" dirty="0">
                <a:latin typeface="Nunito"/>
                <a:ea typeface="Nunito"/>
                <a:cs typeface="Nunito"/>
                <a:sym typeface="Nunito"/>
              </a:rPr>
              <a:t>ML-</a:t>
            </a:r>
            <a:r>
              <a:rPr lang="ru-RU" b="1" dirty="0">
                <a:latin typeface="Nunito"/>
                <a:ea typeface="Nunito"/>
                <a:cs typeface="Nunito"/>
                <a:sym typeface="Nunito"/>
              </a:rPr>
              <a:t>модели</a:t>
            </a:r>
            <a:endParaRPr b="1" dirty="0">
              <a:latin typeface="Nunito"/>
              <a:ea typeface="Nunito"/>
              <a:cs typeface="Nunito"/>
              <a:sym typeface="Nunito"/>
            </a:endParaRPr>
          </a:p>
        </p:txBody>
      </p:sp>
      <p:sp>
        <p:nvSpPr>
          <p:cNvPr id="86" name="Google Shape;86;p16"/>
          <p:cNvSpPr txBox="1">
            <a:spLocks noGrp="1"/>
          </p:cNvSpPr>
          <p:nvPr>
            <p:ph type="body" idx="1"/>
          </p:nvPr>
        </p:nvSpPr>
        <p:spPr>
          <a:xfrm>
            <a:off x="311700" y="539341"/>
            <a:ext cx="8520600" cy="4029509"/>
          </a:xfrm>
          <a:prstGeom prst="rect">
            <a:avLst/>
          </a:prstGeom>
        </p:spPr>
        <p:txBody>
          <a:bodyPr spcFirstLastPara="1" wrap="square" lIns="91425" tIns="91425" rIns="91425" bIns="91425" anchor="t" anchorCtr="0">
            <a:normAutofit/>
          </a:bodyPr>
          <a:lstStyle/>
          <a:p>
            <a:pPr marL="107950" lvl="0" indent="0">
              <a:buClr>
                <a:schemeClr val="dk1"/>
              </a:buClr>
              <a:buSzPts val="1900"/>
              <a:buNone/>
            </a:pPr>
            <a:r>
              <a:rPr lang="ru-RU" b="1" dirty="0">
                <a:solidFill>
                  <a:schemeClr val="dk1"/>
                </a:solidFill>
                <a:latin typeface="Nunito"/>
                <a:ea typeface="Nunito"/>
                <a:cs typeface="Nunito"/>
                <a:sym typeface="Nunito"/>
              </a:rPr>
              <a:t>Обычный пайплайн </a:t>
            </a:r>
            <a:r>
              <a:rPr lang="ru-RU" dirty="0">
                <a:solidFill>
                  <a:schemeClr val="dk1"/>
                </a:solidFill>
                <a:latin typeface="Nunito"/>
                <a:ea typeface="Nunito"/>
                <a:cs typeface="Nunito"/>
                <a:sym typeface="Nunito"/>
              </a:rPr>
              <a:t>для обучения </a:t>
            </a:r>
            <a:r>
              <a:rPr lang="en-US" dirty="0">
                <a:solidFill>
                  <a:schemeClr val="dk1"/>
                </a:solidFill>
                <a:latin typeface="Nunito"/>
                <a:ea typeface="Nunito"/>
                <a:cs typeface="Nunito"/>
                <a:sym typeface="Nunito"/>
              </a:rPr>
              <a:t>ML-</a:t>
            </a:r>
            <a:r>
              <a:rPr lang="ru-RU" dirty="0">
                <a:solidFill>
                  <a:schemeClr val="dk1"/>
                </a:solidFill>
                <a:latin typeface="Nunito"/>
                <a:ea typeface="Nunito"/>
                <a:cs typeface="Nunito"/>
                <a:sym typeface="Nunito"/>
              </a:rPr>
              <a:t>модели:</a:t>
            </a:r>
            <a:endParaRPr lang="en-US" dirty="0">
              <a:solidFill>
                <a:schemeClr val="dk1"/>
              </a:solidFill>
              <a:latin typeface="Nunito"/>
              <a:ea typeface="Nunito"/>
              <a:cs typeface="Nunito"/>
              <a:sym typeface="Nunito"/>
            </a:endParaRPr>
          </a:p>
          <a:p>
            <a:pPr marL="565150" lvl="0" indent="-457200">
              <a:buClr>
                <a:schemeClr val="dk1"/>
              </a:buClr>
              <a:buSzPts val="1900"/>
              <a:buFont typeface="+mj-lt"/>
              <a:buAutoNum type="arabicPeriod" startAt="7"/>
            </a:pPr>
            <a:r>
              <a:rPr lang="ru-RU" dirty="0">
                <a:solidFill>
                  <a:schemeClr val="dk1"/>
                </a:solidFill>
                <a:latin typeface="Nunito"/>
                <a:ea typeface="Nunito"/>
                <a:cs typeface="Nunito"/>
                <a:sym typeface="Nunito"/>
              </a:rPr>
              <a:t>Выбор модели и её обучение</a:t>
            </a:r>
          </a:p>
          <a:p>
            <a:pPr marL="565150" lvl="0" indent="-457200" algn="l" rtl="0">
              <a:spcBef>
                <a:spcPts val="0"/>
              </a:spcBef>
              <a:spcAft>
                <a:spcPts val="0"/>
              </a:spcAft>
              <a:buClr>
                <a:schemeClr val="dk1"/>
              </a:buClr>
              <a:buSzPts val="1900"/>
              <a:buFont typeface="+mj-lt"/>
              <a:buAutoNum type="arabicPeriod" startAt="2"/>
            </a:pPr>
            <a:endParaRPr lang="en-US" dirty="0">
              <a:solidFill>
                <a:schemeClr val="dk1"/>
              </a:solidFill>
              <a:latin typeface="Nunito"/>
              <a:ea typeface="Nunito"/>
              <a:cs typeface="Nunito"/>
              <a:sym typeface="Nunito"/>
            </a:endParaRP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Варианты: Выбрать уже готовую модель или собрать архитектуру модели самостоятельно</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Выбор модели должен обосновываться не только целевыми метриками, но и изучением похожих задач и результатам на них</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В обязательном порядке нужно учитывать количество времени, которое есть на обучение модели</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Своя архитектура чаще всего нужна для прорывных исследований и уникальных задач. Но чаще всего даже здесь модель будет гибридной</a:t>
            </a:r>
          </a:p>
          <a:p>
            <a:pPr marL="393700" indent="-285750">
              <a:buClr>
                <a:schemeClr val="dk1"/>
              </a:buClr>
              <a:buSzPts val="1900"/>
            </a:pPr>
            <a:endParaRPr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19</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spTree>
    <p:extLst>
      <p:ext uri="{BB962C8B-B14F-4D97-AF65-F5344CB8AC3E}">
        <p14:creationId xmlns:p14="http://schemas.microsoft.com/office/powerpoint/2010/main" val="2564564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950"/>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Полный пайплайн обучения </a:t>
            </a:r>
            <a:r>
              <a:rPr lang="en-US" b="1" dirty="0">
                <a:latin typeface="Nunito"/>
                <a:ea typeface="Nunito"/>
                <a:cs typeface="Nunito"/>
                <a:sym typeface="Nunito"/>
              </a:rPr>
              <a:t>ML-</a:t>
            </a:r>
            <a:r>
              <a:rPr lang="ru-RU" b="1" dirty="0">
                <a:latin typeface="Nunito"/>
                <a:ea typeface="Nunito"/>
                <a:cs typeface="Nunito"/>
                <a:sym typeface="Nunito"/>
              </a:rPr>
              <a:t>модели</a:t>
            </a:r>
            <a:endParaRPr b="1" dirty="0">
              <a:latin typeface="Nunito"/>
              <a:ea typeface="Nunito"/>
              <a:cs typeface="Nunito"/>
              <a:sym typeface="Nunito"/>
            </a:endParaRPr>
          </a:p>
        </p:txBody>
      </p:sp>
      <p:sp>
        <p:nvSpPr>
          <p:cNvPr id="86" name="Google Shape;86;p16"/>
          <p:cNvSpPr txBox="1">
            <a:spLocks noGrp="1"/>
          </p:cNvSpPr>
          <p:nvPr>
            <p:ph type="body" idx="1"/>
          </p:nvPr>
        </p:nvSpPr>
        <p:spPr>
          <a:xfrm>
            <a:off x="311700" y="539341"/>
            <a:ext cx="8520600" cy="4029509"/>
          </a:xfrm>
          <a:prstGeom prst="rect">
            <a:avLst/>
          </a:prstGeom>
        </p:spPr>
        <p:txBody>
          <a:bodyPr spcFirstLastPara="1" wrap="square" lIns="91425" tIns="91425" rIns="91425" bIns="91425" anchor="t" anchorCtr="0">
            <a:normAutofit/>
          </a:bodyPr>
          <a:lstStyle/>
          <a:p>
            <a:pPr marL="107950" lvl="0" indent="0">
              <a:buClr>
                <a:schemeClr val="dk1"/>
              </a:buClr>
              <a:buSzPts val="1900"/>
              <a:buNone/>
            </a:pPr>
            <a:r>
              <a:rPr lang="ru-RU" b="1" dirty="0">
                <a:solidFill>
                  <a:schemeClr val="dk1"/>
                </a:solidFill>
                <a:latin typeface="Nunito"/>
                <a:ea typeface="Nunito"/>
                <a:cs typeface="Nunito"/>
                <a:sym typeface="Nunito"/>
              </a:rPr>
              <a:t>Обычный пайплайн </a:t>
            </a:r>
            <a:r>
              <a:rPr lang="ru-RU" dirty="0">
                <a:solidFill>
                  <a:schemeClr val="dk1"/>
                </a:solidFill>
                <a:latin typeface="Nunito"/>
                <a:ea typeface="Nunito"/>
                <a:cs typeface="Nunito"/>
                <a:sym typeface="Nunito"/>
              </a:rPr>
              <a:t>для обучения </a:t>
            </a:r>
            <a:r>
              <a:rPr lang="en-US" dirty="0">
                <a:solidFill>
                  <a:schemeClr val="dk1"/>
                </a:solidFill>
                <a:latin typeface="Nunito"/>
                <a:ea typeface="Nunito"/>
                <a:cs typeface="Nunito"/>
                <a:sym typeface="Nunito"/>
              </a:rPr>
              <a:t>ML-</a:t>
            </a:r>
            <a:r>
              <a:rPr lang="ru-RU" dirty="0">
                <a:solidFill>
                  <a:schemeClr val="dk1"/>
                </a:solidFill>
                <a:latin typeface="Nunito"/>
                <a:ea typeface="Nunito"/>
                <a:cs typeface="Nunito"/>
                <a:sym typeface="Nunito"/>
              </a:rPr>
              <a:t>модели:</a:t>
            </a:r>
            <a:endParaRPr lang="en-US" dirty="0">
              <a:solidFill>
                <a:schemeClr val="dk1"/>
              </a:solidFill>
              <a:latin typeface="Nunito"/>
              <a:ea typeface="Nunito"/>
              <a:cs typeface="Nunito"/>
              <a:sym typeface="Nunito"/>
            </a:endParaRPr>
          </a:p>
          <a:p>
            <a:pPr marL="565150" lvl="0" indent="-457200">
              <a:buClr>
                <a:schemeClr val="dk1"/>
              </a:buClr>
              <a:buSzPts val="1900"/>
              <a:buFont typeface="+mj-lt"/>
              <a:buAutoNum type="arabicPeriod" startAt="8"/>
            </a:pPr>
            <a:r>
              <a:rPr lang="ru-RU" dirty="0" err="1">
                <a:solidFill>
                  <a:schemeClr val="dk1"/>
                </a:solidFill>
                <a:latin typeface="Nunito"/>
                <a:ea typeface="Nunito"/>
                <a:cs typeface="Nunito"/>
                <a:sym typeface="Nunito"/>
              </a:rPr>
              <a:t>Инференс</a:t>
            </a:r>
            <a:r>
              <a:rPr lang="ru-RU" dirty="0">
                <a:solidFill>
                  <a:schemeClr val="dk1"/>
                </a:solidFill>
                <a:latin typeface="Nunito"/>
                <a:ea typeface="Nunito"/>
                <a:cs typeface="Nunito"/>
                <a:sym typeface="Nunito"/>
              </a:rPr>
              <a:t> и валидация модели</a:t>
            </a:r>
          </a:p>
          <a:p>
            <a:pPr marL="565150" lvl="0" indent="-457200" algn="l" rtl="0">
              <a:spcBef>
                <a:spcPts val="0"/>
              </a:spcBef>
              <a:spcAft>
                <a:spcPts val="0"/>
              </a:spcAft>
              <a:buClr>
                <a:schemeClr val="dk1"/>
              </a:buClr>
              <a:buSzPts val="1900"/>
              <a:buFont typeface="+mj-lt"/>
              <a:buAutoNum type="arabicPeriod" startAt="2"/>
            </a:pPr>
            <a:endParaRPr lang="en-US" dirty="0">
              <a:solidFill>
                <a:schemeClr val="dk1"/>
              </a:solidFill>
              <a:latin typeface="Nunito"/>
              <a:ea typeface="Nunito"/>
              <a:cs typeface="Nunito"/>
              <a:sym typeface="Nunito"/>
            </a:endParaRPr>
          </a:p>
          <a:p>
            <a:pPr marL="393700" indent="-285750">
              <a:buClr>
                <a:schemeClr val="dk1"/>
              </a:buClr>
              <a:buSzPts val="1900"/>
              <a:buFont typeface="Arial" panose="020B0604020202020204" pitchFamily="34" charset="0"/>
              <a:buChar char="•"/>
            </a:pPr>
            <a:r>
              <a:rPr lang="ru-RU" dirty="0" err="1">
                <a:solidFill>
                  <a:schemeClr val="dk1"/>
                </a:solidFill>
                <a:latin typeface="Nunito"/>
                <a:ea typeface="Nunito"/>
                <a:cs typeface="Nunito"/>
                <a:sym typeface="Nunito"/>
              </a:rPr>
              <a:t>Инференс</a:t>
            </a:r>
            <a:r>
              <a:rPr lang="ru-RU" dirty="0">
                <a:solidFill>
                  <a:schemeClr val="dk1"/>
                </a:solidFill>
                <a:latin typeface="Nunito"/>
                <a:ea typeface="Nunito"/>
                <a:cs typeface="Nunito"/>
                <a:sym typeface="Nunito"/>
              </a:rPr>
              <a:t> — это этап, когда уже обученная модель принимает новые данные и выдаёт результат.</a:t>
            </a:r>
            <a:endParaRPr lang="en-US" dirty="0">
              <a:solidFill>
                <a:schemeClr val="dk1"/>
              </a:solidFill>
              <a:latin typeface="Nunito"/>
              <a:ea typeface="Nunito"/>
              <a:cs typeface="Nunito"/>
              <a:sym typeface="Nunito"/>
            </a:endParaRP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Валидация — это процесс оценки качества уже обученной модели. </a:t>
            </a:r>
            <a:endParaRPr lang="en-US" dirty="0">
              <a:solidFill>
                <a:schemeClr val="dk1"/>
              </a:solidFill>
              <a:latin typeface="Nunito"/>
              <a:ea typeface="Nunito"/>
              <a:cs typeface="Nunito"/>
              <a:sym typeface="Nunito"/>
            </a:endParaRP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Помимо целевых метрик, следует проверять и дополнительные метрики в зависимости от задачи, чтобы избежать неожиданного нежелательного поведения модели</a:t>
            </a:r>
            <a:endParaRPr lang="en-US" dirty="0">
              <a:solidFill>
                <a:schemeClr val="dk1"/>
              </a:solidFill>
              <a:latin typeface="Nunito"/>
              <a:ea typeface="Nunito"/>
              <a:cs typeface="Nunito"/>
              <a:sym typeface="Nunito"/>
            </a:endParaRPr>
          </a:p>
          <a:p>
            <a:pPr marL="393700" indent="-285750">
              <a:buClr>
                <a:schemeClr val="dk1"/>
              </a:buClr>
              <a:buSzPts val="1900"/>
            </a:pPr>
            <a:endParaRPr lang="ru-RU" dirty="0">
              <a:solidFill>
                <a:schemeClr val="dk1"/>
              </a:solidFill>
              <a:latin typeface="Nunito"/>
              <a:ea typeface="Nunito"/>
              <a:cs typeface="Nunito"/>
              <a:sym typeface="Nunito"/>
            </a:endParaRPr>
          </a:p>
          <a:p>
            <a:pPr marL="393700" indent="-285750">
              <a:buClr>
                <a:schemeClr val="dk1"/>
              </a:buClr>
              <a:buSzPts val="1900"/>
            </a:pPr>
            <a:endParaRPr lang="ru-RU" dirty="0">
              <a:solidFill>
                <a:schemeClr val="dk1"/>
              </a:solidFill>
              <a:latin typeface="Nunito"/>
              <a:ea typeface="Nunito"/>
              <a:cs typeface="Nunito"/>
              <a:sym typeface="Nunito"/>
            </a:endParaRPr>
          </a:p>
          <a:p>
            <a:pPr marL="393700" indent="-285750">
              <a:buClr>
                <a:schemeClr val="dk1"/>
              </a:buClr>
              <a:buSzPts val="1900"/>
            </a:pPr>
            <a:endParaRPr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20</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spTree>
    <p:extLst>
      <p:ext uri="{BB962C8B-B14F-4D97-AF65-F5344CB8AC3E}">
        <p14:creationId xmlns:p14="http://schemas.microsoft.com/office/powerpoint/2010/main" val="9668520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950"/>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Полный пайплайн обучения </a:t>
            </a:r>
            <a:r>
              <a:rPr lang="en-US" b="1" dirty="0">
                <a:latin typeface="Nunito"/>
                <a:ea typeface="Nunito"/>
                <a:cs typeface="Nunito"/>
                <a:sym typeface="Nunito"/>
              </a:rPr>
              <a:t>ML-</a:t>
            </a:r>
            <a:r>
              <a:rPr lang="ru-RU" b="1" dirty="0">
                <a:latin typeface="Nunito"/>
                <a:ea typeface="Nunito"/>
                <a:cs typeface="Nunito"/>
                <a:sym typeface="Nunito"/>
              </a:rPr>
              <a:t>модели</a:t>
            </a:r>
            <a:endParaRPr b="1" dirty="0">
              <a:latin typeface="Nunito"/>
              <a:ea typeface="Nunito"/>
              <a:cs typeface="Nunito"/>
              <a:sym typeface="Nunito"/>
            </a:endParaRPr>
          </a:p>
        </p:txBody>
      </p:sp>
      <p:sp>
        <p:nvSpPr>
          <p:cNvPr id="86" name="Google Shape;86;p16"/>
          <p:cNvSpPr txBox="1">
            <a:spLocks noGrp="1"/>
          </p:cNvSpPr>
          <p:nvPr>
            <p:ph type="body" idx="1"/>
          </p:nvPr>
        </p:nvSpPr>
        <p:spPr>
          <a:xfrm>
            <a:off x="311700" y="539341"/>
            <a:ext cx="8520600" cy="4029509"/>
          </a:xfrm>
          <a:prstGeom prst="rect">
            <a:avLst/>
          </a:prstGeom>
        </p:spPr>
        <p:txBody>
          <a:bodyPr spcFirstLastPara="1" wrap="square" lIns="91425" tIns="91425" rIns="91425" bIns="91425" anchor="t" anchorCtr="0">
            <a:normAutofit/>
          </a:bodyPr>
          <a:lstStyle/>
          <a:p>
            <a:pPr marL="107950" lvl="0" indent="0">
              <a:buClr>
                <a:schemeClr val="dk1"/>
              </a:buClr>
              <a:buSzPts val="1900"/>
              <a:buNone/>
            </a:pPr>
            <a:r>
              <a:rPr lang="ru-RU" b="1" dirty="0">
                <a:solidFill>
                  <a:schemeClr val="dk1"/>
                </a:solidFill>
                <a:latin typeface="Nunito"/>
                <a:ea typeface="Nunito"/>
                <a:cs typeface="Nunito"/>
                <a:sym typeface="Nunito"/>
              </a:rPr>
              <a:t>Обычный пайплайн </a:t>
            </a:r>
            <a:r>
              <a:rPr lang="ru-RU" dirty="0">
                <a:solidFill>
                  <a:schemeClr val="dk1"/>
                </a:solidFill>
                <a:latin typeface="Nunito"/>
                <a:ea typeface="Nunito"/>
                <a:cs typeface="Nunito"/>
                <a:sym typeface="Nunito"/>
              </a:rPr>
              <a:t>для обучения </a:t>
            </a:r>
            <a:r>
              <a:rPr lang="en-US" dirty="0">
                <a:solidFill>
                  <a:schemeClr val="dk1"/>
                </a:solidFill>
                <a:latin typeface="Nunito"/>
                <a:ea typeface="Nunito"/>
                <a:cs typeface="Nunito"/>
                <a:sym typeface="Nunito"/>
              </a:rPr>
              <a:t>ML-</a:t>
            </a:r>
            <a:r>
              <a:rPr lang="ru-RU" dirty="0">
                <a:solidFill>
                  <a:schemeClr val="dk1"/>
                </a:solidFill>
                <a:latin typeface="Nunito"/>
                <a:ea typeface="Nunito"/>
                <a:cs typeface="Nunito"/>
                <a:sym typeface="Nunito"/>
              </a:rPr>
              <a:t>модели:</a:t>
            </a:r>
            <a:endParaRPr lang="en-US" dirty="0">
              <a:solidFill>
                <a:schemeClr val="dk1"/>
              </a:solidFill>
              <a:latin typeface="Nunito"/>
              <a:ea typeface="Nunito"/>
              <a:cs typeface="Nunito"/>
              <a:sym typeface="Nunito"/>
            </a:endParaRPr>
          </a:p>
          <a:p>
            <a:pPr marL="565150" lvl="0" indent="-457200">
              <a:buClr>
                <a:schemeClr val="dk1"/>
              </a:buClr>
              <a:buSzPts val="1900"/>
              <a:buFont typeface="+mj-lt"/>
              <a:buAutoNum type="arabicPeriod"/>
            </a:pPr>
            <a:r>
              <a:rPr lang="ru-RU" dirty="0">
                <a:solidFill>
                  <a:schemeClr val="dk1"/>
                </a:solidFill>
                <a:latin typeface="Nunito"/>
                <a:ea typeface="Nunito"/>
                <a:cs typeface="Nunito"/>
                <a:sym typeface="Nunito"/>
              </a:rPr>
              <a:t>Постановка задачи и определение метрик.</a:t>
            </a:r>
          </a:p>
          <a:p>
            <a:pPr marL="565150" lvl="0" indent="-457200" algn="l" rtl="0">
              <a:spcBef>
                <a:spcPts val="0"/>
              </a:spcBef>
              <a:spcAft>
                <a:spcPts val="0"/>
              </a:spcAft>
              <a:buClr>
                <a:schemeClr val="dk1"/>
              </a:buClr>
              <a:buSzPts val="1900"/>
              <a:buFont typeface="+mj-lt"/>
              <a:buAutoNum type="arabicPeriod"/>
            </a:pPr>
            <a:r>
              <a:rPr lang="ru-RU" dirty="0">
                <a:solidFill>
                  <a:schemeClr val="dk1"/>
                </a:solidFill>
                <a:latin typeface="Nunito"/>
                <a:ea typeface="Nunito"/>
                <a:cs typeface="Nunito"/>
                <a:sym typeface="Nunito"/>
              </a:rPr>
              <a:t>Получение сырых данных.</a:t>
            </a:r>
          </a:p>
          <a:p>
            <a:pPr marL="565150" lvl="0" indent="-457200" algn="l" rtl="0">
              <a:spcBef>
                <a:spcPts val="0"/>
              </a:spcBef>
              <a:spcAft>
                <a:spcPts val="0"/>
              </a:spcAft>
              <a:buClr>
                <a:schemeClr val="dk1"/>
              </a:buClr>
              <a:buSzPts val="1900"/>
              <a:buFont typeface="+mj-lt"/>
              <a:buAutoNum type="arabicPeriod"/>
            </a:pPr>
            <a:r>
              <a:rPr lang="ru-RU" dirty="0">
                <a:solidFill>
                  <a:schemeClr val="dk1"/>
                </a:solidFill>
                <a:latin typeface="Nunito"/>
                <a:ea typeface="Nunito"/>
                <a:cs typeface="Nunito"/>
                <a:sym typeface="Nunito"/>
              </a:rPr>
              <a:t>*Калибровка (фильтрация) и разметка данных.</a:t>
            </a:r>
          </a:p>
          <a:p>
            <a:pPr marL="565150" lvl="0" indent="-457200" algn="l" rtl="0">
              <a:spcBef>
                <a:spcPts val="0"/>
              </a:spcBef>
              <a:spcAft>
                <a:spcPts val="0"/>
              </a:spcAft>
              <a:buClr>
                <a:schemeClr val="dk1"/>
              </a:buClr>
              <a:buSzPts val="1900"/>
              <a:buFont typeface="+mj-lt"/>
              <a:buAutoNum type="arabicPeriod"/>
            </a:pPr>
            <a:r>
              <a:rPr lang="ru-RU" dirty="0" err="1">
                <a:solidFill>
                  <a:schemeClr val="dk1"/>
                </a:solidFill>
                <a:latin typeface="Nunito"/>
                <a:ea typeface="Nunito"/>
                <a:cs typeface="Nunito"/>
                <a:sym typeface="Nunito"/>
              </a:rPr>
              <a:t>Разведовательный</a:t>
            </a:r>
            <a:r>
              <a:rPr lang="ru-RU" dirty="0">
                <a:solidFill>
                  <a:schemeClr val="dk1"/>
                </a:solidFill>
                <a:latin typeface="Nunito"/>
                <a:ea typeface="Nunito"/>
                <a:cs typeface="Nunito"/>
                <a:sym typeface="Nunito"/>
              </a:rPr>
              <a:t> анализ данных (</a:t>
            </a:r>
            <a:r>
              <a:rPr lang="en-US" dirty="0">
                <a:solidFill>
                  <a:schemeClr val="dk1"/>
                </a:solidFill>
                <a:latin typeface="Nunito"/>
                <a:ea typeface="Nunito"/>
                <a:cs typeface="Nunito"/>
                <a:sym typeface="Nunito"/>
              </a:rPr>
              <a:t>EDA</a:t>
            </a:r>
            <a:r>
              <a:rPr lang="ru-RU" dirty="0">
                <a:solidFill>
                  <a:schemeClr val="dk1"/>
                </a:solidFill>
                <a:latin typeface="Nunito"/>
                <a:ea typeface="Nunito"/>
                <a:cs typeface="Nunito"/>
                <a:sym typeface="Nunito"/>
              </a:rPr>
              <a:t>, </a:t>
            </a:r>
            <a:r>
              <a:rPr lang="en-US" dirty="0">
                <a:solidFill>
                  <a:schemeClr val="dk1"/>
                </a:solidFill>
                <a:latin typeface="Nunito"/>
                <a:ea typeface="Nunito"/>
                <a:cs typeface="Nunito"/>
                <a:sym typeface="Nunito"/>
              </a:rPr>
              <a:t>Exploratory Data Analysis) </a:t>
            </a:r>
            <a:r>
              <a:rPr lang="ru-RU" dirty="0">
                <a:solidFill>
                  <a:schemeClr val="dk1"/>
                </a:solidFill>
                <a:latin typeface="Nunito"/>
                <a:ea typeface="Nunito"/>
                <a:cs typeface="Nunito"/>
                <a:sym typeface="Nunito"/>
              </a:rPr>
              <a:t>и аугментация.</a:t>
            </a:r>
          </a:p>
          <a:p>
            <a:pPr marL="565150" lvl="0" indent="-457200">
              <a:buClr>
                <a:schemeClr val="dk1"/>
              </a:buClr>
              <a:buSzPts val="1900"/>
              <a:buFont typeface="+mj-lt"/>
              <a:buAutoNum type="arabicPeriod"/>
            </a:pPr>
            <a:r>
              <a:rPr lang="ru-RU" dirty="0">
                <a:solidFill>
                  <a:schemeClr val="dk1"/>
                </a:solidFill>
                <a:latin typeface="Nunito"/>
                <a:ea typeface="Nunito"/>
                <a:cs typeface="Nunito"/>
                <a:sym typeface="Nunito"/>
              </a:rPr>
              <a:t>*Инжиниринг и отбор признаков.</a:t>
            </a:r>
          </a:p>
          <a:p>
            <a:pPr marL="565150" lvl="0" indent="-457200" algn="l" rtl="0">
              <a:spcBef>
                <a:spcPts val="0"/>
              </a:spcBef>
              <a:spcAft>
                <a:spcPts val="0"/>
              </a:spcAft>
              <a:buClr>
                <a:schemeClr val="dk1"/>
              </a:buClr>
              <a:buSzPts val="1900"/>
              <a:buFont typeface="+mj-lt"/>
              <a:buAutoNum type="arabicPeriod"/>
            </a:pPr>
            <a:r>
              <a:rPr lang="ru-RU" dirty="0">
                <a:solidFill>
                  <a:schemeClr val="dk1"/>
                </a:solidFill>
                <a:latin typeface="Nunito"/>
                <a:ea typeface="Nunito"/>
                <a:cs typeface="Nunito"/>
                <a:sym typeface="Nunito"/>
              </a:rPr>
              <a:t>Разделение данных на выборки.</a:t>
            </a:r>
          </a:p>
          <a:p>
            <a:pPr marL="565150" lvl="0" indent="-457200" algn="l" rtl="0">
              <a:spcBef>
                <a:spcPts val="0"/>
              </a:spcBef>
              <a:spcAft>
                <a:spcPts val="0"/>
              </a:spcAft>
              <a:buClr>
                <a:schemeClr val="dk1"/>
              </a:buClr>
              <a:buSzPts val="1900"/>
              <a:buFont typeface="+mj-lt"/>
              <a:buAutoNum type="arabicPeriod"/>
            </a:pPr>
            <a:r>
              <a:rPr lang="ru-RU" dirty="0">
                <a:solidFill>
                  <a:schemeClr val="dk1"/>
                </a:solidFill>
                <a:latin typeface="Nunito"/>
                <a:ea typeface="Nunito"/>
                <a:cs typeface="Nunito"/>
                <a:sym typeface="Nunito"/>
              </a:rPr>
              <a:t>Выбор модели и её обучение.</a:t>
            </a:r>
          </a:p>
          <a:p>
            <a:pPr marL="565150" lvl="0" indent="-457200" algn="l" rtl="0">
              <a:spcBef>
                <a:spcPts val="0"/>
              </a:spcBef>
              <a:spcAft>
                <a:spcPts val="0"/>
              </a:spcAft>
              <a:buClr>
                <a:schemeClr val="dk1"/>
              </a:buClr>
              <a:buSzPts val="1900"/>
              <a:buFont typeface="+mj-lt"/>
              <a:buAutoNum type="arabicPeriod"/>
            </a:pPr>
            <a:r>
              <a:rPr lang="ru-RU" dirty="0" err="1">
                <a:solidFill>
                  <a:schemeClr val="dk1"/>
                </a:solidFill>
                <a:latin typeface="Nunito"/>
                <a:ea typeface="Nunito"/>
                <a:cs typeface="Nunito"/>
                <a:sym typeface="Nunito"/>
              </a:rPr>
              <a:t>Инференс</a:t>
            </a:r>
            <a:r>
              <a:rPr lang="ru-RU" dirty="0">
                <a:solidFill>
                  <a:schemeClr val="dk1"/>
                </a:solidFill>
                <a:latin typeface="Nunito"/>
                <a:ea typeface="Nunito"/>
                <a:cs typeface="Nunito"/>
                <a:sym typeface="Nunito"/>
              </a:rPr>
              <a:t> и валидация модели.</a:t>
            </a:r>
          </a:p>
          <a:p>
            <a:pPr marL="565150" lvl="0" indent="-457200" algn="l" rtl="0">
              <a:spcBef>
                <a:spcPts val="0"/>
              </a:spcBef>
              <a:spcAft>
                <a:spcPts val="0"/>
              </a:spcAft>
              <a:buClr>
                <a:schemeClr val="dk1"/>
              </a:buClr>
              <a:buSzPts val="1900"/>
              <a:buFont typeface="+mj-lt"/>
              <a:buAutoNum type="arabicPeriod"/>
            </a:pPr>
            <a:r>
              <a:rPr lang="ru-RU" dirty="0">
                <a:solidFill>
                  <a:schemeClr val="dk1"/>
                </a:solidFill>
                <a:latin typeface="Nunito"/>
                <a:ea typeface="Nunito"/>
                <a:cs typeface="Nunito"/>
                <a:sym typeface="Nunito"/>
              </a:rPr>
              <a:t>Итеративное возвращение к пунктам 2-7 при необходимости.</a:t>
            </a:r>
          </a:p>
          <a:p>
            <a:pPr marL="107950" lvl="0" indent="0">
              <a:buClr>
                <a:schemeClr val="dk1"/>
              </a:buClr>
              <a:buSzPts val="1900"/>
              <a:buNone/>
            </a:pPr>
            <a:r>
              <a:rPr lang="ru-RU" dirty="0">
                <a:solidFill>
                  <a:schemeClr val="dk1"/>
                </a:solidFill>
                <a:latin typeface="Nunito"/>
                <a:ea typeface="Nunito"/>
                <a:cs typeface="Nunito"/>
                <a:sym typeface="Nunito"/>
              </a:rPr>
              <a:t>* - может отсутствовать</a:t>
            </a:r>
            <a:endParaRPr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21</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spTree>
    <p:extLst>
      <p:ext uri="{BB962C8B-B14F-4D97-AF65-F5344CB8AC3E}">
        <p14:creationId xmlns:p14="http://schemas.microsoft.com/office/powerpoint/2010/main" val="9806205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950"/>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Полный пайплайн обучения </a:t>
            </a:r>
            <a:r>
              <a:rPr lang="en-US" b="1" dirty="0">
                <a:latin typeface="Nunito"/>
                <a:ea typeface="Nunito"/>
                <a:cs typeface="Nunito"/>
                <a:sym typeface="Nunito"/>
              </a:rPr>
              <a:t>ML-</a:t>
            </a:r>
            <a:r>
              <a:rPr lang="ru-RU" b="1" dirty="0">
                <a:latin typeface="Nunito"/>
                <a:ea typeface="Nunito"/>
                <a:cs typeface="Nunito"/>
                <a:sym typeface="Nunito"/>
              </a:rPr>
              <a:t>модели</a:t>
            </a:r>
            <a:endParaRPr b="1" dirty="0">
              <a:latin typeface="Nunito"/>
              <a:ea typeface="Nunito"/>
              <a:cs typeface="Nunito"/>
              <a:sym typeface="Nunito"/>
            </a:endParaRPr>
          </a:p>
        </p:txBody>
      </p:sp>
      <p:sp>
        <p:nvSpPr>
          <p:cNvPr id="86" name="Google Shape;86;p16"/>
          <p:cNvSpPr txBox="1">
            <a:spLocks noGrp="1"/>
          </p:cNvSpPr>
          <p:nvPr>
            <p:ph type="body" idx="1"/>
          </p:nvPr>
        </p:nvSpPr>
        <p:spPr>
          <a:xfrm>
            <a:off x="311700" y="539341"/>
            <a:ext cx="8520600" cy="4029509"/>
          </a:xfrm>
          <a:prstGeom prst="rect">
            <a:avLst/>
          </a:prstGeom>
        </p:spPr>
        <p:txBody>
          <a:bodyPr spcFirstLastPara="1" wrap="square" lIns="91425" tIns="91425" rIns="91425" bIns="91425" anchor="t" anchorCtr="0">
            <a:normAutofit/>
          </a:bodyPr>
          <a:lstStyle/>
          <a:p>
            <a:pPr marL="107950" lvl="0" indent="0">
              <a:buClr>
                <a:schemeClr val="dk1"/>
              </a:buClr>
              <a:buSzPts val="1900"/>
              <a:buNone/>
            </a:pPr>
            <a:r>
              <a:rPr lang="ru-RU" b="1" dirty="0">
                <a:solidFill>
                  <a:schemeClr val="dk1"/>
                </a:solidFill>
                <a:latin typeface="Nunito"/>
                <a:ea typeface="Nunito"/>
                <a:cs typeface="Nunito"/>
                <a:sym typeface="Nunito"/>
              </a:rPr>
              <a:t>Пайплайн</a:t>
            </a:r>
            <a:r>
              <a:rPr lang="ru-RU" dirty="0">
                <a:solidFill>
                  <a:schemeClr val="dk1"/>
                </a:solidFill>
                <a:latin typeface="Nunito"/>
                <a:ea typeface="Nunito"/>
                <a:cs typeface="Nunito"/>
                <a:sym typeface="Nunito"/>
              </a:rPr>
              <a:t> для обучения </a:t>
            </a:r>
            <a:r>
              <a:rPr lang="en-US" dirty="0">
                <a:solidFill>
                  <a:schemeClr val="dk1"/>
                </a:solidFill>
                <a:latin typeface="Nunito"/>
                <a:ea typeface="Nunito"/>
                <a:cs typeface="Nunito"/>
                <a:sym typeface="Nunito"/>
              </a:rPr>
              <a:t>ML-</a:t>
            </a:r>
            <a:r>
              <a:rPr lang="ru-RU" dirty="0">
                <a:solidFill>
                  <a:schemeClr val="dk1"/>
                </a:solidFill>
                <a:latin typeface="Nunito"/>
                <a:ea typeface="Nunito"/>
                <a:cs typeface="Nunito"/>
                <a:sym typeface="Nunito"/>
              </a:rPr>
              <a:t>модели на </a:t>
            </a:r>
            <a:r>
              <a:rPr lang="en-US" b="1" dirty="0">
                <a:solidFill>
                  <a:schemeClr val="dk1"/>
                </a:solidFill>
                <a:latin typeface="Nunito"/>
                <a:ea typeface="Nunito"/>
                <a:cs typeface="Nunito"/>
                <a:sym typeface="Nunito"/>
              </a:rPr>
              <a:t>SAR</a:t>
            </a:r>
            <a:r>
              <a:rPr lang="ru-RU" b="1" dirty="0">
                <a:solidFill>
                  <a:schemeClr val="dk1"/>
                </a:solidFill>
                <a:latin typeface="Nunito"/>
                <a:ea typeface="Nunito"/>
                <a:cs typeface="Nunito"/>
                <a:sym typeface="Nunito"/>
              </a:rPr>
              <a:t> изображениях</a:t>
            </a:r>
            <a:r>
              <a:rPr lang="ru-RU" dirty="0">
                <a:solidFill>
                  <a:schemeClr val="dk1"/>
                </a:solidFill>
                <a:latin typeface="Nunito"/>
                <a:ea typeface="Nunito"/>
                <a:cs typeface="Nunito"/>
                <a:sym typeface="Nunito"/>
              </a:rPr>
              <a:t>:</a:t>
            </a:r>
            <a:endParaRPr lang="en-US" dirty="0">
              <a:solidFill>
                <a:schemeClr val="dk1"/>
              </a:solidFill>
              <a:latin typeface="Nunito"/>
              <a:ea typeface="Nunito"/>
              <a:cs typeface="Nunito"/>
              <a:sym typeface="Nunito"/>
            </a:endParaRPr>
          </a:p>
          <a:p>
            <a:pPr marL="565150" lvl="0" indent="-457200">
              <a:buClr>
                <a:schemeClr val="dk1"/>
              </a:buClr>
              <a:buSzPts val="1900"/>
              <a:buFont typeface="+mj-lt"/>
              <a:buAutoNum type="arabicPeriod"/>
            </a:pPr>
            <a:r>
              <a:rPr lang="ru-RU" dirty="0">
                <a:solidFill>
                  <a:schemeClr val="dk1"/>
                </a:solidFill>
                <a:latin typeface="Nunito"/>
                <a:ea typeface="Nunito"/>
                <a:cs typeface="Nunito"/>
                <a:sym typeface="Nunito"/>
              </a:rPr>
              <a:t>Постановка задачи и определение метрик.</a:t>
            </a:r>
          </a:p>
          <a:p>
            <a:pPr marL="565150" lvl="0" indent="-457200" algn="l" rtl="0">
              <a:spcBef>
                <a:spcPts val="0"/>
              </a:spcBef>
              <a:spcAft>
                <a:spcPts val="0"/>
              </a:spcAft>
              <a:buClr>
                <a:schemeClr val="dk1"/>
              </a:buClr>
              <a:buSzPts val="1900"/>
              <a:buFont typeface="+mj-lt"/>
              <a:buAutoNum type="arabicPeriod"/>
            </a:pPr>
            <a:r>
              <a:rPr lang="ru-RU" dirty="0">
                <a:solidFill>
                  <a:schemeClr val="dk1"/>
                </a:solidFill>
                <a:latin typeface="Nunito"/>
                <a:ea typeface="Nunito"/>
                <a:cs typeface="Nunito"/>
                <a:sym typeface="Nunito"/>
              </a:rPr>
              <a:t>Получение сырых данных.</a:t>
            </a:r>
          </a:p>
          <a:p>
            <a:pPr marL="565150" lvl="0" indent="-457200" algn="l" rtl="0">
              <a:spcBef>
                <a:spcPts val="0"/>
              </a:spcBef>
              <a:spcAft>
                <a:spcPts val="0"/>
              </a:spcAft>
              <a:buClr>
                <a:schemeClr val="dk1"/>
              </a:buClr>
              <a:buSzPts val="1900"/>
              <a:buFont typeface="+mj-lt"/>
              <a:buAutoNum type="arabicPeriod"/>
            </a:pPr>
            <a:r>
              <a:rPr lang="ru-RU" dirty="0">
                <a:solidFill>
                  <a:schemeClr val="dk1"/>
                </a:solidFill>
                <a:latin typeface="Nunito"/>
                <a:ea typeface="Nunito"/>
                <a:cs typeface="Nunito"/>
                <a:sym typeface="Nunito"/>
              </a:rPr>
              <a:t>Калибровка (фильтрация) и разметка данных.</a:t>
            </a:r>
          </a:p>
          <a:p>
            <a:pPr marL="565150" lvl="0" indent="-457200" algn="l" rtl="0">
              <a:spcBef>
                <a:spcPts val="0"/>
              </a:spcBef>
              <a:spcAft>
                <a:spcPts val="0"/>
              </a:spcAft>
              <a:buClr>
                <a:schemeClr val="dk1"/>
              </a:buClr>
              <a:buSzPts val="1900"/>
              <a:buFont typeface="+mj-lt"/>
              <a:buAutoNum type="arabicPeriod"/>
            </a:pPr>
            <a:r>
              <a:rPr lang="ru-RU" dirty="0" err="1">
                <a:solidFill>
                  <a:schemeClr val="dk1"/>
                </a:solidFill>
                <a:latin typeface="Nunito"/>
                <a:ea typeface="Nunito"/>
                <a:cs typeface="Nunito"/>
                <a:sym typeface="Nunito"/>
              </a:rPr>
              <a:t>Разведовательный</a:t>
            </a:r>
            <a:r>
              <a:rPr lang="ru-RU" dirty="0">
                <a:solidFill>
                  <a:schemeClr val="dk1"/>
                </a:solidFill>
                <a:latin typeface="Nunito"/>
                <a:ea typeface="Nunito"/>
                <a:cs typeface="Nunito"/>
                <a:sym typeface="Nunito"/>
              </a:rPr>
              <a:t> анализ данных (</a:t>
            </a:r>
            <a:r>
              <a:rPr lang="en-US" dirty="0">
                <a:solidFill>
                  <a:schemeClr val="dk1"/>
                </a:solidFill>
                <a:latin typeface="Nunito"/>
                <a:ea typeface="Nunito"/>
                <a:cs typeface="Nunito"/>
                <a:sym typeface="Nunito"/>
              </a:rPr>
              <a:t>EDA</a:t>
            </a:r>
            <a:r>
              <a:rPr lang="ru-RU" dirty="0">
                <a:solidFill>
                  <a:schemeClr val="dk1"/>
                </a:solidFill>
                <a:latin typeface="Nunito"/>
                <a:ea typeface="Nunito"/>
                <a:cs typeface="Nunito"/>
                <a:sym typeface="Nunito"/>
              </a:rPr>
              <a:t>, </a:t>
            </a:r>
            <a:r>
              <a:rPr lang="en-US" dirty="0">
                <a:solidFill>
                  <a:schemeClr val="dk1"/>
                </a:solidFill>
                <a:latin typeface="Nunito"/>
                <a:ea typeface="Nunito"/>
                <a:cs typeface="Nunito"/>
                <a:sym typeface="Nunito"/>
              </a:rPr>
              <a:t>Exploratory Data Analysis) </a:t>
            </a:r>
            <a:r>
              <a:rPr lang="ru-RU" dirty="0">
                <a:solidFill>
                  <a:schemeClr val="dk1"/>
                </a:solidFill>
                <a:latin typeface="Nunito"/>
                <a:ea typeface="Nunito"/>
                <a:cs typeface="Nunito"/>
                <a:sym typeface="Nunito"/>
              </a:rPr>
              <a:t>и аугментация. </a:t>
            </a:r>
          </a:p>
          <a:p>
            <a:pPr marL="565150" lvl="0" indent="-457200" algn="l" rtl="0">
              <a:spcBef>
                <a:spcPts val="0"/>
              </a:spcBef>
              <a:spcAft>
                <a:spcPts val="0"/>
              </a:spcAft>
              <a:buClr>
                <a:schemeClr val="dk1"/>
              </a:buClr>
              <a:buSzPts val="1900"/>
              <a:buFont typeface="+mj-lt"/>
              <a:buAutoNum type="arabicPeriod"/>
            </a:pPr>
            <a:r>
              <a:rPr lang="ru-RU" dirty="0">
                <a:solidFill>
                  <a:schemeClr val="dk1"/>
                </a:solidFill>
                <a:latin typeface="Nunito"/>
                <a:ea typeface="Nunito"/>
                <a:cs typeface="Nunito"/>
                <a:sym typeface="Nunito"/>
              </a:rPr>
              <a:t>Разделение данных на выборки.</a:t>
            </a:r>
          </a:p>
          <a:p>
            <a:pPr marL="565150" lvl="0" indent="-457200" algn="l" rtl="0">
              <a:spcBef>
                <a:spcPts val="0"/>
              </a:spcBef>
              <a:spcAft>
                <a:spcPts val="0"/>
              </a:spcAft>
              <a:buClr>
                <a:schemeClr val="dk1"/>
              </a:buClr>
              <a:buSzPts val="1900"/>
              <a:buFont typeface="+mj-lt"/>
              <a:buAutoNum type="arabicPeriod"/>
            </a:pPr>
            <a:r>
              <a:rPr lang="ru-RU" dirty="0">
                <a:solidFill>
                  <a:schemeClr val="dk1"/>
                </a:solidFill>
                <a:latin typeface="Nunito"/>
                <a:ea typeface="Nunito"/>
                <a:cs typeface="Nunito"/>
                <a:sym typeface="Nunito"/>
              </a:rPr>
              <a:t>Выбор модели и её обучение.</a:t>
            </a:r>
          </a:p>
          <a:p>
            <a:pPr marL="565150" lvl="0" indent="-457200" algn="l" rtl="0">
              <a:spcBef>
                <a:spcPts val="0"/>
              </a:spcBef>
              <a:spcAft>
                <a:spcPts val="0"/>
              </a:spcAft>
              <a:buClr>
                <a:schemeClr val="dk1"/>
              </a:buClr>
              <a:buSzPts val="1900"/>
              <a:buFont typeface="+mj-lt"/>
              <a:buAutoNum type="arabicPeriod"/>
            </a:pPr>
            <a:r>
              <a:rPr lang="ru-RU" dirty="0" err="1">
                <a:solidFill>
                  <a:schemeClr val="dk1"/>
                </a:solidFill>
                <a:latin typeface="Nunito"/>
                <a:ea typeface="Nunito"/>
                <a:cs typeface="Nunito"/>
                <a:sym typeface="Nunito"/>
              </a:rPr>
              <a:t>Инференс</a:t>
            </a:r>
            <a:r>
              <a:rPr lang="ru-RU" dirty="0">
                <a:solidFill>
                  <a:schemeClr val="dk1"/>
                </a:solidFill>
                <a:latin typeface="Nunito"/>
                <a:ea typeface="Nunito"/>
                <a:cs typeface="Nunito"/>
                <a:sym typeface="Nunito"/>
              </a:rPr>
              <a:t> и валидация модели.</a:t>
            </a:r>
          </a:p>
          <a:p>
            <a:pPr marL="565150" lvl="0" indent="-457200" algn="l" rtl="0">
              <a:spcBef>
                <a:spcPts val="0"/>
              </a:spcBef>
              <a:spcAft>
                <a:spcPts val="0"/>
              </a:spcAft>
              <a:buClr>
                <a:schemeClr val="dk1"/>
              </a:buClr>
              <a:buSzPts val="1900"/>
              <a:buFont typeface="+mj-lt"/>
              <a:buAutoNum type="arabicPeriod"/>
            </a:pPr>
            <a:r>
              <a:rPr lang="ru-RU" dirty="0">
                <a:solidFill>
                  <a:schemeClr val="dk1"/>
                </a:solidFill>
                <a:latin typeface="Nunito"/>
                <a:ea typeface="Nunito"/>
                <a:cs typeface="Nunito"/>
                <a:sym typeface="Nunito"/>
              </a:rPr>
              <a:t>Итеративное возвращение к пунктам 2-7 при необходимости.</a:t>
            </a:r>
            <a:endParaRPr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22</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spTree>
    <p:extLst>
      <p:ext uri="{BB962C8B-B14F-4D97-AF65-F5344CB8AC3E}">
        <p14:creationId xmlns:p14="http://schemas.microsoft.com/office/powerpoint/2010/main" val="367248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p:nvPr/>
        </p:nvSpPr>
        <p:spPr>
          <a:xfrm>
            <a:off x="0" y="452450"/>
            <a:ext cx="9144000" cy="46911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 name="Google Shape;65;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23</a:t>
            </a:fld>
            <a:endParaRPr>
              <a:solidFill>
                <a:schemeClr val="lt1"/>
              </a:solidFill>
            </a:endParaRPr>
          </a:p>
        </p:txBody>
      </p:sp>
      <p:sp>
        <p:nvSpPr>
          <p:cNvPr id="66" name="Google Shape;66;p14"/>
          <p:cNvSpPr txBox="1">
            <a:spLocks noGrp="1"/>
          </p:cNvSpPr>
          <p:nvPr>
            <p:ph type="ctrTitle"/>
          </p:nvPr>
        </p:nvSpPr>
        <p:spPr>
          <a:xfrm>
            <a:off x="0" y="1723412"/>
            <a:ext cx="9144000" cy="1545124"/>
          </a:xfrm>
          <a:prstGeom prst="rect">
            <a:avLst/>
          </a:prstGeom>
        </p:spPr>
        <p:txBody>
          <a:bodyPr spcFirstLastPara="1" wrap="square" lIns="91425" tIns="91425" rIns="91425" bIns="91425" anchor="b" anchorCtr="0">
            <a:normAutofit fontScale="90000"/>
          </a:bodyPr>
          <a:lstStyle/>
          <a:p>
            <a:pPr lvl="0"/>
            <a:r>
              <a:rPr lang="ru-RU" b="1" dirty="0">
                <a:solidFill>
                  <a:schemeClr val="lt1"/>
                </a:solidFill>
                <a:latin typeface="Nunito"/>
                <a:ea typeface="Nunito"/>
                <a:cs typeface="Nunito"/>
                <a:sym typeface="Nunito"/>
              </a:rPr>
              <a:t>Свёртки и </a:t>
            </a:r>
            <a:r>
              <a:rPr lang="ru-RU" b="1" dirty="0" err="1">
                <a:solidFill>
                  <a:schemeClr val="lt1"/>
                </a:solidFill>
                <a:latin typeface="Nunito"/>
                <a:ea typeface="Nunito"/>
                <a:cs typeface="Nunito"/>
                <a:sym typeface="Nunito"/>
              </a:rPr>
              <a:t>свёрточные</a:t>
            </a:r>
            <a:r>
              <a:rPr lang="ru-RU" b="1" dirty="0">
                <a:solidFill>
                  <a:schemeClr val="lt1"/>
                </a:solidFill>
                <a:latin typeface="Nunito"/>
                <a:ea typeface="Nunito"/>
                <a:cs typeface="Nunito"/>
                <a:sym typeface="Nunito"/>
              </a:rPr>
              <a:t> нейронные сети</a:t>
            </a:r>
          </a:p>
        </p:txBody>
      </p:sp>
      <p:pic>
        <p:nvPicPr>
          <p:cNvPr id="67" name="Google Shape;67;p14"/>
          <p:cNvPicPr preferRelativeResize="0"/>
          <p:nvPr/>
        </p:nvPicPr>
        <p:blipFill rotWithShape="1">
          <a:blip r:embed="rId3">
            <a:alphaModFix/>
          </a:blip>
          <a:srcRect l="30316" t="32807" r="29285" b="24140"/>
          <a:stretch/>
        </p:blipFill>
        <p:spPr>
          <a:xfrm>
            <a:off x="2865625" y="3973562"/>
            <a:ext cx="1015825" cy="1082575"/>
          </a:xfrm>
          <a:prstGeom prst="rect">
            <a:avLst/>
          </a:prstGeom>
          <a:noFill/>
          <a:ln>
            <a:noFill/>
          </a:ln>
        </p:spPr>
      </p:pic>
      <p:pic>
        <p:nvPicPr>
          <p:cNvPr id="68" name="Google Shape;68;p14"/>
          <p:cNvPicPr preferRelativeResize="0"/>
          <p:nvPr/>
        </p:nvPicPr>
        <p:blipFill rotWithShape="1">
          <a:blip r:embed="rId4">
            <a:alphaModFix/>
          </a:blip>
          <a:srcRect l="3410" t="59058" r="2904" b="6827"/>
          <a:stretch/>
        </p:blipFill>
        <p:spPr>
          <a:xfrm>
            <a:off x="205475" y="4048412"/>
            <a:ext cx="2561601" cy="932900"/>
          </a:xfrm>
          <a:prstGeom prst="rect">
            <a:avLst/>
          </a:prstGeom>
          <a:noFill/>
          <a:ln>
            <a:noFill/>
          </a:ln>
        </p:spPr>
      </p:pic>
    </p:spTree>
    <p:extLst>
      <p:ext uri="{BB962C8B-B14F-4D97-AF65-F5344CB8AC3E}">
        <p14:creationId xmlns:p14="http://schemas.microsoft.com/office/powerpoint/2010/main" val="10897028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13696"/>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Свёртки и </a:t>
            </a:r>
            <a:r>
              <a:rPr lang="ru-RU" b="1" dirty="0" err="1">
                <a:latin typeface="Nunito"/>
                <a:ea typeface="Nunito"/>
                <a:cs typeface="Nunito"/>
                <a:sym typeface="Nunito"/>
              </a:rPr>
              <a:t>свёрточные</a:t>
            </a:r>
            <a:r>
              <a:rPr lang="ru-RU" b="1" dirty="0">
                <a:latin typeface="Nunito"/>
                <a:ea typeface="Nunito"/>
                <a:cs typeface="Nunito"/>
                <a:sym typeface="Nunito"/>
              </a:rPr>
              <a:t> нейронные сети</a:t>
            </a:r>
          </a:p>
        </p:txBody>
      </p:sp>
      <p:sp>
        <p:nvSpPr>
          <p:cNvPr id="86" name="Google Shape;86;p16"/>
          <p:cNvSpPr txBox="1">
            <a:spLocks noGrp="1"/>
          </p:cNvSpPr>
          <p:nvPr>
            <p:ph type="body" idx="1"/>
          </p:nvPr>
        </p:nvSpPr>
        <p:spPr>
          <a:xfrm>
            <a:off x="311700" y="759417"/>
            <a:ext cx="8520600" cy="3809433"/>
          </a:xfrm>
          <a:prstGeom prst="rect">
            <a:avLst/>
          </a:prstGeom>
        </p:spPr>
        <p:txBody>
          <a:bodyPr spcFirstLastPara="1" wrap="square" lIns="91425" tIns="91425" rIns="91425" bIns="91425" anchor="t" anchorCtr="0">
            <a:normAutofit/>
          </a:bodyPr>
          <a:lstStyle/>
          <a:p>
            <a:pPr marL="107950" lvl="0" indent="0">
              <a:buClr>
                <a:schemeClr val="dk1"/>
              </a:buClr>
              <a:buSzPts val="1900"/>
              <a:buNone/>
            </a:pPr>
            <a:r>
              <a:rPr lang="ru-RU" b="1" dirty="0">
                <a:solidFill>
                  <a:schemeClr val="dk1"/>
                </a:solidFill>
                <a:latin typeface="Nunito"/>
                <a:ea typeface="Nunito"/>
                <a:cs typeface="Nunito"/>
                <a:sym typeface="Nunito"/>
              </a:rPr>
              <a:t>Свёртка</a:t>
            </a:r>
            <a:r>
              <a:rPr lang="ru-RU" dirty="0">
                <a:solidFill>
                  <a:schemeClr val="dk1"/>
                </a:solidFill>
                <a:latin typeface="Nunito"/>
                <a:ea typeface="Nunito"/>
                <a:cs typeface="Nunito"/>
                <a:sym typeface="Nunito"/>
              </a:rPr>
              <a:t> — операция, в которой небольшая матрица весов (ядро, фильтр, </a:t>
            </a:r>
            <a:r>
              <a:rPr lang="ru-RU" b="1" dirty="0" err="1">
                <a:solidFill>
                  <a:schemeClr val="dk1"/>
                </a:solidFill>
                <a:latin typeface="Nunito"/>
                <a:ea typeface="Nunito"/>
                <a:cs typeface="Nunito"/>
                <a:sym typeface="Nunito"/>
              </a:rPr>
              <a:t>kernel</a:t>
            </a:r>
            <a:r>
              <a:rPr lang="ru-RU" dirty="0">
                <a:solidFill>
                  <a:schemeClr val="dk1"/>
                </a:solidFill>
                <a:latin typeface="Nunito"/>
                <a:ea typeface="Nunito"/>
                <a:cs typeface="Nunito"/>
                <a:sym typeface="Nunito"/>
              </a:rPr>
              <a:t>) «скользит» по изображению и на каждом шаге считает взвешенную сумму пикселей под собой</a:t>
            </a: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24</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pic>
        <p:nvPicPr>
          <p:cNvPr id="11" name="Рисунок 10">
            <a:extLst>
              <a:ext uri="{FF2B5EF4-FFF2-40B4-BE49-F238E27FC236}">
                <a16:creationId xmlns:a16="http://schemas.microsoft.com/office/drawing/2014/main" id="{293BD8AF-EF06-4985-9DAC-4CA371A9B0F4}"/>
              </a:ext>
            </a:extLst>
          </p:cNvPr>
          <p:cNvPicPr>
            <a:picLocks noChangeAspect="1"/>
          </p:cNvPicPr>
          <p:nvPr/>
        </p:nvPicPr>
        <p:blipFill>
          <a:blip r:embed="rId5"/>
          <a:stretch>
            <a:fillRect/>
          </a:stretch>
        </p:blipFill>
        <p:spPr>
          <a:xfrm>
            <a:off x="569750" y="2436075"/>
            <a:ext cx="3044455" cy="1701480"/>
          </a:xfrm>
          <a:prstGeom prst="rect">
            <a:avLst/>
          </a:prstGeom>
        </p:spPr>
      </p:pic>
      <p:pic>
        <p:nvPicPr>
          <p:cNvPr id="14" name="Рисунок 13">
            <a:extLst>
              <a:ext uri="{FF2B5EF4-FFF2-40B4-BE49-F238E27FC236}">
                <a16:creationId xmlns:a16="http://schemas.microsoft.com/office/drawing/2014/main" id="{78961DCF-FEDC-4E5C-BB96-3C6E07F781F9}"/>
              </a:ext>
            </a:extLst>
          </p:cNvPr>
          <p:cNvPicPr>
            <a:picLocks noChangeAspect="1"/>
          </p:cNvPicPr>
          <p:nvPr/>
        </p:nvPicPr>
        <p:blipFill>
          <a:blip r:embed="rId6"/>
          <a:stretch>
            <a:fillRect/>
          </a:stretch>
        </p:blipFill>
        <p:spPr>
          <a:xfrm>
            <a:off x="4711502" y="2336520"/>
            <a:ext cx="3688597" cy="2047563"/>
          </a:xfrm>
          <a:prstGeom prst="rect">
            <a:avLst/>
          </a:prstGeom>
        </p:spPr>
      </p:pic>
    </p:spTree>
    <p:extLst>
      <p:ext uri="{BB962C8B-B14F-4D97-AF65-F5344CB8AC3E}">
        <p14:creationId xmlns:p14="http://schemas.microsoft.com/office/powerpoint/2010/main" val="9442209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13696"/>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Свёртки и </a:t>
            </a:r>
            <a:r>
              <a:rPr lang="ru-RU" b="1" dirty="0" err="1">
                <a:latin typeface="Nunito"/>
                <a:ea typeface="Nunito"/>
                <a:cs typeface="Nunito"/>
                <a:sym typeface="Nunito"/>
              </a:rPr>
              <a:t>свёрточные</a:t>
            </a:r>
            <a:r>
              <a:rPr lang="ru-RU" b="1" dirty="0">
                <a:latin typeface="Nunito"/>
                <a:ea typeface="Nunito"/>
                <a:cs typeface="Nunito"/>
                <a:sym typeface="Nunito"/>
              </a:rPr>
              <a:t> нейронные сети</a:t>
            </a:r>
          </a:p>
        </p:txBody>
      </p:sp>
      <p:sp>
        <p:nvSpPr>
          <p:cNvPr id="86" name="Google Shape;86;p16"/>
          <p:cNvSpPr txBox="1">
            <a:spLocks noGrp="1"/>
          </p:cNvSpPr>
          <p:nvPr>
            <p:ph type="body" idx="1"/>
          </p:nvPr>
        </p:nvSpPr>
        <p:spPr>
          <a:xfrm>
            <a:off x="311700" y="759417"/>
            <a:ext cx="8520600" cy="3809433"/>
          </a:xfrm>
          <a:prstGeom prst="rect">
            <a:avLst/>
          </a:prstGeom>
        </p:spPr>
        <p:txBody>
          <a:bodyPr spcFirstLastPara="1" wrap="square" lIns="91425" tIns="91425" rIns="91425" bIns="91425" anchor="t" anchorCtr="0">
            <a:normAutofit/>
          </a:bodyPr>
          <a:lstStyle/>
          <a:p>
            <a:pPr marL="107950" lvl="0" indent="0">
              <a:buClr>
                <a:schemeClr val="dk1"/>
              </a:buClr>
              <a:buSzPts val="1900"/>
              <a:buNone/>
            </a:pPr>
            <a:r>
              <a:rPr lang="ru-RU" b="1" dirty="0">
                <a:solidFill>
                  <a:schemeClr val="dk1"/>
                </a:solidFill>
                <a:latin typeface="Nunito"/>
                <a:ea typeface="Nunito"/>
                <a:cs typeface="Nunito"/>
                <a:sym typeface="Nunito"/>
              </a:rPr>
              <a:t>Свёртка</a:t>
            </a:r>
            <a:r>
              <a:rPr lang="ru-RU" dirty="0">
                <a:solidFill>
                  <a:schemeClr val="dk1"/>
                </a:solidFill>
                <a:latin typeface="Nunito"/>
                <a:ea typeface="Nunito"/>
                <a:cs typeface="Nunito"/>
                <a:sym typeface="Nunito"/>
              </a:rPr>
              <a:t> — операция, в которой небольшая матрица весов (ядро, фильтр, </a:t>
            </a:r>
            <a:r>
              <a:rPr lang="ru-RU" b="1" dirty="0" err="1">
                <a:solidFill>
                  <a:schemeClr val="dk1"/>
                </a:solidFill>
                <a:latin typeface="Nunito"/>
                <a:ea typeface="Nunito"/>
                <a:cs typeface="Nunito"/>
                <a:sym typeface="Nunito"/>
              </a:rPr>
              <a:t>kernel</a:t>
            </a:r>
            <a:r>
              <a:rPr lang="ru-RU" dirty="0">
                <a:solidFill>
                  <a:schemeClr val="dk1"/>
                </a:solidFill>
                <a:latin typeface="Nunito"/>
                <a:ea typeface="Nunito"/>
                <a:cs typeface="Nunito"/>
                <a:sym typeface="Nunito"/>
              </a:rPr>
              <a:t>) «скользит» по изображению и на каждом шаге считает взвешенную сумму пикселей под собой</a:t>
            </a: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25</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pic>
        <p:nvPicPr>
          <p:cNvPr id="9" name="Рисунок 8">
            <a:extLst>
              <a:ext uri="{FF2B5EF4-FFF2-40B4-BE49-F238E27FC236}">
                <a16:creationId xmlns:a16="http://schemas.microsoft.com/office/drawing/2014/main" id="{6441CEAE-8A6E-4FDC-9F0A-7B4EDD84C181}"/>
              </a:ext>
            </a:extLst>
          </p:cNvPr>
          <p:cNvPicPr>
            <a:picLocks noChangeAspect="1"/>
          </p:cNvPicPr>
          <p:nvPr/>
        </p:nvPicPr>
        <p:blipFill>
          <a:blip r:embed="rId5"/>
          <a:stretch>
            <a:fillRect/>
          </a:stretch>
        </p:blipFill>
        <p:spPr>
          <a:xfrm>
            <a:off x="668135" y="1928144"/>
            <a:ext cx="2256147" cy="2564582"/>
          </a:xfrm>
          <a:prstGeom prst="rect">
            <a:avLst/>
          </a:prstGeom>
        </p:spPr>
      </p:pic>
      <p:pic>
        <p:nvPicPr>
          <p:cNvPr id="13" name="Рисунок 12">
            <a:extLst>
              <a:ext uri="{FF2B5EF4-FFF2-40B4-BE49-F238E27FC236}">
                <a16:creationId xmlns:a16="http://schemas.microsoft.com/office/drawing/2014/main" id="{327B1FB3-A1A6-4E0C-8FCE-E48559F9175E}"/>
              </a:ext>
            </a:extLst>
          </p:cNvPr>
          <p:cNvPicPr>
            <a:picLocks noChangeAspect="1"/>
          </p:cNvPicPr>
          <p:nvPr/>
        </p:nvPicPr>
        <p:blipFill>
          <a:blip r:embed="rId6"/>
          <a:stretch>
            <a:fillRect/>
          </a:stretch>
        </p:blipFill>
        <p:spPr>
          <a:xfrm>
            <a:off x="3443721" y="2185569"/>
            <a:ext cx="2193689" cy="2148920"/>
          </a:xfrm>
          <a:prstGeom prst="rect">
            <a:avLst/>
          </a:prstGeom>
        </p:spPr>
      </p:pic>
      <p:pic>
        <p:nvPicPr>
          <p:cNvPr id="2050" name="Picture 2">
            <a:extLst>
              <a:ext uri="{FF2B5EF4-FFF2-40B4-BE49-F238E27FC236}">
                <a16:creationId xmlns:a16="http://schemas.microsoft.com/office/drawing/2014/main" id="{A1CAD6C5-642B-426A-BB9B-253BF5A921D2}"/>
              </a:ext>
            </a:extLst>
          </p:cNvPr>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6431324" y="1988145"/>
            <a:ext cx="1965658" cy="24269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46061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13696"/>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Свёртки и </a:t>
            </a:r>
            <a:r>
              <a:rPr lang="ru-RU" b="1" dirty="0" err="1">
                <a:latin typeface="Nunito"/>
                <a:ea typeface="Nunito"/>
                <a:cs typeface="Nunito"/>
                <a:sym typeface="Nunito"/>
              </a:rPr>
              <a:t>свёрточные</a:t>
            </a:r>
            <a:r>
              <a:rPr lang="ru-RU" b="1" dirty="0">
                <a:latin typeface="Nunito"/>
                <a:ea typeface="Nunito"/>
                <a:cs typeface="Nunito"/>
                <a:sym typeface="Nunito"/>
              </a:rPr>
              <a:t> нейронные сети</a:t>
            </a:r>
          </a:p>
        </p:txBody>
      </p:sp>
      <p:sp>
        <p:nvSpPr>
          <p:cNvPr id="86" name="Google Shape;86;p16"/>
          <p:cNvSpPr txBox="1">
            <a:spLocks noGrp="1"/>
          </p:cNvSpPr>
          <p:nvPr>
            <p:ph type="body" idx="1"/>
          </p:nvPr>
        </p:nvSpPr>
        <p:spPr>
          <a:xfrm>
            <a:off x="311700" y="722221"/>
            <a:ext cx="8520600" cy="3846629"/>
          </a:xfrm>
          <a:prstGeom prst="rect">
            <a:avLst/>
          </a:prstGeom>
        </p:spPr>
        <p:txBody>
          <a:bodyPr spcFirstLastPara="1" wrap="square" lIns="91425" tIns="91425" rIns="91425" bIns="91425" anchor="t" anchorCtr="0">
            <a:normAutofit/>
          </a:bodyPr>
          <a:lstStyle/>
          <a:p>
            <a:pPr marL="107950" lvl="0" indent="0">
              <a:buClr>
                <a:schemeClr val="dk1"/>
              </a:buClr>
              <a:buSzPts val="1900"/>
              <a:buNone/>
            </a:pPr>
            <a:r>
              <a:rPr lang="ru-RU" dirty="0">
                <a:solidFill>
                  <a:schemeClr val="dk1"/>
                </a:solidFill>
                <a:latin typeface="Nunito"/>
                <a:ea typeface="Nunito"/>
                <a:cs typeface="Nunito"/>
                <a:sym typeface="Nunito"/>
              </a:rPr>
              <a:t>Результат применения свёртки к всему изображению — </a:t>
            </a:r>
            <a:r>
              <a:rPr lang="ru-RU" b="1" dirty="0">
                <a:solidFill>
                  <a:schemeClr val="dk1"/>
                </a:solidFill>
                <a:latin typeface="Nunito"/>
                <a:ea typeface="Nunito"/>
                <a:cs typeface="Nunito"/>
                <a:sym typeface="Nunito"/>
              </a:rPr>
              <a:t>карта признаков</a:t>
            </a:r>
            <a:r>
              <a:rPr lang="ru-RU" dirty="0">
                <a:solidFill>
                  <a:schemeClr val="dk1"/>
                </a:solidFill>
                <a:latin typeface="Nunito"/>
                <a:ea typeface="Nunito"/>
                <a:cs typeface="Nunito"/>
                <a:sym typeface="Nunito"/>
              </a:rPr>
              <a:t> (</a:t>
            </a:r>
            <a:r>
              <a:rPr lang="ru-RU" b="1" dirty="0" err="1">
                <a:solidFill>
                  <a:schemeClr val="dk1"/>
                </a:solidFill>
                <a:latin typeface="Nunito"/>
                <a:ea typeface="Nunito"/>
                <a:cs typeface="Nunito"/>
                <a:sym typeface="Nunito"/>
              </a:rPr>
              <a:t>feature</a:t>
            </a:r>
            <a:r>
              <a:rPr lang="ru-RU" b="1" dirty="0">
                <a:solidFill>
                  <a:schemeClr val="dk1"/>
                </a:solidFill>
                <a:latin typeface="Nunito"/>
                <a:ea typeface="Nunito"/>
                <a:cs typeface="Nunito"/>
                <a:sym typeface="Nunito"/>
              </a:rPr>
              <a:t> </a:t>
            </a:r>
            <a:r>
              <a:rPr lang="ru-RU" b="1" dirty="0" err="1">
                <a:solidFill>
                  <a:schemeClr val="dk1"/>
                </a:solidFill>
                <a:latin typeface="Nunito"/>
                <a:ea typeface="Nunito"/>
                <a:cs typeface="Nunito"/>
                <a:sym typeface="Nunito"/>
              </a:rPr>
              <a:t>map</a:t>
            </a:r>
            <a:r>
              <a:rPr lang="ru-RU" dirty="0">
                <a:solidFill>
                  <a:schemeClr val="dk1"/>
                </a:solidFill>
                <a:latin typeface="Nunito"/>
                <a:ea typeface="Nunito"/>
                <a:cs typeface="Nunito"/>
                <a:sym typeface="Nunito"/>
              </a:rPr>
              <a:t>): она показывает, где на изображении сильно выражен паттерн, который «ищет» данный фильтр (например, вертикальный край)</a:t>
            </a: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26</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pic>
        <p:nvPicPr>
          <p:cNvPr id="2" name="Рисунок 1">
            <a:extLst>
              <a:ext uri="{FF2B5EF4-FFF2-40B4-BE49-F238E27FC236}">
                <a16:creationId xmlns:a16="http://schemas.microsoft.com/office/drawing/2014/main" id="{758646D4-6742-49CE-9B4F-460488104D1C}"/>
              </a:ext>
            </a:extLst>
          </p:cNvPr>
          <p:cNvPicPr>
            <a:picLocks noChangeAspect="1"/>
          </p:cNvPicPr>
          <p:nvPr/>
        </p:nvPicPr>
        <p:blipFill>
          <a:blip r:embed="rId5"/>
          <a:stretch>
            <a:fillRect/>
          </a:stretch>
        </p:blipFill>
        <p:spPr>
          <a:xfrm>
            <a:off x="1165472" y="1874798"/>
            <a:ext cx="6354305" cy="2546481"/>
          </a:xfrm>
          <a:prstGeom prst="rect">
            <a:avLst/>
          </a:prstGeom>
        </p:spPr>
      </p:pic>
    </p:spTree>
    <p:extLst>
      <p:ext uri="{BB962C8B-B14F-4D97-AF65-F5344CB8AC3E}">
        <p14:creationId xmlns:p14="http://schemas.microsoft.com/office/powerpoint/2010/main" val="39618599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13696"/>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Свёртки и </a:t>
            </a:r>
            <a:r>
              <a:rPr lang="ru-RU" b="1" dirty="0" err="1">
                <a:latin typeface="Nunito"/>
                <a:ea typeface="Nunito"/>
                <a:cs typeface="Nunito"/>
                <a:sym typeface="Nunito"/>
              </a:rPr>
              <a:t>свёрточные</a:t>
            </a:r>
            <a:r>
              <a:rPr lang="ru-RU" b="1" dirty="0">
                <a:latin typeface="Nunito"/>
                <a:ea typeface="Nunito"/>
                <a:cs typeface="Nunito"/>
                <a:sym typeface="Nunito"/>
              </a:rPr>
              <a:t> нейронные сети</a:t>
            </a:r>
          </a:p>
        </p:txBody>
      </p:sp>
      <p:sp>
        <p:nvSpPr>
          <p:cNvPr id="86" name="Google Shape;86;p16"/>
          <p:cNvSpPr txBox="1">
            <a:spLocks noGrp="1"/>
          </p:cNvSpPr>
          <p:nvPr>
            <p:ph type="body" idx="1"/>
          </p:nvPr>
        </p:nvSpPr>
        <p:spPr>
          <a:xfrm>
            <a:off x="278969" y="743919"/>
            <a:ext cx="8553331" cy="3824931"/>
          </a:xfrm>
          <a:prstGeom prst="rect">
            <a:avLst/>
          </a:prstGeom>
        </p:spPr>
        <p:txBody>
          <a:bodyPr spcFirstLastPara="1" wrap="square" lIns="91425" tIns="91425" rIns="91425" bIns="91425" anchor="t" anchorCtr="0">
            <a:normAutofit/>
          </a:bodyPr>
          <a:lstStyle/>
          <a:p>
            <a:pPr marL="107950" lvl="0" indent="0">
              <a:buClr>
                <a:schemeClr val="dk1"/>
              </a:buClr>
              <a:buSzPts val="1900"/>
              <a:buNone/>
            </a:pPr>
            <a:r>
              <a:rPr lang="ru-RU" dirty="0">
                <a:solidFill>
                  <a:schemeClr val="dk1"/>
                </a:solidFill>
                <a:latin typeface="Nunito"/>
                <a:ea typeface="Nunito"/>
                <a:cs typeface="Nunito"/>
                <a:sym typeface="Nunito"/>
              </a:rPr>
              <a:t>Понижение размерности: объединение и шаг свёртки</a:t>
            </a:r>
          </a:p>
          <a:p>
            <a:pPr marL="393700" lvl="0" indent="-285750">
              <a:buClr>
                <a:schemeClr val="dk1"/>
              </a:buClr>
              <a:buSzPts val="1900"/>
              <a:buFont typeface="Arial" panose="020B0604020202020204" pitchFamily="34" charset="0"/>
              <a:buChar char="•"/>
            </a:pPr>
            <a:r>
              <a:rPr lang="ru-RU" sz="1600" dirty="0">
                <a:solidFill>
                  <a:schemeClr val="dk1"/>
                </a:solidFill>
                <a:latin typeface="Nunito"/>
                <a:ea typeface="Nunito"/>
                <a:cs typeface="Nunito"/>
                <a:sym typeface="Nunito"/>
              </a:rPr>
              <a:t>По мере прохождения по сети карты признаков нужно уменьшать в размере, чтобы каждый следующий «пиксель» карты признаков видел всё большую область исходного изображения (</a:t>
            </a:r>
            <a:r>
              <a:rPr lang="ru-RU" sz="1600" b="1" dirty="0">
                <a:solidFill>
                  <a:schemeClr val="dk1"/>
                </a:solidFill>
                <a:latin typeface="Nunito"/>
                <a:ea typeface="Nunito"/>
                <a:cs typeface="Nunito"/>
                <a:sym typeface="Nunito"/>
              </a:rPr>
              <a:t>поле восприятия </a:t>
            </a:r>
            <a:r>
              <a:rPr lang="ru-RU" sz="1600" dirty="0">
                <a:solidFill>
                  <a:schemeClr val="dk1"/>
                </a:solidFill>
                <a:latin typeface="Nunito"/>
                <a:ea typeface="Nunito"/>
                <a:cs typeface="Nunito"/>
                <a:sym typeface="Nunito"/>
              </a:rPr>
              <a:t>или </a:t>
            </a:r>
            <a:r>
              <a:rPr lang="ru-RU" sz="1600" b="1" dirty="0" err="1">
                <a:solidFill>
                  <a:schemeClr val="dk1"/>
                </a:solidFill>
                <a:latin typeface="Nunito"/>
                <a:ea typeface="Nunito"/>
                <a:cs typeface="Nunito"/>
                <a:sym typeface="Nunito"/>
              </a:rPr>
              <a:t>receptive</a:t>
            </a:r>
            <a:r>
              <a:rPr lang="ru-RU" sz="1600" b="1" dirty="0">
                <a:solidFill>
                  <a:schemeClr val="dk1"/>
                </a:solidFill>
                <a:latin typeface="Nunito"/>
                <a:ea typeface="Nunito"/>
                <a:cs typeface="Nunito"/>
                <a:sym typeface="Nunito"/>
              </a:rPr>
              <a:t> </a:t>
            </a:r>
            <a:r>
              <a:rPr lang="ru-RU" sz="1600" b="1" dirty="0" err="1">
                <a:solidFill>
                  <a:schemeClr val="dk1"/>
                </a:solidFill>
                <a:latin typeface="Nunito"/>
                <a:ea typeface="Nunito"/>
                <a:cs typeface="Nunito"/>
                <a:sym typeface="Nunito"/>
              </a:rPr>
              <a:t>field</a:t>
            </a:r>
            <a:r>
              <a:rPr lang="ru-RU" sz="1600" dirty="0">
                <a:solidFill>
                  <a:schemeClr val="dk1"/>
                </a:solidFill>
                <a:latin typeface="Nunito"/>
                <a:ea typeface="Nunito"/>
                <a:cs typeface="Nunito"/>
                <a:sym typeface="Nunito"/>
              </a:rPr>
              <a:t>) — именно это позволяет глубоким слоям «видеть» объект целиком, а не только его фрагмент</a:t>
            </a:r>
          </a:p>
          <a:p>
            <a:pPr marL="393700" lvl="0" indent="-285750">
              <a:buClr>
                <a:schemeClr val="dk1"/>
              </a:buClr>
              <a:buSzPts val="1900"/>
              <a:buFont typeface="Arial" panose="020B0604020202020204" pitchFamily="34" charset="0"/>
              <a:buChar char="•"/>
            </a:pPr>
            <a:r>
              <a:rPr lang="ru-RU" sz="1600" dirty="0">
                <a:solidFill>
                  <a:schemeClr val="dk1"/>
                </a:solidFill>
                <a:latin typeface="Nunito"/>
                <a:ea typeface="Nunito"/>
                <a:cs typeface="Nunito"/>
                <a:sym typeface="Nunito"/>
              </a:rPr>
              <a:t>Максимальное объединение (</a:t>
            </a:r>
            <a:r>
              <a:rPr lang="ru-RU" sz="1600" b="1" dirty="0" err="1">
                <a:solidFill>
                  <a:schemeClr val="dk1"/>
                </a:solidFill>
                <a:latin typeface="Nunito"/>
                <a:ea typeface="Nunito"/>
                <a:cs typeface="Nunito"/>
                <a:sym typeface="Nunito"/>
              </a:rPr>
              <a:t>max</a:t>
            </a:r>
            <a:r>
              <a:rPr lang="ru-RU" sz="1600" b="1" dirty="0">
                <a:solidFill>
                  <a:schemeClr val="dk1"/>
                </a:solidFill>
                <a:latin typeface="Nunito"/>
                <a:ea typeface="Nunito"/>
                <a:cs typeface="Nunito"/>
                <a:sym typeface="Nunito"/>
              </a:rPr>
              <a:t> </a:t>
            </a:r>
            <a:r>
              <a:rPr lang="ru-RU" sz="1600" b="1" dirty="0" err="1">
                <a:solidFill>
                  <a:schemeClr val="dk1"/>
                </a:solidFill>
                <a:latin typeface="Nunito"/>
                <a:ea typeface="Nunito"/>
                <a:cs typeface="Nunito"/>
                <a:sym typeface="Nunito"/>
              </a:rPr>
              <a:t>pooling</a:t>
            </a:r>
            <a:r>
              <a:rPr lang="ru-RU" sz="1600" dirty="0">
                <a:solidFill>
                  <a:schemeClr val="dk1"/>
                </a:solidFill>
                <a:latin typeface="Nunito"/>
                <a:ea typeface="Nunito"/>
                <a:cs typeface="Nunito"/>
                <a:sym typeface="Nunito"/>
              </a:rPr>
              <a:t>) берёт максимум по небольшому окну (например 2×2) и уменьшает карту признаков в 2 раза по каждой стороне</a:t>
            </a:r>
          </a:p>
          <a:p>
            <a:pPr marL="393700" lvl="0" indent="-285750">
              <a:buClr>
                <a:schemeClr val="dk1"/>
              </a:buClr>
              <a:buSzPts val="1900"/>
              <a:buFont typeface="Arial" panose="020B0604020202020204" pitchFamily="34" charset="0"/>
              <a:buChar char="•"/>
            </a:pPr>
            <a:r>
              <a:rPr lang="ru-RU" sz="1600" dirty="0">
                <a:solidFill>
                  <a:schemeClr val="dk1"/>
                </a:solidFill>
                <a:latin typeface="Nunito"/>
                <a:ea typeface="Nunito"/>
                <a:cs typeface="Nunito"/>
                <a:sym typeface="Nunito"/>
              </a:rPr>
              <a:t>Усредняющее объединение (</a:t>
            </a:r>
            <a:r>
              <a:rPr lang="en-US" sz="1600" b="1" dirty="0">
                <a:solidFill>
                  <a:schemeClr val="dk1"/>
                </a:solidFill>
                <a:latin typeface="Nunito"/>
                <a:ea typeface="Nunito"/>
                <a:cs typeface="Nunito"/>
                <a:sym typeface="Nunito"/>
              </a:rPr>
              <a:t>average pooling</a:t>
            </a:r>
            <a:r>
              <a:rPr lang="en-US" sz="1600" dirty="0">
                <a:solidFill>
                  <a:schemeClr val="dk1"/>
                </a:solidFill>
                <a:latin typeface="Nunito"/>
                <a:ea typeface="Nunito"/>
                <a:cs typeface="Nunito"/>
                <a:sym typeface="Nunito"/>
              </a:rPr>
              <a:t>) </a:t>
            </a:r>
            <a:r>
              <a:rPr lang="ru-RU" sz="1600" dirty="0">
                <a:solidFill>
                  <a:schemeClr val="dk1"/>
                </a:solidFill>
                <a:latin typeface="Nunito"/>
                <a:ea typeface="Nunito"/>
                <a:cs typeface="Nunito"/>
                <a:sym typeface="Nunito"/>
              </a:rPr>
              <a:t>усредняет значение по небольшому окну (например 2×2) и уменьшает карту признаков в 2 раза по каждой стороне</a:t>
            </a:r>
          </a:p>
          <a:p>
            <a:pPr marL="393700" lvl="0" indent="-285750">
              <a:buClr>
                <a:schemeClr val="dk1"/>
              </a:buClr>
              <a:buSzPts val="1900"/>
              <a:buFont typeface="Arial" panose="020B0604020202020204" pitchFamily="34" charset="0"/>
              <a:buChar char="•"/>
            </a:pPr>
            <a:r>
              <a:rPr lang="ru-RU" sz="1600" dirty="0">
                <a:solidFill>
                  <a:schemeClr val="dk1"/>
                </a:solidFill>
                <a:latin typeface="Nunito"/>
                <a:ea typeface="Nunito"/>
                <a:cs typeface="Nunito"/>
                <a:sym typeface="Nunito"/>
              </a:rPr>
              <a:t>Альтернатива — шаг свёртки &gt; 1: такой фильтр «перепрыгивает» через несколько пикселей вместо соседних, тоже уменьшая выход</a:t>
            </a: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27</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spTree>
    <p:extLst>
      <p:ext uri="{BB962C8B-B14F-4D97-AF65-F5344CB8AC3E}">
        <p14:creationId xmlns:p14="http://schemas.microsoft.com/office/powerpoint/2010/main" val="7030172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13696"/>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Свёртки и </a:t>
            </a:r>
            <a:r>
              <a:rPr lang="ru-RU" b="1" dirty="0" err="1">
                <a:latin typeface="Nunito"/>
                <a:ea typeface="Nunito"/>
                <a:cs typeface="Nunito"/>
                <a:sym typeface="Nunito"/>
              </a:rPr>
              <a:t>свёрточные</a:t>
            </a:r>
            <a:r>
              <a:rPr lang="ru-RU" b="1" dirty="0">
                <a:latin typeface="Nunito"/>
                <a:ea typeface="Nunito"/>
                <a:cs typeface="Nunito"/>
                <a:sym typeface="Nunito"/>
              </a:rPr>
              <a:t> нейронные сети</a:t>
            </a:r>
          </a:p>
        </p:txBody>
      </p:sp>
      <p:sp>
        <p:nvSpPr>
          <p:cNvPr id="86" name="Google Shape;86;p16"/>
          <p:cNvSpPr txBox="1">
            <a:spLocks noGrp="1"/>
          </p:cNvSpPr>
          <p:nvPr>
            <p:ph type="body" idx="1"/>
          </p:nvPr>
        </p:nvSpPr>
        <p:spPr>
          <a:xfrm>
            <a:off x="278969" y="743919"/>
            <a:ext cx="8553331" cy="3824931"/>
          </a:xfrm>
          <a:prstGeom prst="rect">
            <a:avLst/>
          </a:prstGeom>
        </p:spPr>
        <p:txBody>
          <a:bodyPr spcFirstLastPara="1" wrap="square" lIns="91425" tIns="91425" rIns="91425" bIns="91425" anchor="t" anchorCtr="0">
            <a:normAutofit/>
          </a:bodyPr>
          <a:lstStyle/>
          <a:p>
            <a:pPr marL="107950" lvl="0" indent="0">
              <a:buClr>
                <a:schemeClr val="dk1"/>
              </a:buClr>
              <a:buSzPts val="1900"/>
              <a:buNone/>
            </a:pPr>
            <a:r>
              <a:rPr lang="ru-RU" dirty="0">
                <a:solidFill>
                  <a:schemeClr val="dk1"/>
                </a:solidFill>
                <a:latin typeface="Nunito"/>
                <a:ea typeface="Nunito"/>
                <a:cs typeface="Nunito"/>
                <a:sym typeface="Nunito"/>
              </a:rPr>
              <a:t>Примеры объединений</a:t>
            </a:r>
            <a:r>
              <a:rPr lang="en-US" dirty="0">
                <a:solidFill>
                  <a:schemeClr val="dk1"/>
                </a:solidFill>
                <a:latin typeface="Nunito"/>
                <a:ea typeface="Nunito"/>
                <a:cs typeface="Nunito"/>
                <a:sym typeface="Nunito"/>
              </a:rPr>
              <a:t> </a:t>
            </a:r>
            <a:r>
              <a:rPr lang="ru-RU" dirty="0">
                <a:solidFill>
                  <a:schemeClr val="dk1"/>
                </a:solidFill>
                <a:latin typeface="Nunito"/>
                <a:ea typeface="Nunito"/>
                <a:cs typeface="Nunito"/>
                <a:sym typeface="Nunito"/>
              </a:rPr>
              <a:t>и шагов</a:t>
            </a:r>
            <a:endParaRPr lang="ru-RU" sz="1600"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28</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pic>
        <p:nvPicPr>
          <p:cNvPr id="3080" name="Picture 8">
            <a:extLst>
              <a:ext uri="{FF2B5EF4-FFF2-40B4-BE49-F238E27FC236}">
                <a16:creationId xmlns:a16="http://schemas.microsoft.com/office/drawing/2014/main" id="{91E8E20A-FB49-43D5-A33A-D6BF2757C8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689" y="1510643"/>
            <a:ext cx="3534545" cy="2580218"/>
          </a:xfrm>
          <a:prstGeom prst="rect">
            <a:avLst/>
          </a:prstGeom>
          <a:noFill/>
          <a:extLst>
            <a:ext uri="{909E8E84-426E-40DD-AFC4-6F175D3DCCD1}">
              <a14:hiddenFill xmlns:a14="http://schemas.microsoft.com/office/drawing/2010/main">
                <a:solidFill>
                  <a:srgbClr val="FFFFFF"/>
                </a:solidFill>
              </a14:hiddenFill>
            </a:ext>
          </a:extLst>
        </p:spPr>
      </p:pic>
      <p:pic>
        <p:nvPicPr>
          <p:cNvPr id="5" name="Рисунок 4">
            <a:extLst>
              <a:ext uri="{FF2B5EF4-FFF2-40B4-BE49-F238E27FC236}">
                <a16:creationId xmlns:a16="http://schemas.microsoft.com/office/drawing/2014/main" id="{C581626F-BC7F-4C47-9860-961EBDC0D09A}"/>
              </a:ext>
            </a:extLst>
          </p:cNvPr>
          <p:cNvPicPr>
            <a:picLocks noChangeAspect="1"/>
          </p:cNvPicPr>
          <p:nvPr/>
        </p:nvPicPr>
        <p:blipFill>
          <a:blip r:embed="rId6"/>
          <a:stretch>
            <a:fillRect/>
          </a:stretch>
        </p:blipFill>
        <p:spPr>
          <a:xfrm>
            <a:off x="5004682" y="696106"/>
            <a:ext cx="3132825" cy="1757439"/>
          </a:xfrm>
          <a:prstGeom prst="rect">
            <a:avLst/>
          </a:prstGeom>
        </p:spPr>
      </p:pic>
      <p:pic>
        <p:nvPicPr>
          <p:cNvPr id="14" name="Рисунок 13">
            <a:extLst>
              <a:ext uri="{FF2B5EF4-FFF2-40B4-BE49-F238E27FC236}">
                <a16:creationId xmlns:a16="http://schemas.microsoft.com/office/drawing/2014/main" id="{4C0FC733-F765-4D40-82C7-1EAF274D04B4}"/>
              </a:ext>
            </a:extLst>
          </p:cNvPr>
          <p:cNvPicPr>
            <a:picLocks noChangeAspect="1"/>
          </p:cNvPicPr>
          <p:nvPr/>
        </p:nvPicPr>
        <p:blipFill>
          <a:blip r:embed="rId7"/>
          <a:stretch>
            <a:fillRect/>
          </a:stretch>
        </p:blipFill>
        <p:spPr>
          <a:xfrm>
            <a:off x="5539579" y="2547920"/>
            <a:ext cx="2063032" cy="2020929"/>
          </a:xfrm>
          <a:prstGeom prst="rect">
            <a:avLst/>
          </a:prstGeom>
        </p:spPr>
      </p:pic>
    </p:spTree>
    <p:extLst>
      <p:ext uri="{BB962C8B-B14F-4D97-AF65-F5344CB8AC3E}">
        <p14:creationId xmlns:p14="http://schemas.microsoft.com/office/powerpoint/2010/main" val="33228799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13696"/>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Свёртки и </a:t>
            </a:r>
            <a:r>
              <a:rPr lang="ru-RU" b="1" dirty="0" err="1">
                <a:latin typeface="Nunito"/>
                <a:ea typeface="Nunito"/>
                <a:cs typeface="Nunito"/>
                <a:sym typeface="Nunito"/>
              </a:rPr>
              <a:t>свёрточные</a:t>
            </a:r>
            <a:r>
              <a:rPr lang="ru-RU" b="1" dirty="0">
                <a:latin typeface="Nunito"/>
                <a:ea typeface="Nunito"/>
                <a:cs typeface="Nunito"/>
                <a:sym typeface="Nunito"/>
              </a:rPr>
              <a:t> нейронные сети</a:t>
            </a:r>
          </a:p>
        </p:txBody>
      </p:sp>
      <p:sp>
        <p:nvSpPr>
          <p:cNvPr id="86" name="Google Shape;86;p16"/>
          <p:cNvSpPr txBox="1">
            <a:spLocks noGrp="1"/>
          </p:cNvSpPr>
          <p:nvPr>
            <p:ph type="body" idx="1"/>
          </p:nvPr>
        </p:nvSpPr>
        <p:spPr>
          <a:xfrm>
            <a:off x="311700" y="686396"/>
            <a:ext cx="8520600" cy="3882454"/>
          </a:xfrm>
          <a:prstGeom prst="rect">
            <a:avLst/>
          </a:prstGeom>
        </p:spPr>
        <p:txBody>
          <a:bodyPr spcFirstLastPara="1" wrap="square" lIns="91425" tIns="91425" rIns="91425" bIns="91425" anchor="t" anchorCtr="0">
            <a:normAutofit/>
          </a:bodyPr>
          <a:lstStyle/>
          <a:p>
            <a:pPr marL="107950" lvl="0" indent="0">
              <a:buClr>
                <a:schemeClr val="dk1"/>
              </a:buClr>
              <a:buSzPts val="1900"/>
              <a:buNone/>
            </a:pPr>
            <a:r>
              <a:rPr lang="ru-RU" dirty="0">
                <a:solidFill>
                  <a:schemeClr val="dk1"/>
                </a:solidFill>
                <a:latin typeface="Nunito"/>
                <a:ea typeface="Nunito"/>
                <a:cs typeface="Nunito"/>
                <a:sym typeface="Nunito"/>
              </a:rPr>
              <a:t>Как это работает внутри нейросети:</a:t>
            </a:r>
          </a:p>
          <a:p>
            <a:pPr marL="393700" lvl="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Один </a:t>
            </a:r>
            <a:r>
              <a:rPr lang="ru-RU" dirty="0" err="1">
                <a:solidFill>
                  <a:schemeClr val="dk1"/>
                </a:solidFill>
                <a:latin typeface="Nunito"/>
                <a:ea typeface="Nunito"/>
                <a:cs typeface="Nunito"/>
                <a:sym typeface="Nunito"/>
              </a:rPr>
              <a:t>свёрточный</a:t>
            </a:r>
            <a:r>
              <a:rPr lang="ru-RU" dirty="0">
                <a:solidFill>
                  <a:schemeClr val="dk1"/>
                </a:solidFill>
                <a:latin typeface="Nunito"/>
                <a:ea typeface="Nunito"/>
                <a:cs typeface="Nunito"/>
                <a:sym typeface="Nunito"/>
              </a:rPr>
              <a:t> слой в сети обычно содержит не один, а десятки/сотни таких фильтров — каждый ищет свой паттерн, на выходе получается много карт признаков</a:t>
            </a:r>
          </a:p>
          <a:p>
            <a:pPr marL="393700" lvl="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Веса фильтров не задаются вручную — модель подбирает их сама в процессе обучения, чтобы карты признаков были полезны для решения итоговой задачи</a:t>
            </a:r>
          </a:p>
          <a:p>
            <a:pPr marL="393700" lvl="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Первые </a:t>
            </a:r>
            <a:r>
              <a:rPr lang="ru-RU" dirty="0" err="1">
                <a:solidFill>
                  <a:schemeClr val="dk1"/>
                </a:solidFill>
                <a:latin typeface="Nunito"/>
                <a:ea typeface="Nunito"/>
                <a:cs typeface="Nunito"/>
                <a:sym typeface="Nunito"/>
              </a:rPr>
              <a:t>свёрточные</a:t>
            </a:r>
            <a:r>
              <a:rPr lang="ru-RU" dirty="0">
                <a:solidFill>
                  <a:schemeClr val="dk1"/>
                </a:solidFill>
                <a:latin typeface="Nunito"/>
                <a:ea typeface="Nunito"/>
                <a:cs typeface="Nunito"/>
                <a:sym typeface="Nunito"/>
              </a:rPr>
              <a:t> слои чаще всего выучивают простые паттерны: границы, перепады яркости, направления линий</a:t>
            </a:r>
          </a:p>
          <a:p>
            <a:pPr marL="393700" lvl="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Более глубокие слои комбинируют эти простые признаки в более сложные: текстуры, фрагменты формы объекта</a:t>
            </a:r>
            <a:endParaRPr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29</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spTree>
    <p:extLst>
      <p:ext uri="{BB962C8B-B14F-4D97-AF65-F5344CB8AC3E}">
        <p14:creationId xmlns:p14="http://schemas.microsoft.com/office/powerpoint/2010/main" val="6848074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13696"/>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Свёртки и </a:t>
            </a:r>
            <a:r>
              <a:rPr lang="ru-RU" b="1" dirty="0" err="1">
                <a:latin typeface="Nunito"/>
                <a:ea typeface="Nunito"/>
                <a:cs typeface="Nunito"/>
                <a:sym typeface="Nunito"/>
              </a:rPr>
              <a:t>свёрточные</a:t>
            </a:r>
            <a:r>
              <a:rPr lang="ru-RU" b="1" dirty="0">
                <a:latin typeface="Nunito"/>
                <a:ea typeface="Nunito"/>
                <a:cs typeface="Nunito"/>
                <a:sym typeface="Nunito"/>
              </a:rPr>
              <a:t> нейронные сети</a:t>
            </a:r>
          </a:p>
        </p:txBody>
      </p:sp>
      <p:sp>
        <p:nvSpPr>
          <p:cNvPr id="86" name="Google Shape;86;p16"/>
          <p:cNvSpPr txBox="1">
            <a:spLocks noGrp="1"/>
          </p:cNvSpPr>
          <p:nvPr>
            <p:ph type="body" idx="1"/>
          </p:nvPr>
        </p:nvSpPr>
        <p:spPr>
          <a:xfrm>
            <a:off x="311700" y="686396"/>
            <a:ext cx="8520600" cy="3882454"/>
          </a:xfrm>
          <a:prstGeom prst="rect">
            <a:avLst/>
          </a:prstGeom>
        </p:spPr>
        <p:txBody>
          <a:bodyPr spcFirstLastPara="1" wrap="square" lIns="91425" tIns="91425" rIns="91425" bIns="91425" anchor="t" anchorCtr="0">
            <a:normAutofit/>
          </a:bodyPr>
          <a:lstStyle/>
          <a:p>
            <a:pPr marL="107950" lvl="0" indent="0">
              <a:buClr>
                <a:schemeClr val="dk1"/>
              </a:buClr>
              <a:buSzPts val="1900"/>
              <a:buNone/>
            </a:pPr>
            <a:r>
              <a:rPr lang="ru-RU" dirty="0">
                <a:solidFill>
                  <a:schemeClr val="dk1"/>
                </a:solidFill>
                <a:latin typeface="Nunito"/>
                <a:ea typeface="Nunito"/>
                <a:cs typeface="Nunito"/>
                <a:sym typeface="Nunito"/>
              </a:rPr>
              <a:t>Архитектура </a:t>
            </a:r>
            <a:r>
              <a:rPr lang="ru-RU" dirty="0" err="1">
                <a:solidFill>
                  <a:schemeClr val="dk1"/>
                </a:solidFill>
                <a:latin typeface="Nunito"/>
                <a:ea typeface="Nunito"/>
                <a:cs typeface="Nunito"/>
                <a:sym typeface="Nunito"/>
              </a:rPr>
              <a:t>свёрточной</a:t>
            </a:r>
            <a:r>
              <a:rPr lang="ru-RU" dirty="0">
                <a:solidFill>
                  <a:schemeClr val="dk1"/>
                </a:solidFill>
                <a:latin typeface="Nunito"/>
                <a:ea typeface="Nunito"/>
                <a:cs typeface="Nunito"/>
                <a:sym typeface="Nunito"/>
              </a:rPr>
              <a:t> нейронной сети представляют как набор </a:t>
            </a:r>
            <a:r>
              <a:rPr lang="ru-RU" dirty="0" err="1">
                <a:solidFill>
                  <a:schemeClr val="dk1"/>
                </a:solidFill>
                <a:latin typeface="Nunito"/>
                <a:ea typeface="Nunito"/>
                <a:cs typeface="Nunito"/>
                <a:sym typeface="Nunito"/>
              </a:rPr>
              <a:t>свёрточных</a:t>
            </a:r>
            <a:r>
              <a:rPr lang="ru-RU" dirty="0">
                <a:solidFill>
                  <a:schemeClr val="dk1"/>
                </a:solidFill>
                <a:latin typeface="Nunito"/>
                <a:ea typeface="Nunito"/>
                <a:cs typeface="Nunito"/>
                <a:sym typeface="Nunito"/>
              </a:rPr>
              <a:t> слоёв: каждый следующий строит более абстрактное представление поверх предыдущего</a:t>
            </a: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30</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pic>
        <p:nvPicPr>
          <p:cNvPr id="3" name="Рисунок 2">
            <a:extLst>
              <a:ext uri="{FF2B5EF4-FFF2-40B4-BE49-F238E27FC236}">
                <a16:creationId xmlns:a16="http://schemas.microsoft.com/office/drawing/2014/main" id="{24E8A524-35C3-48B0-A963-42EB2889D5B7}"/>
              </a:ext>
            </a:extLst>
          </p:cNvPr>
          <p:cNvPicPr>
            <a:picLocks noChangeAspect="1"/>
          </p:cNvPicPr>
          <p:nvPr/>
        </p:nvPicPr>
        <p:blipFill>
          <a:blip r:embed="rId5"/>
          <a:stretch>
            <a:fillRect/>
          </a:stretch>
        </p:blipFill>
        <p:spPr>
          <a:xfrm>
            <a:off x="813980" y="2116471"/>
            <a:ext cx="7359826" cy="2546750"/>
          </a:xfrm>
          <a:prstGeom prst="rect">
            <a:avLst/>
          </a:prstGeom>
        </p:spPr>
      </p:pic>
    </p:spTree>
    <p:extLst>
      <p:ext uri="{BB962C8B-B14F-4D97-AF65-F5344CB8AC3E}">
        <p14:creationId xmlns:p14="http://schemas.microsoft.com/office/powerpoint/2010/main" val="1868220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13696"/>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Свёртки и </a:t>
            </a:r>
            <a:r>
              <a:rPr lang="ru-RU" b="1" dirty="0" err="1">
                <a:latin typeface="Nunito"/>
                <a:ea typeface="Nunito"/>
                <a:cs typeface="Nunito"/>
                <a:sym typeface="Nunito"/>
              </a:rPr>
              <a:t>свёрточные</a:t>
            </a:r>
            <a:r>
              <a:rPr lang="ru-RU" b="1" dirty="0">
                <a:latin typeface="Nunito"/>
                <a:ea typeface="Nunito"/>
                <a:cs typeface="Nunito"/>
                <a:sym typeface="Nunito"/>
              </a:rPr>
              <a:t> нейронные сети</a:t>
            </a:r>
          </a:p>
        </p:txBody>
      </p:sp>
      <p:sp>
        <p:nvSpPr>
          <p:cNvPr id="86" name="Google Shape;86;p16"/>
          <p:cNvSpPr txBox="1">
            <a:spLocks noGrp="1"/>
          </p:cNvSpPr>
          <p:nvPr>
            <p:ph type="body" idx="1"/>
          </p:nvPr>
        </p:nvSpPr>
        <p:spPr>
          <a:xfrm>
            <a:off x="311700" y="686396"/>
            <a:ext cx="8520600" cy="3882454"/>
          </a:xfrm>
          <a:prstGeom prst="rect">
            <a:avLst/>
          </a:prstGeom>
        </p:spPr>
        <p:txBody>
          <a:bodyPr spcFirstLastPara="1" wrap="square" lIns="91425" tIns="91425" rIns="91425" bIns="91425" anchor="t" anchorCtr="0">
            <a:normAutofit/>
          </a:bodyPr>
          <a:lstStyle/>
          <a:p>
            <a:pPr marL="393700" lvl="0" indent="-285750">
              <a:buClr>
                <a:schemeClr val="dk1"/>
              </a:buClr>
              <a:buSzPts val="1900"/>
              <a:buFont typeface="Arial" panose="020B0604020202020204" pitchFamily="34" charset="0"/>
              <a:buChar char="•"/>
            </a:pPr>
            <a:r>
              <a:rPr lang="ru-RU" sz="1600" dirty="0" err="1">
                <a:solidFill>
                  <a:schemeClr val="dk1"/>
                </a:solidFill>
                <a:latin typeface="Nunito"/>
                <a:ea typeface="Nunito"/>
                <a:cs typeface="Nunito"/>
                <a:sym typeface="Nunito"/>
              </a:rPr>
              <a:t>Backbone</a:t>
            </a:r>
            <a:r>
              <a:rPr lang="ru-RU" sz="1600" dirty="0">
                <a:solidFill>
                  <a:schemeClr val="dk1"/>
                </a:solidFill>
                <a:latin typeface="Nunito"/>
                <a:ea typeface="Nunito"/>
                <a:cs typeface="Nunito"/>
                <a:sym typeface="Nunito"/>
              </a:rPr>
              <a:t> сам по себе не решает задачу — он производит компактное признаковое представление изображения</a:t>
            </a:r>
          </a:p>
          <a:p>
            <a:pPr marL="393700" lvl="0" indent="-285750">
              <a:buClr>
                <a:schemeClr val="dk1"/>
              </a:buClr>
              <a:buSzPts val="1900"/>
              <a:buFont typeface="Arial" panose="020B0604020202020204" pitchFamily="34" charset="0"/>
              <a:buChar char="•"/>
            </a:pPr>
            <a:r>
              <a:rPr lang="ru-RU" sz="1600" dirty="0">
                <a:solidFill>
                  <a:schemeClr val="dk1"/>
                </a:solidFill>
                <a:latin typeface="Nunito"/>
                <a:ea typeface="Nunito"/>
                <a:cs typeface="Nunito"/>
                <a:sym typeface="Nunito"/>
              </a:rPr>
              <a:t>Обученный </a:t>
            </a:r>
            <a:r>
              <a:rPr lang="ru-RU" sz="1600" dirty="0" err="1">
                <a:solidFill>
                  <a:schemeClr val="dk1"/>
                </a:solidFill>
                <a:latin typeface="Nunito"/>
                <a:ea typeface="Nunito"/>
                <a:cs typeface="Nunito"/>
                <a:sym typeface="Nunito"/>
              </a:rPr>
              <a:t>backbone</a:t>
            </a:r>
            <a:r>
              <a:rPr lang="ru-RU" sz="1600" dirty="0">
                <a:solidFill>
                  <a:schemeClr val="dk1"/>
                </a:solidFill>
                <a:latin typeface="Nunito"/>
                <a:ea typeface="Nunito"/>
                <a:cs typeface="Nunito"/>
                <a:sym typeface="Nunito"/>
              </a:rPr>
              <a:t> можно </a:t>
            </a:r>
            <a:r>
              <a:rPr lang="ru-RU" sz="1600" dirty="0" err="1">
                <a:solidFill>
                  <a:schemeClr val="dk1"/>
                </a:solidFill>
                <a:latin typeface="Nunito"/>
                <a:ea typeface="Nunito"/>
                <a:cs typeface="Nunito"/>
                <a:sym typeface="Nunito"/>
              </a:rPr>
              <a:t>переиспользовать</a:t>
            </a:r>
            <a:r>
              <a:rPr lang="ru-RU" sz="1600" dirty="0">
                <a:solidFill>
                  <a:schemeClr val="dk1"/>
                </a:solidFill>
                <a:latin typeface="Nunito"/>
                <a:ea typeface="Nunito"/>
                <a:cs typeface="Nunito"/>
                <a:sym typeface="Nunito"/>
              </a:rPr>
              <a:t> для разных голов и задач — это и называется </a:t>
            </a:r>
            <a:r>
              <a:rPr lang="ru-RU" sz="1600" b="1" dirty="0" err="1">
                <a:solidFill>
                  <a:schemeClr val="dk1"/>
                </a:solidFill>
                <a:latin typeface="Nunito"/>
                <a:ea typeface="Nunito"/>
                <a:cs typeface="Nunito"/>
                <a:sym typeface="Nunito"/>
              </a:rPr>
              <a:t>transfer</a:t>
            </a:r>
            <a:r>
              <a:rPr lang="ru-RU" sz="1600" b="1" dirty="0">
                <a:solidFill>
                  <a:schemeClr val="dk1"/>
                </a:solidFill>
                <a:latin typeface="Nunito"/>
                <a:ea typeface="Nunito"/>
                <a:cs typeface="Nunito"/>
                <a:sym typeface="Nunito"/>
              </a:rPr>
              <a:t> </a:t>
            </a:r>
            <a:r>
              <a:rPr lang="ru-RU" sz="1600" b="1" dirty="0" err="1">
                <a:solidFill>
                  <a:schemeClr val="dk1"/>
                </a:solidFill>
                <a:latin typeface="Nunito"/>
                <a:ea typeface="Nunito"/>
                <a:cs typeface="Nunito"/>
                <a:sym typeface="Nunito"/>
              </a:rPr>
              <a:t>learning</a:t>
            </a:r>
            <a:endParaRPr lang="ru-RU" sz="1600" b="1" dirty="0">
              <a:solidFill>
                <a:schemeClr val="dk1"/>
              </a:solidFill>
              <a:latin typeface="Nunito"/>
              <a:ea typeface="Nunito"/>
              <a:cs typeface="Nunito"/>
              <a:sym typeface="Nunito"/>
            </a:endParaRPr>
          </a:p>
          <a:p>
            <a:pPr marL="393700" lvl="0" indent="-285750">
              <a:buClr>
                <a:schemeClr val="dk1"/>
              </a:buClr>
              <a:buSzPts val="1900"/>
              <a:buFont typeface="Arial" panose="020B0604020202020204" pitchFamily="34" charset="0"/>
              <a:buChar char="•"/>
            </a:pPr>
            <a:endParaRPr lang="ru-RU" sz="1600"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31</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pic>
        <p:nvPicPr>
          <p:cNvPr id="3" name="Рисунок 2">
            <a:extLst>
              <a:ext uri="{FF2B5EF4-FFF2-40B4-BE49-F238E27FC236}">
                <a16:creationId xmlns:a16="http://schemas.microsoft.com/office/drawing/2014/main" id="{24E8A524-35C3-48B0-A963-42EB2889D5B7}"/>
              </a:ext>
            </a:extLst>
          </p:cNvPr>
          <p:cNvPicPr>
            <a:picLocks noChangeAspect="1"/>
          </p:cNvPicPr>
          <p:nvPr/>
        </p:nvPicPr>
        <p:blipFill>
          <a:blip r:embed="rId5"/>
          <a:stretch>
            <a:fillRect/>
          </a:stretch>
        </p:blipFill>
        <p:spPr>
          <a:xfrm>
            <a:off x="807780" y="2116467"/>
            <a:ext cx="7359826" cy="2546750"/>
          </a:xfrm>
          <a:prstGeom prst="rect">
            <a:avLst/>
          </a:prstGeom>
        </p:spPr>
      </p:pic>
    </p:spTree>
    <p:extLst>
      <p:ext uri="{BB962C8B-B14F-4D97-AF65-F5344CB8AC3E}">
        <p14:creationId xmlns:p14="http://schemas.microsoft.com/office/powerpoint/2010/main" val="33118350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13696"/>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Свёртки и </a:t>
            </a:r>
            <a:r>
              <a:rPr lang="ru-RU" b="1" dirty="0" err="1">
                <a:latin typeface="Nunito"/>
                <a:ea typeface="Nunito"/>
                <a:cs typeface="Nunito"/>
                <a:sym typeface="Nunito"/>
              </a:rPr>
              <a:t>свёрточные</a:t>
            </a:r>
            <a:r>
              <a:rPr lang="ru-RU" b="1" dirty="0">
                <a:latin typeface="Nunito"/>
                <a:ea typeface="Nunito"/>
                <a:cs typeface="Nunito"/>
                <a:sym typeface="Nunito"/>
              </a:rPr>
              <a:t> нейронные сети</a:t>
            </a:r>
          </a:p>
        </p:txBody>
      </p:sp>
      <p:sp>
        <p:nvSpPr>
          <p:cNvPr id="86" name="Google Shape;86;p16"/>
          <p:cNvSpPr txBox="1">
            <a:spLocks noGrp="1"/>
          </p:cNvSpPr>
          <p:nvPr>
            <p:ph type="body" idx="1"/>
          </p:nvPr>
        </p:nvSpPr>
        <p:spPr>
          <a:xfrm>
            <a:off x="311700" y="686396"/>
            <a:ext cx="8520600" cy="3882454"/>
          </a:xfrm>
          <a:prstGeom prst="rect">
            <a:avLst/>
          </a:prstGeom>
        </p:spPr>
        <p:txBody>
          <a:bodyPr spcFirstLastPara="1" wrap="square" lIns="91425" tIns="91425" rIns="91425" bIns="91425" anchor="t" anchorCtr="0">
            <a:normAutofit/>
          </a:bodyPr>
          <a:lstStyle/>
          <a:p>
            <a:pPr marL="107950" lvl="0" indent="0">
              <a:buClr>
                <a:schemeClr val="dk1"/>
              </a:buClr>
              <a:buSzPts val="1900"/>
              <a:buNone/>
            </a:pPr>
            <a:r>
              <a:rPr lang="ru-RU" b="1" dirty="0">
                <a:solidFill>
                  <a:schemeClr val="dk1"/>
                </a:solidFill>
                <a:latin typeface="Nunito"/>
                <a:ea typeface="Nunito"/>
                <a:cs typeface="Nunito"/>
                <a:sym typeface="Nunito"/>
              </a:rPr>
              <a:t>Подавление не-максимумов (</a:t>
            </a:r>
            <a:r>
              <a:rPr lang="en-US" b="1" dirty="0">
                <a:solidFill>
                  <a:schemeClr val="dk1"/>
                </a:solidFill>
                <a:latin typeface="Nunito"/>
                <a:ea typeface="Nunito"/>
                <a:cs typeface="Nunito"/>
                <a:sym typeface="Nunito"/>
              </a:rPr>
              <a:t>Non-Maximum Suppression, NMS)</a:t>
            </a:r>
          </a:p>
          <a:p>
            <a:pPr marL="393700" indent="-285750">
              <a:buClr>
                <a:schemeClr val="dk1"/>
              </a:buClr>
              <a:buSzPts val="1900"/>
              <a:buFont typeface="Arial" panose="020B0604020202020204" pitchFamily="34" charset="0"/>
              <a:buChar char="•"/>
            </a:pPr>
            <a:r>
              <a:rPr lang="ru-RU" sz="1600" dirty="0">
                <a:solidFill>
                  <a:schemeClr val="dk1"/>
                </a:solidFill>
                <a:latin typeface="Nunito"/>
                <a:ea typeface="Nunito"/>
                <a:cs typeface="Nunito"/>
                <a:sym typeface="Nunito"/>
              </a:rPr>
              <a:t>Модель обычно выдаёт множество </a:t>
            </a:r>
            <a:r>
              <a:rPr lang="en-US" sz="1600" dirty="0" err="1">
                <a:solidFill>
                  <a:schemeClr val="dk1"/>
                </a:solidFill>
                <a:latin typeface="Nunito"/>
                <a:ea typeface="Nunito"/>
                <a:cs typeface="Nunito"/>
                <a:sym typeface="Nunito"/>
              </a:rPr>
              <a:t>bbox</a:t>
            </a:r>
            <a:r>
              <a:rPr lang="ru-RU" sz="1600" dirty="0">
                <a:solidFill>
                  <a:schemeClr val="dk1"/>
                </a:solidFill>
                <a:latin typeface="Nunito"/>
                <a:ea typeface="Nunito"/>
                <a:cs typeface="Nunito"/>
                <a:sym typeface="Nunito"/>
              </a:rPr>
              <a:t>-кандидатов вокруг одного и того же объекта с разной уверенностью (</a:t>
            </a:r>
            <a:r>
              <a:rPr lang="en-US" sz="1600" dirty="0">
                <a:solidFill>
                  <a:schemeClr val="dk1"/>
                </a:solidFill>
                <a:latin typeface="Nunito"/>
                <a:ea typeface="Nunito"/>
                <a:cs typeface="Nunito"/>
                <a:sym typeface="Nunito"/>
              </a:rPr>
              <a:t>confidence, conf)</a:t>
            </a:r>
            <a:endParaRPr lang="ru-RU" sz="1600" dirty="0">
              <a:solidFill>
                <a:schemeClr val="dk1"/>
              </a:solidFill>
              <a:latin typeface="Nunito"/>
              <a:ea typeface="Nunito"/>
              <a:cs typeface="Nunito"/>
              <a:sym typeface="Nunito"/>
            </a:endParaRPr>
          </a:p>
          <a:p>
            <a:pPr marL="393700" indent="-285750">
              <a:buClr>
                <a:schemeClr val="dk1"/>
              </a:buClr>
              <a:buSzPts val="1900"/>
              <a:buFont typeface="Arial" panose="020B0604020202020204" pitchFamily="34" charset="0"/>
              <a:buChar char="•"/>
            </a:pPr>
            <a:r>
              <a:rPr lang="ru-RU" sz="1600" dirty="0">
                <a:solidFill>
                  <a:schemeClr val="dk1"/>
                </a:solidFill>
                <a:latin typeface="Nunito"/>
                <a:ea typeface="Nunito"/>
                <a:cs typeface="Nunito"/>
                <a:sym typeface="Nunito"/>
              </a:rPr>
              <a:t>из группы сильно пересекающихся рамок (</a:t>
            </a:r>
            <a:r>
              <a:rPr lang="ru-RU" sz="1600" dirty="0" err="1">
                <a:solidFill>
                  <a:schemeClr val="dk1"/>
                </a:solidFill>
                <a:latin typeface="Nunito"/>
                <a:ea typeface="Nunito"/>
                <a:cs typeface="Nunito"/>
                <a:sym typeface="Nunito"/>
              </a:rPr>
              <a:t>IoU</a:t>
            </a:r>
            <a:r>
              <a:rPr lang="ru-RU" sz="1600" dirty="0">
                <a:solidFill>
                  <a:schemeClr val="dk1"/>
                </a:solidFill>
                <a:latin typeface="Nunito"/>
                <a:ea typeface="Nunito"/>
                <a:cs typeface="Nunito"/>
                <a:sym typeface="Nunito"/>
              </a:rPr>
              <a:t> выше заданного порога) оставляется только рамка с максимальной уверенностью, остальные подавляются</a:t>
            </a:r>
          </a:p>
          <a:p>
            <a:pPr marL="107950" lvl="0" indent="0">
              <a:buClr>
                <a:schemeClr val="dk1"/>
              </a:buClr>
              <a:buSzPts val="1900"/>
              <a:buNone/>
            </a:pPr>
            <a:endParaRPr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32</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pic>
        <p:nvPicPr>
          <p:cNvPr id="3" name="Рисунок 2">
            <a:extLst>
              <a:ext uri="{FF2B5EF4-FFF2-40B4-BE49-F238E27FC236}">
                <a16:creationId xmlns:a16="http://schemas.microsoft.com/office/drawing/2014/main" id="{E0AA9497-CF6A-49FC-91B6-E13B172863BE}"/>
              </a:ext>
            </a:extLst>
          </p:cNvPr>
          <p:cNvPicPr>
            <a:picLocks noChangeAspect="1"/>
          </p:cNvPicPr>
          <p:nvPr/>
        </p:nvPicPr>
        <p:blipFill rotWithShape="1">
          <a:blip r:embed="rId5"/>
          <a:srcRect t="17226"/>
          <a:stretch/>
        </p:blipFill>
        <p:spPr>
          <a:xfrm>
            <a:off x="1249163" y="2387470"/>
            <a:ext cx="6645673" cy="2250262"/>
          </a:xfrm>
          <a:prstGeom prst="rect">
            <a:avLst/>
          </a:prstGeom>
        </p:spPr>
      </p:pic>
    </p:spTree>
    <p:extLst>
      <p:ext uri="{BB962C8B-B14F-4D97-AF65-F5344CB8AC3E}">
        <p14:creationId xmlns:p14="http://schemas.microsoft.com/office/powerpoint/2010/main" val="42774688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p:nvPr/>
        </p:nvSpPr>
        <p:spPr>
          <a:xfrm>
            <a:off x="0" y="452450"/>
            <a:ext cx="9144000" cy="46911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 name="Google Shape;65;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33</a:t>
            </a:fld>
            <a:endParaRPr>
              <a:solidFill>
                <a:schemeClr val="lt1"/>
              </a:solidFill>
            </a:endParaRPr>
          </a:p>
        </p:txBody>
      </p:sp>
      <p:sp>
        <p:nvSpPr>
          <p:cNvPr id="66" name="Google Shape;66;p14"/>
          <p:cNvSpPr txBox="1">
            <a:spLocks noGrp="1"/>
          </p:cNvSpPr>
          <p:nvPr>
            <p:ph type="ctrTitle"/>
          </p:nvPr>
        </p:nvSpPr>
        <p:spPr>
          <a:xfrm>
            <a:off x="0" y="1751308"/>
            <a:ext cx="9144000" cy="1517228"/>
          </a:xfrm>
          <a:prstGeom prst="rect">
            <a:avLst/>
          </a:prstGeom>
        </p:spPr>
        <p:txBody>
          <a:bodyPr spcFirstLastPara="1" wrap="square" lIns="91425" tIns="91425" rIns="91425" bIns="91425" anchor="b" anchorCtr="0">
            <a:normAutofit fontScale="90000"/>
          </a:bodyPr>
          <a:lstStyle/>
          <a:p>
            <a:pPr lvl="0"/>
            <a:r>
              <a:rPr lang="ru-RU" b="1" dirty="0">
                <a:solidFill>
                  <a:schemeClr val="lt1"/>
                </a:solidFill>
                <a:latin typeface="Nunito"/>
                <a:ea typeface="Nunito"/>
                <a:cs typeface="Nunito"/>
                <a:sym typeface="Nunito"/>
              </a:rPr>
              <a:t>Разведочный анализ данных</a:t>
            </a:r>
            <a:br>
              <a:rPr lang="ru-RU" b="1" dirty="0">
                <a:solidFill>
                  <a:schemeClr val="lt1"/>
                </a:solidFill>
                <a:latin typeface="Nunito"/>
                <a:ea typeface="Nunito"/>
                <a:cs typeface="Nunito"/>
                <a:sym typeface="Nunito"/>
              </a:rPr>
            </a:br>
            <a:r>
              <a:rPr lang="ru-RU" b="1" dirty="0">
                <a:solidFill>
                  <a:schemeClr val="lt1"/>
                </a:solidFill>
                <a:latin typeface="Nunito"/>
                <a:ea typeface="Nunito"/>
                <a:cs typeface="Nunito"/>
                <a:sym typeface="Nunito"/>
              </a:rPr>
              <a:t>для обнаружения</a:t>
            </a:r>
          </a:p>
        </p:txBody>
      </p:sp>
      <p:pic>
        <p:nvPicPr>
          <p:cNvPr id="67" name="Google Shape;67;p14"/>
          <p:cNvPicPr preferRelativeResize="0"/>
          <p:nvPr/>
        </p:nvPicPr>
        <p:blipFill rotWithShape="1">
          <a:blip r:embed="rId3">
            <a:alphaModFix/>
          </a:blip>
          <a:srcRect l="30316" t="32807" r="29285" b="24140"/>
          <a:stretch/>
        </p:blipFill>
        <p:spPr>
          <a:xfrm>
            <a:off x="2865625" y="3973562"/>
            <a:ext cx="1015825" cy="1082575"/>
          </a:xfrm>
          <a:prstGeom prst="rect">
            <a:avLst/>
          </a:prstGeom>
          <a:noFill/>
          <a:ln>
            <a:noFill/>
          </a:ln>
        </p:spPr>
      </p:pic>
      <p:pic>
        <p:nvPicPr>
          <p:cNvPr id="68" name="Google Shape;68;p14"/>
          <p:cNvPicPr preferRelativeResize="0"/>
          <p:nvPr/>
        </p:nvPicPr>
        <p:blipFill rotWithShape="1">
          <a:blip r:embed="rId4">
            <a:alphaModFix/>
          </a:blip>
          <a:srcRect l="3410" t="59058" r="2904" b="6827"/>
          <a:stretch/>
        </p:blipFill>
        <p:spPr>
          <a:xfrm>
            <a:off x="205475" y="4048412"/>
            <a:ext cx="2561601" cy="932900"/>
          </a:xfrm>
          <a:prstGeom prst="rect">
            <a:avLst/>
          </a:prstGeom>
          <a:noFill/>
          <a:ln>
            <a:noFill/>
          </a:ln>
        </p:spPr>
      </p:pic>
    </p:spTree>
    <p:extLst>
      <p:ext uri="{BB962C8B-B14F-4D97-AF65-F5344CB8AC3E}">
        <p14:creationId xmlns:p14="http://schemas.microsoft.com/office/powerpoint/2010/main" val="27004445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13696"/>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Разведочный анализ данных для обнаружения</a:t>
            </a:r>
          </a:p>
        </p:txBody>
      </p:sp>
      <p:sp>
        <p:nvSpPr>
          <p:cNvPr id="86" name="Google Shape;86;p16"/>
          <p:cNvSpPr txBox="1">
            <a:spLocks noGrp="1"/>
          </p:cNvSpPr>
          <p:nvPr>
            <p:ph type="body" idx="1"/>
          </p:nvPr>
        </p:nvSpPr>
        <p:spPr>
          <a:xfrm>
            <a:off x="311700" y="725321"/>
            <a:ext cx="8520600" cy="3843529"/>
          </a:xfrm>
          <a:prstGeom prst="rect">
            <a:avLst/>
          </a:prstGeom>
        </p:spPr>
        <p:txBody>
          <a:bodyPr spcFirstLastPara="1" wrap="square" lIns="91425" tIns="91425" rIns="91425" bIns="91425" anchor="t" anchorCtr="0">
            <a:normAutofit/>
          </a:bodyPr>
          <a:lstStyle/>
          <a:p>
            <a:pPr marL="107950" lvl="0" indent="0">
              <a:buClr>
                <a:schemeClr val="dk1"/>
              </a:buClr>
              <a:buSzPts val="1900"/>
              <a:buNone/>
            </a:pPr>
            <a:r>
              <a:rPr lang="ru-RU" dirty="0">
                <a:solidFill>
                  <a:schemeClr val="dk1"/>
                </a:solidFill>
                <a:latin typeface="Nunito"/>
                <a:ea typeface="Nunito"/>
                <a:cs typeface="Nunito"/>
                <a:sym typeface="Nunito"/>
              </a:rPr>
              <a:t>Кроме общих шагов EDA (пропуски, распределения, аномалии), для задачи обнаружения есть набор специфичных проверок</a:t>
            </a:r>
            <a:r>
              <a:rPr lang="en-US" dirty="0">
                <a:solidFill>
                  <a:schemeClr val="dk1"/>
                </a:solidFill>
                <a:latin typeface="Nunito"/>
                <a:ea typeface="Nunito"/>
                <a:cs typeface="Nunito"/>
                <a:sym typeface="Nunito"/>
              </a:rPr>
              <a:t>:</a:t>
            </a:r>
          </a:p>
          <a:p>
            <a:pPr marL="393700" lvl="0" indent="-285750">
              <a:buClr>
                <a:schemeClr val="dk1"/>
              </a:buClr>
              <a:buSzPts val="1900"/>
              <a:buFont typeface="Arial" panose="020B0604020202020204" pitchFamily="34" charset="0"/>
              <a:buChar char="•"/>
            </a:pPr>
            <a:r>
              <a:rPr lang="ru-RU" sz="1600" b="1" dirty="0">
                <a:solidFill>
                  <a:schemeClr val="dk1"/>
                </a:solidFill>
                <a:latin typeface="Nunito"/>
                <a:ea typeface="Nunito"/>
                <a:cs typeface="Nunito"/>
                <a:sym typeface="Nunito"/>
              </a:rPr>
              <a:t>Распределение числа объектов на изображении </a:t>
            </a:r>
            <a:r>
              <a:rPr lang="ru-RU" sz="1600" dirty="0">
                <a:solidFill>
                  <a:schemeClr val="dk1"/>
                </a:solidFill>
                <a:latin typeface="Nunito"/>
                <a:ea typeface="Nunito"/>
                <a:cs typeface="Nunito"/>
                <a:sym typeface="Nunito"/>
              </a:rPr>
              <a:t>— помогает понять, насколько разнообразна сцена (пустые кадры, кадры с одним объектом </a:t>
            </a:r>
            <a:r>
              <a:rPr lang="ru-RU" sz="1600" dirty="0" err="1">
                <a:solidFill>
                  <a:schemeClr val="dk1"/>
                </a:solidFill>
                <a:latin typeface="Nunito"/>
                <a:ea typeface="Nunito"/>
                <a:cs typeface="Nunito"/>
                <a:sym typeface="Nunito"/>
              </a:rPr>
              <a:t>vs</a:t>
            </a:r>
            <a:r>
              <a:rPr lang="ru-RU" sz="1600" dirty="0">
                <a:solidFill>
                  <a:schemeClr val="dk1"/>
                </a:solidFill>
                <a:latin typeface="Nunito"/>
                <a:ea typeface="Nunito"/>
                <a:cs typeface="Nunito"/>
                <a:sym typeface="Nunito"/>
              </a:rPr>
              <a:t> десятками), не перекошена ли выборка</a:t>
            </a:r>
            <a:endParaRPr lang="en-US" sz="1600" dirty="0">
              <a:solidFill>
                <a:schemeClr val="dk1"/>
              </a:solidFill>
              <a:latin typeface="Nunito"/>
              <a:ea typeface="Nunito"/>
              <a:cs typeface="Nunito"/>
              <a:sym typeface="Nunito"/>
            </a:endParaRPr>
          </a:p>
          <a:p>
            <a:pPr marL="393700" lvl="0" indent="-285750">
              <a:buClr>
                <a:schemeClr val="dk1"/>
              </a:buClr>
              <a:buSzPts val="1900"/>
              <a:buFont typeface="Arial" panose="020B0604020202020204" pitchFamily="34" charset="0"/>
              <a:buChar char="•"/>
            </a:pPr>
            <a:r>
              <a:rPr lang="ru-RU" sz="1600" b="1" dirty="0">
                <a:solidFill>
                  <a:schemeClr val="dk1"/>
                </a:solidFill>
                <a:latin typeface="Nunito"/>
                <a:ea typeface="Nunito"/>
                <a:cs typeface="Nunito"/>
                <a:sym typeface="Nunito"/>
              </a:rPr>
              <a:t>Плотность расположения объектов по кадру</a:t>
            </a:r>
            <a:r>
              <a:rPr lang="en-US" sz="1600" b="1" dirty="0">
                <a:solidFill>
                  <a:schemeClr val="dk1"/>
                </a:solidFill>
                <a:latin typeface="Nunito"/>
                <a:ea typeface="Nunito"/>
                <a:cs typeface="Nunito"/>
                <a:sym typeface="Nunito"/>
              </a:rPr>
              <a:t> </a:t>
            </a:r>
            <a:r>
              <a:rPr lang="ru-RU" sz="1600" b="1" dirty="0">
                <a:solidFill>
                  <a:schemeClr val="dk1"/>
                </a:solidFill>
                <a:latin typeface="Nunito"/>
                <a:ea typeface="Nunito"/>
                <a:cs typeface="Nunito"/>
                <a:sym typeface="Nunito"/>
              </a:rPr>
              <a:t>(</a:t>
            </a:r>
            <a:r>
              <a:rPr lang="ru-RU" sz="1600" b="1" dirty="0" err="1">
                <a:solidFill>
                  <a:schemeClr val="dk1"/>
                </a:solidFill>
                <a:latin typeface="Nunito"/>
                <a:ea typeface="Nunito"/>
                <a:cs typeface="Nunito"/>
                <a:sym typeface="Nunito"/>
              </a:rPr>
              <a:t>heatmap</a:t>
            </a:r>
            <a:r>
              <a:rPr lang="ru-RU" sz="1600" b="1" dirty="0">
                <a:solidFill>
                  <a:schemeClr val="dk1"/>
                </a:solidFill>
                <a:latin typeface="Nunito"/>
                <a:ea typeface="Nunito"/>
                <a:cs typeface="Nunito"/>
                <a:sym typeface="Nunito"/>
              </a:rPr>
              <a:t>) </a:t>
            </a:r>
            <a:r>
              <a:rPr lang="ru-RU" sz="1600" dirty="0">
                <a:solidFill>
                  <a:schemeClr val="dk1"/>
                </a:solidFill>
                <a:latin typeface="Nunito"/>
                <a:ea typeface="Nunito"/>
                <a:cs typeface="Nunito"/>
                <a:sym typeface="Nunito"/>
              </a:rPr>
              <a:t>— показывает, есть ли систематическое смещение объектов к краю/центру кадра; подсказывает, какие геометрические аугментации безопасны</a:t>
            </a:r>
          </a:p>
          <a:p>
            <a:pPr marL="393700" lvl="0" indent="-285750">
              <a:buClr>
                <a:schemeClr val="dk1"/>
              </a:buClr>
              <a:buSzPts val="1900"/>
              <a:buFont typeface="Arial" panose="020B0604020202020204" pitchFamily="34" charset="0"/>
              <a:buChar char="•"/>
            </a:pPr>
            <a:r>
              <a:rPr lang="ru-RU" sz="1600" b="1" dirty="0">
                <a:solidFill>
                  <a:schemeClr val="dk1"/>
                </a:solidFill>
                <a:latin typeface="Nunito"/>
                <a:ea typeface="Nunito"/>
                <a:cs typeface="Nunito"/>
                <a:sym typeface="Nunito"/>
              </a:rPr>
              <a:t>Распределение размеров и пропорций b</a:t>
            </a:r>
            <a:r>
              <a:rPr lang="en-US" sz="1600" b="1" dirty="0">
                <a:solidFill>
                  <a:schemeClr val="dk1"/>
                </a:solidFill>
                <a:latin typeface="Nunito"/>
                <a:ea typeface="Nunito"/>
                <a:cs typeface="Nunito"/>
                <a:sym typeface="Nunito"/>
              </a:rPr>
              <a:t>box</a:t>
            </a:r>
            <a:r>
              <a:rPr lang="ru-RU" sz="1600" b="1" dirty="0">
                <a:solidFill>
                  <a:schemeClr val="dk1"/>
                </a:solidFill>
                <a:latin typeface="Nunito"/>
                <a:ea typeface="Nunito"/>
                <a:cs typeface="Nunito"/>
                <a:sym typeface="Nunito"/>
              </a:rPr>
              <a:t> </a:t>
            </a:r>
            <a:r>
              <a:rPr lang="ru-RU" sz="1600" dirty="0">
                <a:solidFill>
                  <a:schemeClr val="dk1"/>
                </a:solidFill>
                <a:latin typeface="Nunito"/>
                <a:ea typeface="Nunito"/>
                <a:cs typeface="Nunito"/>
                <a:sym typeface="Nunito"/>
              </a:rPr>
              <a:t>— критично для выбора разрешения входного изображения и стратегии аугментаций; также задаёт</a:t>
            </a:r>
            <a:r>
              <a:rPr lang="en-US" sz="1600" dirty="0">
                <a:solidFill>
                  <a:schemeClr val="dk1"/>
                </a:solidFill>
                <a:latin typeface="Nunito"/>
                <a:ea typeface="Nunito"/>
                <a:cs typeface="Nunito"/>
                <a:sym typeface="Nunito"/>
              </a:rPr>
              <a:t> </a:t>
            </a:r>
            <a:r>
              <a:rPr lang="ru-RU" sz="1600" dirty="0">
                <a:solidFill>
                  <a:schemeClr val="dk1"/>
                </a:solidFill>
                <a:latin typeface="Nunito"/>
                <a:ea typeface="Nunito"/>
                <a:cs typeface="Nunito"/>
                <a:sym typeface="Nunito"/>
              </a:rPr>
              <a:t> ожидания по метрике — мелкие объекты обычно обнаружить сложнее</a:t>
            </a:r>
            <a:endParaRPr sz="1600"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34</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spTree>
    <p:extLst>
      <p:ext uri="{BB962C8B-B14F-4D97-AF65-F5344CB8AC3E}">
        <p14:creationId xmlns:p14="http://schemas.microsoft.com/office/powerpoint/2010/main" val="38797232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13696"/>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Разведочный анализ данных для обнаружения</a:t>
            </a:r>
          </a:p>
        </p:txBody>
      </p:sp>
      <p:sp>
        <p:nvSpPr>
          <p:cNvPr id="86" name="Google Shape;86;p16"/>
          <p:cNvSpPr txBox="1">
            <a:spLocks noGrp="1"/>
          </p:cNvSpPr>
          <p:nvPr>
            <p:ph type="body" idx="1"/>
          </p:nvPr>
        </p:nvSpPr>
        <p:spPr>
          <a:xfrm>
            <a:off x="226208" y="659684"/>
            <a:ext cx="8520600" cy="3596100"/>
          </a:xfrm>
          <a:prstGeom prst="rect">
            <a:avLst/>
          </a:prstGeom>
        </p:spPr>
        <p:txBody>
          <a:bodyPr spcFirstLastPara="1" wrap="square" lIns="91425" tIns="91425" rIns="91425" bIns="91425" anchor="t" anchorCtr="0">
            <a:normAutofit/>
          </a:bodyPr>
          <a:lstStyle/>
          <a:p>
            <a:pPr marL="107950" lvl="0" indent="0" algn="l" rtl="0">
              <a:spcBef>
                <a:spcPts val="0"/>
              </a:spcBef>
              <a:spcAft>
                <a:spcPts val="0"/>
              </a:spcAft>
              <a:buClr>
                <a:schemeClr val="dk1"/>
              </a:buClr>
              <a:buSzPts val="1900"/>
              <a:buNone/>
            </a:pPr>
            <a:r>
              <a:rPr lang="ru-RU" dirty="0">
                <a:solidFill>
                  <a:schemeClr val="dk1"/>
                </a:solidFill>
                <a:latin typeface="Nunito"/>
                <a:ea typeface="Nunito"/>
                <a:cs typeface="Nunito"/>
                <a:sym typeface="Nunito"/>
              </a:rPr>
              <a:t>Пример для данных, с которыми будем далее работать</a:t>
            </a:r>
            <a:endParaRPr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35</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pic>
        <p:nvPicPr>
          <p:cNvPr id="3" name="Рисунок 2">
            <a:extLst>
              <a:ext uri="{FF2B5EF4-FFF2-40B4-BE49-F238E27FC236}">
                <a16:creationId xmlns:a16="http://schemas.microsoft.com/office/drawing/2014/main" id="{C59F3418-8FCF-431D-875A-9D71EF9DA406}"/>
              </a:ext>
            </a:extLst>
          </p:cNvPr>
          <p:cNvPicPr>
            <a:picLocks noChangeAspect="1"/>
          </p:cNvPicPr>
          <p:nvPr/>
        </p:nvPicPr>
        <p:blipFill rotWithShape="1">
          <a:blip r:embed="rId5"/>
          <a:srcRect t="10381"/>
          <a:stretch/>
        </p:blipFill>
        <p:spPr>
          <a:xfrm>
            <a:off x="450689" y="1093837"/>
            <a:ext cx="8217378" cy="3535104"/>
          </a:xfrm>
          <a:prstGeom prst="rect">
            <a:avLst/>
          </a:prstGeom>
        </p:spPr>
      </p:pic>
    </p:spTree>
    <p:extLst>
      <p:ext uri="{BB962C8B-B14F-4D97-AF65-F5344CB8AC3E}">
        <p14:creationId xmlns:p14="http://schemas.microsoft.com/office/powerpoint/2010/main" val="6121059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p:nvPr/>
        </p:nvSpPr>
        <p:spPr>
          <a:xfrm>
            <a:off x="0" y="452450"/>
            <a:ext cx="9144000" cy="46911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 name="Google Shape;65;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36</a:t>
            </a:fld>
            <a:endParaRPr>
              <a:solidFill>
                <a:schemeClr val="lt1"/>
              </a:solidFill>
            </a:endParaRPr>
          </a:p>
        </p:txBody>
      </p:sp>
      <p:sp>
        <p:nvSpPr>
          <p:cNvPr id="66" name="Google Shape;66;p14"/>
          <p:cNvSpPr txBox="1">
            <a:spLocks noGrp="1"/>
          </p:cNvSpPr>
          <p:nvPr>
            <p:ph type="ctrTitle"/>
          </p:nvPr>
        </p:nvSpPr>
        <p:spPr>
          <a:xfrm>
            <a:off x="0" y="1760607"/>
            <a:ext cx="9144000" cy="1507929"/>
          </a:xfrm>
          <a:prstGeom prst="rect">
            <a:avLst/>
          </a:prstGeom>
        </p:spPr>
        <p:txBody>
          <a:bodyPr spcFirstLastPara="1" wrap="square" lIns="91425" tIns="91425" rIns="91425" bIns="91425" anchor="b" anchorCtr="0">
            <a:normAutofit fontScale="90000"/>
          </a:bodyPr>
          <a:lstStyle/>
          <a:p>
            <a:pPr lvl="0"/>
            <a:r>
              <a:rPr lang="ru-RU" b="1" dirty="0">
                <a:solidFill>
                  <a:schemeClr val="lt1"/>
                </a:solidFill>
                <a:latin typeface="Nunito"/>
                <a:ea typeface="Nunito"/>
                <a:cs typeface="Nunito"/>
                <a:sym typeface="Nunito"/>
              </a:rPr>
              <a:t>Особенности подготовки </a:t>
            </a:r>
            <a:br>
              <a:rPr lang="ru-RU" b="1" dirty="0">
                <a:solidFill>
                  <a:schemeClr val="lt1"/>
                </a:solidFill>
                <a:latin typeface="Nunito"/>
                <a:ea typeface="Nunito"/>
                <a:cs typeface="Nunito"/>
                <a:sym typeface="Nunito"/>
              </a:rPr>
            </a:br>
            <a:r>
              <a:rPr lang="en-US" b="1" dirty="0">
                <a:solidFill>
                  <a:schemeClr val="lt1"/>
                </a:solidFill>
                <a:latin typeface="Nunito"/>
                <a:ea typeface="Nunito"/>
                <a:cs typeface="Nunito"/>
                <a:sym typeface="Nunito"/>
              </a:rPr>
              <a:t>SAR </a:t>
            </a:r>
            <a:r>
              <a:rPr lang="ru-RU" b="1" dirty="0">
                <a:solidFill>
                  <a:schemeClr val="lt1"/>
                </a:solidFill>
                <a:latin typeface="Nunito"/>
                <a:ea typeface="Nunito"/>
                <a:cs typeface="Nunito"/>
                <a:sym typeface="Nunito"/>
              </a:rPr>
              <a:t>изображений</a:t>
            </a:r>
          </a:p>
        </p:txBody>
      </p:sp>
      <p:pic>
        <p:nvPicPr>
          <p:cNvPr id="67" name="Google Shape;67;p14"/>
          <p:cNvPicPr preferRelativeResize="0"/>
          <p:nvPr/>
        </p:nvPicPr>
        <p:blipFill rotWithShape="1">
          <a:blip r:embed="rId3">
            <a:alphaModFix/>
          </a:blip>
          <a:srcRect l="30316" t="32807" r="29285" b="24140"/>
          <a:stretch/>
        </p:blipFill>
        <p:spPr>
          <a:xfrm>
            <a:off x="2865625" y="3973562"/>
            <a:ext cx="1015825" cy="1082575"/>
          </a:xfrm>
          <a:prstGeom prst="rect">
            <a:avLst/>
          </a:prstGeom>
          <a:noFill/>
          <a:ln>
            <a:noFill/>
          </a:ln>
        </p:spPr>
      </p:pic>
      <p:pic>
        <p:nvPicPr>
          <p:cNvPr id="68" name="Google Shape;68;p14"/>
          <p:cNvPicPr preferRelativeResize="0"/>
          <p:nvPr/>
        </p:nvPicPr>
        <p:blipFill rotWithShape="1">
          <a:blip r:embed="rId4">
            <a:alphaModFix/>
          </a:blip>
          <a:srcRect l="3410" t="59058" r="2904" b="6827"/>
          <a:stretch/>
        </p:blipFill>
        <p:spPr>
          <a:xfrm>
            <a:off x="205475" y="4048412"/>
            <a:ext cx="2561601" cy="932900"/>
          </a:xfrm>
          <a:prstGeom prst="rect">
            <a:avLst/>
          </a:prstGeom>
          <a:noFill/>
          <a:ln>
            <a:noFill/>
          </a:ln>
        </p:spPr>
      </p:pic>
    </p:spTree>
    <p:extLst>
      <p:ext uri="{BB962C8B-B14F-4D97-AF65-F5344CB8AC3E}">
        <p14:creationId xmlns:p14="http://schemas.microsoft.com/office/powerpoint/2010/main" val="14789412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13696"/>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Особенности подготовки </a:t>
            </a:r>
            <a:r>
              <a:rPr lang="en-GB" b="1" dirty="0">
                <a:latin typeface="Nunito"/>
                <a:ea typeface="Nunito"/>
                <a:cs typeface="Nunito"/>
                <a:sym typeface="Nunito"/>
              </a:rPr>
              <a:t>SAR </a:t>
            </a:r>
            <a:r>
              <a:rPr lang="ru-RU" b="1" dirty="0">
                <a:latin typeface="Nunito"/>
                <a:ea typeface="Nunito"/>
                <a:cs typeface="Nunito"/>
                <a:sym typeface="Nunito"/>
              </a:rPr>
              <a:t>изображений</a:t>
            </a:r>
            <a:endParaRPr b="1" dirty="0">
              <a:latin typeface="Nunito"/>
              <a:ea typeface="Nunito"/>
              <a:cs typeface="Nunito"/>
              <a:sym typeface="Nunito"/>
            </a:endParaRPr>
          </a:p>
        </p:txBody>
      </p:sp>
      <p:sp>
        <p:nvSpPr>
          <p:cNvPr id="86" name="Google Shape;86;p16"/>
          <p:cNvSpPr txBox="1">
            <a:spLocks noGrp="1"/>
          </p:cNvSpPr>
          <p:nvPr>
            <p:ph type="body" idx="1"/>
          </p:nvPr>
        </p:nvSpPr>
        <p:spPr>
          <a:xfrm>
            <a:off x="311700" y="972750"/>
            <a:ext cx="8520600" cy="3596100"/>
          </a:xfrm>
          <a:prstGeom prst="rect">
            <a:avLst/>
          </a:prstGeom>
        </p:spPr>
        <p:txBody>
          <a:bodyPr spcFirstLastPara="1" wrap="square" lIns="91425" tIns="91425" rIns="91425" bIns="91425" anchor="t" anchorCtr="0">
            <a:normAutofit/>
          </a:bodyPr>
          <a:lstStyle/>
          <a:p>
            <a:pPr marL="107950" lvl="0" indent="0" algn="l" rtl="0">
              <a:spcBef>
                <a:spcPts val="0"/>
              </a:spcBef>
              <a:spcAft>
                <a:spcPts val="0"/>
              </a:spcAft>
              <a:buClr>
                <a:schemeClr val="dk1"/>
              </a:buClr>
              <a:buSzPts val="1900"/>
              <a:buNone/>
            </a:pPr>
            <a:r>
              <a:rPr lang="ru-RU" b="1" dirty="0">
                <a:solidFill>
                  <a:schemeClr val="dk1"/>
                </a:solidFill>
                <a:latin typeface="Nunito"/>
                <a:ea typeface="Nunito"/>
                <a:cs typeface="Nunito"/>
                <a:sym typeface="Nunito"/>
              </a:rPr>
              <a:t>Обязательная</a:t>
            </a:r>
            <a:r>
              <a:rPr lang="ru-RU" dirty="0">
                <a:solidFill>
                  <a:schemeClr val="dk1"/>
                </a:solidFill>
                <a:latin typeface="Nunito"/>
                <a:ea typeface="Nunito"/>
                <a:cs typeface="Nunito"/>
                <a:sym typeface="Nunito"/>
              </a:rPr>
              <a:t> </a:t>
            </a:r>
            <a:r>
              <a:rPr lang="ru-RU" b="1" dirty="0">
                <a:solidFill>
                  <a:schemeClr val="dk1"/>
                </a:solidFill>
                <a:latin typeface="Nunito"/>
                <a:ea typeface="Nunito"/>
                <a:cs typeface="Nunito"/>
                <a:sym typeface="Nunito"/>
              </a:rPr>
              <a:t>предобработка сырых данных</a:t>
            </a:r>
            <a:r>
              <a:rPr lang="ru-RU" dirty="0">
                <a:solidFill>
                  <a:schemeClr val="dk1"/>
                </a:solidFill>
                <a:latin typeface="Nunito"/>
                <a:ea typeface="Nunito"/>
                <a:cs typeface="Nunito"/>
                <a:sym typeface="Nunito"/>
              </a:rPr>
              <a:t>:</a:t>
            </a:r>
          </a:p>
          <a:p>
            <a:pPr marL="4508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a:t>
            </a:r>
            <a:r>
              <a:rPr lang="ru-RU" dirty="0" err="1">
                <a:solidFill>
                  <a:schemeClr val="dk1"/>
                </a:solidFill>
                <a:latin typeface="Nunito"/>
                <a:ea typeface="Nunito"/>
                <a:cs typeface="Nunito"/>
                <a:sym typeface="Nunito"/>
              </a:rPr>
              <a:t>Геопривязка</a:t>
            </a:r>
            <a:r>
              <a:rPr lang="ru-RU" dirty="0">
                <a:solidFill>
                  <a:schemeClr val="dk1"/>
                </a:solidFill>
                <a:latin typeface="Nunito"/>
                <a:ea typeface="Nunito"/>
                <a:cs typeface="Nunito"/>
                <a:sym typeface="Nunito"/>
              </a:rPr>
              <a:t> и калибровка</a:t>
            </a:r>
          </a:p>
          <a:p>
            <a:pPr marL="4508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Подавление </a:t>
            </a:r>
            <a:r>
              <a:rPr lang="ru-RU" dirty="0" err="1">
                <a:solidFill>
                  <a:schemeClr val="dk1"/>
                </a:solidFill>
                <a:latin typeface="Nunito"/>
                <a:ea typeface="Nunito"/>
                <a:cs typeface="Nunito"/>
                <a:sym typeface="Nunito"/>
              </a:rPr>
              <a:t>спекл</a:t>
            </a:r>
            <a:r>
              <a:rPr lang="ru-RU" dirty="0">
                <a:solidFill>
                  <a:schemeClr val="dk1"/>
                </a:solidFill>
                <a:latin typeface="Nunito"/>
                <a:ea typeface="Nunito"/>
                <a:cs typeface="Nunito"/>
                <a:sym typeface="Nunito"/>
              </a:rPr>
              <a:t>-шума (фильтры Ли и Фроста или </a:t>
            </a:r>
            <a:r>
              <a:rPr lang="ru-RU" dirty="0" err="1">
                <a:solidFill>
                  <a:schemeClr val="dk1"/>
                </a:solidFill>
                <a:latin typeface="Nunito"/>
                <a:ea typeface="Nunito"/>
                <a:cs typeface="Nunito"/>
                <a:sym typeface="Nunito"/>
              </a:rPr>
              <a:t>нейросетевые</a:t>
            </a:r>
            <a:r>
              <a:rPr lang="ru-RU" dirty="0">
                <a:solidFill>
                  <a:schemeClr val="dk1"/>
                </a:solidFill>
                <a:latin typeface="Nunito"/>
                <a:ea typeface="Nunito"/>
                <a:cs typeface="Nunito"/>
                <a:sym typeface="Nunito"/>
              </a:rPr>
              <a:t> антишумовые модели)</a:t>
            </a:r>
          </a:p>
          <a:p>
            <a:pPr marL="4508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*Геометрическая коррекция</a:t>
            </a:r>
          </a:p>
          <a:p>
            <a:pPr marL="4508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Нормализация яркости и контраста</a:t>
            </a:r>
          </a:p>
          <a:p>
            <a:pPr marL="4508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*Коррекция фазовых ошибок</a:t>
            </a:r>
          </a:p>
          <a:p>
            <a:pPr marL="107950" indent="0">
              <a:buClr>
                <a:schemeClr val="dk1"/>
              </a:buClr>
              <a:buSzPts val="1900"/>
              <a:buNone/>
            </a:pPr>
            <a:endParaRPr lang="ru-RU" dirty="0">
              <a:solidFill>
                <a:schemeClr val="dk1"/>
              </a:solidFill>
              <a:latin typeface="Nunito"/>
              <a:ea typeface="Nunito"/>
              <a:cs typeface="Nunito"/>
              <a:sym typeface="Nunito"/>
            </a:endParaRPr>
          </a:p>
          <a:p>
            <a:pPr marL="107950" indent="0">
              <a:buClr>
                <a:schemeClr val="dk1"/>
              </a:buClr>
              <a:buSzPts val="1900"/>
              <a:buNone/>
            </a:pPr>
            <a:r>
              <a:rPr lang="ru-RU" dirty="0">
                <a:solidFill>
                  <a:schemeClr val="dk1"/>
                </a:solidFill>
                <a:latin typeface="Nunito"/>
                <a:ea typeface="Nunito"/>
                <a:cs typeface="Nunito"/>
                <a:sym typeface="Nunito"/>
              </a:rPr>
              <a:t>* - Чаще всего делается не нами</a:t>
            </a:r>
            <a:endParaRPr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37</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spTree>
    <p:extLst>
      <p:ext uri="{BB962C8B-B14F-4D97-AF65-F5344CB8AC3E}">
        <p14:creationId xmlns:p14="http://schemas.microsoft.com/office/powerpoint/2010/main" val="16233647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13696"/>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Особенности подготовки </a:t>
            </a:r>
            <a:r>
              <a:rPr lang="en-GB" b="1" dirty="0">
                <a:latin typeface="Nunito"/>
                <a:ea typeface="Nunito"/>
                <a:cs typeface="Nunito"/>
                <a:sym typeface="Nunito"/>
              </a:rPr>
              <a:t>SAR </a:t>
            </a:r>
            <a:r>
              <a:rPr lang="ru-RU" b="1" dirty="0">
                <a:latin typeface="Nunito"/>
                <a:ea typeface="Nunito"/>
                <a:cs typeface="Nunito"/>
                <a:sym typeface="Nunito"/>
              </a:rPr>
              <a:t>изображений</a:t>
            </a:r>
            <a:endParaRPr b="1" dirty="0">
              <a:latin typeface="Nunito"/>
              <a:ea typeface="Nunito"/>
              <a:cs typeface="Nunito"/>
              <a:sym typeface="Nunito"/>
            </a:endParaRPr>
          </a:p>
        </p:txBody>
      </p:sp>
      <p:sp>
        <p:nvSpPr>
          <p:cNvPr id="86" name="Google Shape;86;p16"/>
          <p:cNvSpPr txBox="1">
            <a:spLocks noGrp="1"/>
          </p:cNvSpPr>
          <p:nvPr>
            <p:ph type="body" idx="1"/>
          </p:nvPr>
        </p:nvSpPr>
        <p:spPr>
          <a:xfrm>
            <a:off x="311700" y="686396"/>
            <a:ext cx="8520600" cy="3882454"/>
          </a:xfrm>
          <a:prstGeom prst="rect">
            <a:avLst/>
          </a:prstGeom>
        </p:spPr>
        <p:txBody>
          <a:bodyPr spcFirstLastPara="1" wrap="square" lIns="91425" tIns="91425" rIns="91425" bIns="91425" anchor="t" anchorCtr="0">
            <a:normAutofit/>
          </a:bodyPr>
          <a:lstStyle/>
          <a:p>
            <a:pPr marL="107950" lvl="0" indent="0">
              <a:buClr>
                <a:schemeClr val="dk1"/>
              </a:buClr>
              <a:buSzPts val="1900"/>
              <a:buNone/>
            </a:pPr>
            <a:r>
              <a:rPr lang="ru-RU" b="1" dirty="0">
                <a:solidFill>
                  <a:schemeClr val="dk1"/>
                </a:solidFill>
                <a:latin typeface="Nunito"/>
                <a:ea typeface="Nunito"/>
                <a:cs typeface="Nunito"/>
                <a:sym typeface="Nunito"/>
              </a:rPr>
              <a:t>Нормализация SAR: почему это не тривиально</a:t>
            </a:r>
          </a:p>
          <a:p>
            <a:pPr marL="393700" lvl="0" indent="-285750">
              <a:buClr>
                <a:schemeClr val="dk1"/>
              </a:buClr>
              <a:buSzPts val="1900"/>
              <a:buFont typeface="Arial" panose="020B0604020202020204" pitchFamily="34" charset="0"/>
              <a:buChar char="•"/>
            </a:pPr>
            <a:r>
              <a:rPr lang="ru-RU" sz="1600" dirty="0">
                <a:solidFill>
                  <a:schemeClr val="dk1"/>
                </a:solidFill>
                <a:latin typeface="Nunito"/>
                <a:ea typeface="Nunito"/>
                <a:cs typeface="Nunito"/>
                <a:sym typeface="Nunito"/>
              </a:rPr>
              <a:t>Сырые значения SAR-сигнала имеют огромный динамический диапазон и распределены неравномерно: немного ярких пикселей (углы зданий, техника) на фоне однородного ландшафта или моря</a:t>
            </a:r>
          </a:p>
          <a:p>
            <a:pPr marL="393700" lvl="0" indent="-285750">
              <a:buClr>
                <a:schemeClr val="dk1"/>
              </a:buClr>
              <a:buSzPts val="1900"/>
              <a:buFont typeface="Arial" panose="020B0604020202020204" pitchFamily="34" charset="0"/>
              <a:buChar char="•"/>
            </a:pPr>
            <a:r>
              <a:rPr lang="ru-RU" sz="1600" dirty="0">
                <a:solidFill>
                  <a:schemeClr val="dk1"/>
                </a:solidFill>
                <a:latin typeface="Nunito"/>
                <a:ea typeface="Nunito"/>
                <a:cs typeface="Nunito"/>
                <a:sym typeface="Nunito"/>
              </a:rPr>
              <a:t>Прямая линейная нормализация в [0, 1] или [0, 255] «сжимает» почти весь полезный контраст в узкий тёмный диапазон, а редкие яркие выбросы съедают всю шкалу</a:t>
            </a:r>
          </a:p>
          <a:p>
            <a:pPr marL="393700" lvl="0" indent="-285750">
              <a:buClr>
                <a:schemeClr val="dk1"/>
              </a:buClr>
              <a:buSzPts val="1900"/>
              <a:buFont typeface="Arial" panose="020B0604020202020204" pitchFamily="34" charset="0"/>
              <a:buChar char="•"/>
            </a:pPr>
            <a:r>
              <a:rPr lang="ru-RU" sz="1600" dirty="0">
                <a:solidFill>
                  <a:schemeClr val="dk1"/>
                </a:solidFill>
                <a:latin typeface="Nunito"/>
                <a:ea typeface="Nunito"/>
                <a:cs typeface="Nunito"/>
                <a:sym typeface="Nunito"/>
              </a:rPr>
              <a:t>Поэтому SAR-изображения чаще переводят в </a:t>
            </a:r>
            <a:r>
              <a:rPr lang="ru-RU" sz="1600" b="1" dirty="0">
                <a:solidFill>
                  <a:schemeClr val="dk1"/>
                </a:solidFill>
                <a:latin typeface="Nunito"/>
                <a:ea typeface="Nunito"/>
                <a:cs typeface="Nunito"/>
                <a:sym typeface="Nunito"/>
              </a:rPr>
              <a:t>логарифмическую шкалу (дБ) </a:t>
            </a:r>
            <a:r>
              <a:rPr lang="ru-RU" sz="1600" dirty="0">
                <a:solidFill>
                  <a:schemeClr val="dk1"/>
                </a:solidFill>
                <a:latin typeface="Nunito"/>
                <a:ea typeface="Nunito"/>
                <a:cs typeface="Nunito"/>
                <a:sym typeface="Nunito"/>
              </a:rPr>
              <a:t>перед нормализацией — это выравнивает восприятие контраста между тёмными и яркими областями</a:t>
            </a:r>
          </a:p>
          <a:p>
            <a:pPr marL="393700" lvl="0" indent="-285750">
              <a:buClr>
                <a:schemeClr val="dk1"/>
              </a:buClr>
              <a:buSzPts val="1900"/>
              <a:buFont typeface="Arial" panose="020B0604020202020204" pitchFamily="34" charset="0"/>
              <a:buChar char="•"/>
            </a:pPr>
            <a:r>
              <a:rPr lang="ru-RU" sz="1600" dirty="0">
                <a:solidFill>
                  <a:schemeClr val="dk1"/>
                </a:solidFill>
                <a:latin typeface="Nunito"/>
                <a:ea typeface="Nunito"/>
                <a:cs typeface="Nunito"/>
                <a:sym typeface="Nunito"/>
              </a:rPr>
              <a:t>Дополнительно применяется </a:t>
            </a:r>
            <a:r>
              <a:rPr lang="ru-RU" sz="1600" b="1" dirty="0">
                <a:solidFill>
                  <a:schemeClr val="dk1"/>
                </a:solidFill>
                <a:latin typeface="Nunito"/>
                <a:ea typeface="Nunito"/>
                <a:cs typeface="Nunito"/>
                <a:sym typeface="Nunito"/>
              </a:rPr>
              <a:t>отсечение выбросов по перцентилям </a:t>
            </a:r>
            <a:r>
              <a:rPr lang="ru-RU" sz="1600" dirty="0">
                <a:solidFill>
                  <a:schemeClr val="dk1"/>
                </a:solidFill>
                <a:latin typeface="Nunito"/>
                <a:ea typeface="Nunito"/>
                <a:cs typeface="Nunito"/>
                <a:sym typeface="Nunito"/>
              </a:rPr>
              <a:t>(например, 1–99) до нормализации, чтобы редкие экстремально яркие пиксели не смещали всю шкалу</a:t>
            </a:r>
            <a:endParaRPr sz="1600"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38</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spTree>
    <p:extLst>
      <p:ext uri="{BB962C8B-B14F-4D97-AF65-F5344CB8AC3E}">
        <p14:creationId xmlns:p14="http://schemas.microsoft.com/office/powerpoint/2010/main" val="36732697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13696"/>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Особенности подготовки </a:t>
            </a:r>
            <a:r>
              <a:rPr lang="en-GB" b="1" dirty="0">
                <a:latin typeface="Nunito"/>
                <a:ea typeface="Nunito"/>
                <a:cs typeface="Nunito"/>
                <a:sym typeface="Nunito"/>
              </a:rPr>
              <a:t>SAR </a:t>
            </a:r>
            <a:r>
              <a:rPr lang="ru-RU" b="1" dirty="0">
                <a:latin typeface="Nunito"/>
                <a:ea typeface="Nunito"/>
                <a:cs typeface="Nunito"/>
                <a:sym typeface="Nunito"/>
              </a:rPr>
              <a:t>изображений</a:t>
            </a:r>
            <a:endParaRPr b="1" dirty="0">
              <a:latin typeface="Nunito"/>
              <a:ea typeface="Nunito"/>
              <a:cs typeface="Nunito"/>
              <a:sym typeface="Nunito"/>
            </a:endParaRPr>
          </a:p>
        </p:txBody>
      </p:sp>
      <p:sp>
        <p:nvSpPr>
          <p:cNvPr id="86" name="Google Shape;86;p16"/>
          <p:cNvSpPr txBox="1">
            <a:spLocks noGrp="1"/>
          </p:cNvSpPr>
          <p:nvPr>
            <p:ph type="body" idx="1"/>
          </p:nvPr>
        </p:nvSpPr>
        <p:spPr>
          <a:xfrm>
            <a:off x="311700" y="686396"/>
            <a:ext cx="8520600" cy="3882454"/>
          </a:xfrm>
          <a:prstGeom prst="rect">
            <a:avLst/>
          </a:prstGeom>
        </p:spPr>
        <p:txBody>
          <a:bodyPr spcFirstLastPara="1" wrap="square" lIns="91425" tIns="91425" rIns="91425" bIns="91425" anchor="t" anchorCtr="0">
            <a:normAutofit/>
          </a:bodyPr>
          <a:lstStyle/>
          <a:p>
            <a:pPr marL="107950" lvl="0" indent="0">
              <a:buClr>
                <a:schemeClr val="dk1"/>
              </a:buClr>
              <a:buSzPts val="1900"/>
              <a:buNone/>
            </a:pPr>
            <a:r>
              <a:rPr lang="ru-RU" b="1" dirty="0" err="1">
                <a:solidFill>
                  <a:schemeClr val="dk1"/>
                </a:solidFill>
                <a:latin typeface="Nunito"/>
                <a:ea typeface="Nunito"/>
                <a:cs typeface="Nunito"/>
                <a:sym typeface="Nunito"/>
              </a:rPr>
              <a:t>Спекл</a:t>
            </a:r>
            <a:r>
              <a:rPr lang="ru-RU" b="1" dirty="0">
                <a:solidFill>
                  <a:schemeClr val="dk1"/>
                </a:solidFill>
                <a:latin typeface="Nunito"/>
                <a:ea typeface="Nunito"/>
                <a:cs typeface="Nunito"/>
                <a:sym typeface="Nunito"/>
              </a:rPr>
              <a:t>-шум и его фильтрация наглядно </a:t>
            </a:r>
          </a:p>
          <a:p>
            <a:pPr marL="107950" lvl="0" indent="0">
              <a:buClr>
                <a:schemeClr val="dk1"/>
              </a:buClr>
              <a:buSzPts val="1900"/>
              <a:buNone/>
            </a:pPr>
            <a:r>
              <a:rPr lang="ru-RU" sz="1600" dirty="0">
                <a:solidFill>
                  <a:schemeClr val="dk1"/>
                </a:solidFill>
                <a:latin typeface="Nunito"/>
                <a:ea typeface="Nunito"/>
                <a:cs typeface="Nunito"/>
                <a:sym typeface="Nunito"/>
              </a:rPr>
              <a:t>Фильтры Ли и Фроста адаптивно сглаживают шум в однородных областях (море), но стараются сохранять резкие границы (контуры зданий и техники, берег)</a:t>
            </a: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39</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pic>
        <p:nvPicPr>
          <p:cNvPr id="3" name="Рисунок 2">
            <a:extLst>
              <a:ext uri="{FF2B5EF4-FFF2-40B4-BE49-F238E27FC236}">
                <a16:creationId xmlns:a16="http://schemas.microsoft.com/office/drawing/2014/main" id="{A4407B75-E1D9-4864-AF0F-5F3166DF7FA3}"/>
              </a:ext>
            </a:extLst>
          </p:cNvPr>
          <p:cNvPicPr>
            <a:picLocks noChangeAspect="1"/>
          </p:cNvPicPr>
          <p:nvPr/>
        </p:nvPicPr>
        <p:blipFill rotWithShape="1">
          <a:blip r:embed="rId5"/>
          <a:srcRect t="5739"/>
          <a:stretch/>
        </p:blipFill>
        <p:spPr>
          <a:xfrm>
            <a:off x="1586070" y="1750752"/>
            <a:ext cx="6110968" cy="2848534"/>
          </a:xfrm>
          <a:prstGeom prst="rect">
            <a:avLst/>
          </a:prstGeom>
        </p:spPr>
      </p:pic>
    </p:spTree>
    <p:extLst>
      <p:ext uri="{BB962C8B-B14F-4D97-AF65-F5344CB8AC3E}">
        <p14:creationId xmlns:p14="http://schemas.microsoft.com/office/powerpoint/2010/main" val="9658539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13696"/>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Особенности подготовки </a:t>
            </a:r>
            <a:r>
              <a:rPr lang="en-GB" b="1" dirty="0">
                <a:latin typeface="Nunito"/>
                <a:ea typeface="Nunito"/>
                <a:cs typeface="Nunito"/>
                <a:sym typeface="Nunito"/>
              </a:rPr>
              <a:t>SAR </a:t>
            </a:r>
            <a:r>
              <a:rPr lang="ru-RU" b="1" dirty="0">
                <a:latin typeface="Nunito"/>
                <a:ea typeface="Nunito"/>
                <a:cs typeface="Nunito"/>
                <a:sym typeface="Nunito"/>
              </a:rPr>
              <a:t>изображений</a:t>
            </a:r>
            <a:endParaRPr b="1" dirty="0">
              <a:latin typeface="Nunito"/>
              <a:ea typeface="Nunito"/>
              <a:cs typeface="Nunito"/>
              <a:sym typeface="Nunito"/>
            </a:endParaRPr>
          </a:p>
        </p:txBody>
      </p:sp>
      <p:sp>
        <p:nvSpPr>
          <p:cNvPr id="86" name="Google Shape;86;p16"/>
          <p:cNvSpPr txBox="1">
            <a:spLocks noGrp="1"/>
          </p:cNvSpPr>
          <p:nvPr>
            <p:ph type="body" idx="1"/>
          </p:nvPr>
        </p:nvSpPr>
        <p:spPr>
          <a:xfrm>
            <a:off x="99189" y="601334"/>
            <a:ext cx="8945622" cy="4017161"/>
          </a:xfrm>
          <a:prstGeom prst="rect">
            <a:avLst/>
          </a:prstGeom>
        </p:spPr>
        <p:txBody>
          <a:bodyPr spcFirstLastPara="1" wrap="square" lIns="91425" tIns="91425" rIns="91425" bIns="91425" anchor="t" anchorCtr="0">
            <a:noAutofit/>
          </a:bodyPr>
          <a:lstStyle/>
          <a:p>
            <a:pPr marL="107950" lvl="0" indent="0">
              <a:spcAft>
                <a:spcPts val="1200"/>
              </a:spcAft>
              <a:buClr>
                <a:schemeClr val="dk1"/>
              </a:buClr>
              <a:buSzPts val="1900"/>
              <a:buNone/>
            </a:pPr>
            <a:r>
              <a:rPr lang="ru-RU" b="1" dirty="0">
                <a:solidFill>
                  <a:schemeClr val="dk1"/>
                </a:solidFill>
                <a:latin typeface="Nunito"/>
                <a:ea typeface="Nunito"/>
                <a:cs typeface="Nunito"/>
                <a:sym typeface="Nunito"/>
              </a:rPr>
              <a:t>Аугментация</a:t>
            </a:r>
            <a:r>
              <a:rPr lang="ru-RU" dirty="0">
                <a:solidFill>
                  <a:schemeClr val="dk1"/>
                </a:solidFill>
                <a:latin typeface="Nunito"/>
                <a:ea typeface="Nunito"/>
                <a:cs typeface="Nunito"/>
                <a:sym typeface="Nunito"/>
              </a:rPr>
              <a:t> — это техника искусственного расширения обучающего набора данных путём создания модифицированных версий существующих примеров.</a:t>
            </a:r>
          </a:p>
          <a:p>
            <a:pPr marL="107950" lvl="0" indent="0" algn="l" rtl="0">
              <a:spcBef>
                <a:spcPts val="0"/>
              </a:spcBef>
              <a:spcAft>
                <a:spcPts val="0"/>
              </a:spcAft>
              <a:buClr>
                <a:schemeClr val="dk1"/>
              </a:buClr>
              <a:buSzPts val="1900"/>
              <a:buNone/>
            </a:pPr>
            <a:r>
              <a:rPr lang="ru-RU" sz="1600" dirty="0">
                <a:solidFill>
                  <a:schemeClr val="dk1"/>
                </a:solidFill>
                <a:latin typeface="Nunito"/>
                <a:ea typeface="Nunito"/>
                <a:cs typeface="Nunito"/>
                <a:sym typeface="Nunito"/>
              </a:rPr>
              <a:t>Какие аугментации существуют для изображений:</a:t>
            </a:r>
          </a:p>
          <a:p>
            <a:pPr marL="393700" indent="-285750">
              <a:buClr>
                <a:schemeClr val="dk1"/>
              </a:buClr>
              <a:buSzPts val="1900"/>
              <a:buFont typeface="Arial" panose="020B0604020202020204" pitchFamily="34" charset="0"/>
              <a:buChar char="•"/>
            </a:pPr>
            <a:r>
              <a:rPr lang="ru-RU" sz="1600" b="1" dirty="0">
                <a:solidFill>
                  <a:schemeClr val="dk1"/>
                </a:solidFill>
                <a:latin typeface="Nunito"/>
                <a:ea typeface="Nunito"/>
                <a:cs typeface="Nunito"/>
                <a:sym typeface="Nunito"/>
              </a:rPr>
              <a:t>Геометрические трансформации</a:t>
            </a:r>
            <a:r>
              <a:rPr lang="ru-RU" sz="1600" dirty="0">
                <a:solidFill>
                  <a:schemeClr val="dk1"/>
                </a:solidFill>
                <a:latin typeface="Nunito"/>
                <a:ea typeface="Nunito"/>
                <a:cs typeface="Nunito"/>
                <a:sym typeface="Nunito"/>
              </a:rPr>
              <a:t>: повороты, отражения, сдвиги, масштабирование. </a:t>
            </a:r>
          </a:p>
          <a:p>
            <a:pPr marL="393700" indent="-285750">
              <a:buClr>
                <a:schemeClr val="dk1"/>
              </a:buClr>
              <a:buSzPts val="1900"/>
              <a:buFont typeface="Arial" panose="020B0604020202020204" pitchFamily="34" charset="0"/>
              <a:buChar char="•"/>
            </a:pPr>
            <a:r>
              <a:rPr lang="ru-RU" sz="1600" b="1" dirty="0">
                <a:solidFill>
                  <a:schemeClr val="dk1"/>
                </a:solidFill>
                <a:latin typeface="Nunito"/>
                <a:ea typeface="Nunito"/>
                <a:cs typeface="Nunito"/>
                <a:sym typeface="Nunito"/>
              </a:rPr>
              <a:t>Цветовые модификации</a:t>
            </a:r>
            <a:r>
              <a:rPr lang="ru-RU" sz="1600" dirty="0">
                <a:solidFill>
                  <a:schemeClr val="dk1"/>
                </a:solidFill>
                <a:latin typeface="Nunito"/>
                <a:ea typeface="Nunito"/>
                <a:cs typeface="Nunito"/>
                <a:sym typeface="Nunito"/>
              </a:rPr>
              <a:t>: изменение яркости, контрастности, насыщенности, перевод в чёрно-белое. </a:t>
            </a:r>
          </a:p>
          <a:p>
            <a:pPr marL="393700" indent="-285750">
              <a:buClr>
                <a:schemeClr val="dk1"/>
              </a:buClr>
              <a:buSzPts val="1900"/>
              <a:buFont typeface="Arial" panose="020B0604020202020204" pitchFamily="34" charset="0"/>
              <a:buChar char="•"/>
            </a:pPr>
            <a:r>
              <a:rPr lang="ru-RU" sz="1600" b="1" dirty="0">
                <a:solidFill>
                  <a:schemeClr val="dk1"/>
                </a:solidFill>
                <a:latin typeface="Nunito"/>
                <a:ea typeface="Nunito"/>
                <a:cs typeface="Nunito"/>
                <a:sym typeface="Nunito"/>
              </a:rPr>
              <a:t>Добавление шума</a:t>
            </a:r>
            <a:r>
              <a:rPr lang="ru-RU" sz="1600" dirty="0">
                <a:solidFill>
                  <a:schemeClr val="dk1"/>
                </a:solidFill>
                <a:latin typeface="Nunito"/>
                <a:ea typeface="Nunito"/>
                <a:cs typeface="Nunito"/>
                <a:sym typeface="Nunito"/>
              </a:rPr>
              <a:t>: гауссовский шум, «соль-перец», размытие. </a:t>
            </a:r>
          </a:p>
          <a:p>
            <a:pPr marL="393700" indent="-285750">
              <a:buClr>
                <a:schemeClr val="dk1"/>
              </a:buClr>
              <a:buSzPts val="1900"/>
              <a:buFont typeface="Arial" panose="020B0604020202020204" pitchFamily="34" charset="0"/>
              <a:buChar char="•"/>
            </a:pPr>
            <a:r>
              <a:rPr lang="ru-RU" sz="1600" b="1" dirty="0">
                <a:solidFill>
                  <a:schemeClr val="dk1"/>
                </a:solidFill>
                <a:latin typeface="Nunito"/>
                <a:ea typeface="Nunito"/>
                <a:cs typeface="Nunito"/>
                <a:sym typeface="Nunito"/>
              </a:rPr>
              <a:t>Вырезание фрагментов </a:t>
            </a:r>
            <a:r>
              <a:rPr lang="ru-RU" sz="1600" dirty="0">
                <a:solidFill>
                  <a:schemeClr val="dk1"/>
                </a:solidFill>
                <a:latin typeface="Nunito"/>
                <a:ea typeface="Nunito"/>
                <a:cs typeface="Nunito"/>
                <a:sym typeface="Nunito"/>
              </a:rPr>
              <a:t>(</a:t>
            </a:r>
            <a:r>
              <a:rPr lang="ru-RU" sz="1600" dirty="0" err="1">
                <a:solidFill>
                  <a:schemeClr val="dk1"/>
                </a:solidFill>
                <a:latin typeface="Nunito"/>
                <a:ea typeface="Nunito"/>
                <a:cs typeface="Nunito"/>
                <a:sym typeface="Nunito"/>
              </a:rPr>
              <a:t>CutOut</a:t>
            </a:r>
            <a:r>
              <a:rPr lang="ru-RU" sz="1600" dirty="0">
                <a:solidFill>
                  <a:schemeClr val="dk1"/>
                </a:solidFill>
                <a:latin typeface="Nunito"/>
                <a:ea typeface="Nunito"/>
                <a:cs typeface="Nunito"/>
                <a:sym typeface="Nunito"/>
              </a:rPr>
              <a:t>): случайное маскирование частей изображения.</a:t>
            </a:r>
          </a:p>
          <a:p>
            <a:pPr marL="393700" indent="-285750">
              <a:buClr>
                <a:schemeClr val="dk1"/>
              </a:buClr>
              <a:buSzPts val="1900"/>
              <a:buFont typeface="Arial" panose="020B0604020202020204" pitchFamily="34" charset="0"/>
              <a:buChar char="•"/>
            </a:pPr>
            <a:r>
              <a:rPr lang="ru-RU" sz="1600" b="1" dirty="0">
                <a:solidFill>
                  <a:schemeClr val="dk1"/>
                </a:solidFill>
                <a:latin typeface="Nunito"/>
                <a:ea typeface="Nunito"/>
                <a:cs typeface="Nunito"/>
                <a:sym typeface="Nunito"/>
              </a:rPr>
              <a:t>Смешивание изображений </a:t>
            </a:r>
            <a:r>
              <a:rPr lang="ru-RU" sz="1600" dirty="0">
                <a:solidFill>
                  <a:schemeClr val="dk1"/>
                </a:solidFill>
                <a:latin typeface="Nunito"/>
                <a:ea typeface="Nunito"/>
                <a:cs typeface="Nunito"/>
                <a:sym typeface="Nunito"/>
              </a:rPr>
              <a:t>(</a:t>
            </a:r>
            <a:r>
              <a:rPr lang="ru-RU" sz="1600" dirty="0" err="1">
                <a:solidFill>
                  <a:schemeClr val="dk1"/>
                </a:solidFill>
                <a:latin typeface="Nunito"/>
                <a:ea typeface="Nunito"/>
                <a:cs typeface="Nunito"/>
                <a:sym typeface="Nunito"/>
              </a:rPr>
              <a:t>MixUp</a:t>
            </a:r>
            <a:r>
              <a:rPr lang="ru-RU" sz="1600" dirty="0">
                <a:solidFill>
                  <a:schemeClr val="dk1"/>
                </a:solidFill>
                <a:latin typeface="Nunito"/>
                <a:ea typeface="Nunito"/>
                <a:cs typeface="Nunito"/>
                <a:sym typeface="Nunito"/>
              </a:rPr>
              <a:t>, </a:t>
            </a:r>
            <a:r>
              <a:rPr lang="ru-RU" sz="1600" dirty="0" err="1">
                <a:solidFill>
                  <a:schemeClr val="dk1"/>
                </a:solidFill>
                <a:latin typeface="Nunito"/>
                <a:ea typeface="Nunito"/>
                <a:cs typeface="Nunito"/>
                <a:sym typeface="Nunito"/>
              </a:rPr>
              <a:t>CutMix</a:t>
            </a:r>
            <a:r>
              <a:rPr lang="ru-RU" sz="1600" dirty="0">
                <a:solidFill>
                  <a:schemeClr val="dk1"/>
                </a:solidFill>
                <a:latin typeface="Nunito"/>
                <a:ea typeface="Nunito"/>
                <a:cs typeface="Nunito"/>
                <a:sym typeface="Nunito"/>
              </a:rPr>
              <a:t>): комбинирование двух изображений для создания нового примера.</a:t>
            </a:r>
            <a:endParaRPr sz="1600"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40</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spTree>
    <p:extLst>
      <p:ext uri="{BB962C8B-B14F-4D97-AF65-F5344CB8AC3E}">
        <p14:creationId xmlns:p14="http://schemas.microsoft.com/office/powerpoint/2010/main" val="1903731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13696"/>
            <a:ext cx="8520600" cy="572700"/>
          </a:xfrm>
          <a:prstGeom prst="rect">
            <a:avLst/>
          </a:prstGeom>
        </p:spPr>
        <p:txBody>
          <a:bodyPr spcFirstLastPara="1" wrap="square" lIns="91425" tIns="91425" rIns="91425" bIns="91425" anchor="t" anchorCtr="0">
            <a:normAutofit fontScale="90000"/>
          </a:bodyPr>
          <a:lstStyle/>
          <a:p>
            <a:pPr lvl="0"/>
            <a:r>
              <a:rPr lang="ru-RU" b="1" dirty="0">
                <a:latin typeface="Nunito"/>
                <a:ea typeface="Nunito"/>
                <a:cs typeface="Nunito"/>
                <a:sym typeface="Nunito"/>
              </a:rPr>
              <a:t>Особенности подготовки </a:t>
            </a:r>
            <a:r>
              <a:rPr lang="en-GB" b="1" dirty="0">
                <a:latin typeface="Nunito"/>
                <a:ea typeface="Nunito"/>
                <a:cs typeface="Nunito"/>
                <a:sym typeface="Nunito"/>
              </a:rPr>
              <a:t>SAR </a:t>
            </a:r>
            <a:r>
              <a:rPr lang="ru-RU" b="1" dirty="0">
                <a:latin typeface="Nunito"/>
                <a:ea typeface="Nunito"/>
                <a:cs typeface="Nunito"/>
                <a:sym typeface="Nunito"/>
              </a:rPr>
              <a:t>изображений</a:t>
            </a:r>
            <a:endParaRPr b="1" dirty="0">
              <a:latin typeface="Nunito"/>
              <a:ea typeface="Nunito"/>
              <a:cs typeface="Nunito"/>
              <a:sym typeface="Nunito"/>
            </a:endParaRPr>
          </a:p>
        </p:txBody>
      </p:sp>
      <p:sp>
        <p:nvSpPr>
          <p:cNvPr id="86" name="Google Shape;86;p16"/>
          <p:cNvSpPr txBox="1">
            <a:spLocks noGrp="1"/>
          </p:cNvSpPr>
          <p:nvPr>
            <p:ph type="body" idx="1"/>
          </p:nvPr>
        </p:nvSpPr>
        <p:spPr>
          <a:xfrm>
            <a:off x="311700" y="686396"/>
            <a:ext cx="8520600" cy="3882454"/>
          </a:xfrm>
          <a:prstGeom prst="rect">
            <a:avLst/>
          </a:prstGeom>
        </p:spPr>
        <p:txBody>
          <a:bodyPr spcFirstLastPara="1" wrap="square" lIns="91425" tIns="91425" rIns="91425" bIns="91425" anchor="t" anchorCtr="0">
            <a:normAutofit/>
          </a:bodyPr>
          <a:lstStyle/>
          <a:p>
            <a:pPr marL="107950" lvl="0" indent="0">
              <a:buClr>
                <a:schemeClr val="dk1"/>
              </a:buClr>
              <a:buSzPts val="1900"/>
              <a:buNone/>
            </a:pPr>
            <a:r>
              <a:rPr lang="ru-RU" dirty="0">
                <a:solidFill>
                  <a:schemeClr val="dk1"/>
                </a:solidFill>
                <a:latin typeface="Nunito"/>
                <a:ea typeface="Nunito"/>
                <a:cs typeface="Nunito"/>
                <a:sym typeface="Nunito"/>
              </a:rPr>
              <a:t>Какие аугментации </a:t>
            </a:r>
            <a:r>
              <a:rPr lang="ru-RU" b="1" dirty="0">
                <a:solidFill>
                  <a:schemeClr val="dk1"/>
                </a:solidFill>
                <a:latin typeface="Nunito"/>
                <a:ea typeface="Nunito"/>
                <a:cs typeface="Nunito"/>
                <a:sym typeface="Nunito"/>
              </a:rPr>
              <a:t>стоит</a:t>
            </a:r>
            <a:r>
              <a:rPr lang="ru-RU" dirty="0">
                <a:solidFill>
                  <a:schemeClr val="dk1"/>
                </a:solidFill>
                <a:latin typeface="Nunito"/>
                <a:ea typeface="Nunito"/>
                <a:cs typeface="Nunito"/>
                <a:sym typeface="Nunito"/>
              </a:rPr>
              <a:t> использовать для </a:t>
            </a:r>
            <a:r>
              <a:rPr lang="en-US" dirty="0">
                <a:solidFill>
                  <a:schemeClr val="dk1"/>
                </a:solidFill>
                <a:latin typeface="Nunito"/>
                <a:ea typeface="Nunito"/>
                <a:cs typeface="Nunito"/>
                <a:sym typeface="Nunito"/>
              </a:rPr>
              <a:t>SAR </a:t>
            </a:r>
            <a:r>
              <a:rPr lang="ru-RU" dirty="0">
                <a:solidFill>
                  <a:schemeClr val="dk1"/>
                </a:solidFill>
                <a:latin typeface="Nunito"/>
                <a:ea typeface="Nunito"/>
                <a:cs typeface="Nunito"/>
                <a:sym typeface="Nunito"/>
              </a:rPr>
              <a:t>изображений:</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Геометрические: </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Добавление шума;</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Изменение яркости/контраста.</a:t>
            </a:r>
          </a:p>
          <a:p>
            <a:pPr marL="107950" indent="0">
              <a:buClr>
                <a:schemeClr val="dk1"/>
              </a:buClr>
              <a:buSzPts val="1900"/>
              <a:buNone/>
            </a:pPr>
            <a:endParaRPr lang="ru-RU" dirty="0">
              <a:solidFill>
                <a:schemeClr val="dk1"/>
              </a:solidFill>
              <a:latin typeface="Nunito"/>
              <a:ea typeface="Nunito"/>
              <a:cs typeface="Nunito"/>
              <a:sym typeface="Nunito"/>
            </a:endParaRPr>
          </a:p>
          <a:p>
            <a:pPr marL="107950" indent="0">
              <a:buClr>
                <a:schemeClr val="dk1"/>
              </a:buClr>
              <a:buSzPts val="1900"/>
              <a:buNone/>
            </a:pPr>
            <a:r>
              <a:rPr lang="ru-RU" dirty="0">
                <a:solidFill>
                  <a:schemeClr val="dk1"/>
                </a:solidFill>
                <a:latin typeface="Nunito"/>
                <a:ea typeface="Nunito"/>
                <a:cs typeface="Nunito"/>
                <a:sym typeface="Nunito"/>
              </a:rPr>
              <a:t>Какие аугментации нужно использовать с </a:t>
            </a:r>
            <a:r>
              <a:rPr lang="ru-RU" b="1" dirty="0">
                <a:solidFill>
                  <a:schemeClr val="dk1"/>
                </a:solidFill>
                <a:latin typeface="Nunito"/>
                <a:ea typeface="Nunito"/>
                <a:cs typeface="Nunito"/>
                <a:sym typeface="Nunito"/>
              </a:rPr>
              <a:t>осторожностью</a:t>
            </a:r>
            <a:r>
              <a:rPr lang="ru-RU" dirty="0">
                <a:solidFill>
                  <a:schemeClr val="dk1"/>
                </a:solidFill>
                <a:latin typeface="Nunito"/>
                <a:ea typeface="Nunito"/>
                <a:cs typeface="Nunito"/>
                <a:sym typeface="Nunito"/>
              </a:rPr>
              <a:t>:</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Смешивание изображений;</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Вырезание фрагментов;</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Изменение насыщенности изображения;</a:t>
            </a:r>
          </a:p>
          <a:p>
            <a:pPr marL="393700" indent="-285750">
              <a:buClr>
                <a:schemeClr val="dk1"/>
              </a:buClr>
              <a:buSzPts val="1900"/>
            </a:pPr>
            <a:endParaRPr lang="ru-RU" dirty="0">
              <a:solidFill>
                <a:schemeClr val="dk1"/>
              </a:solidFill>
              <a:latin typeface="Nunito"/>
              <a:ea typeface="Nunito"/>
              <a:cs typeface="Nunito"/>
              <a:sym typeface="Nunito"/>
            </a:endParaRPr>
          </a:p>
          <a:p>
            <a:pPr marL="107950" indent="0">
              <a:buClr>
                <a:schemeClr val="dk1"/>
              </a:buClr>
              <a:buSzPts val="1900"/>
              <a:buNone/>
            </a:pPr>
            <a:endParaRPr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41</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spTree>
    <p:extLst>
      <p:ext uri="{BB962C8B-B14F-4D97-AF65-F5344CB8AC3E}">
        <p14:creationId xmlns:p14="http://schemas.microsoft.com/office/powerpoint/2010/main" val="31339851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p:nvPr/>
        </p:nvSpPr>
        <p:spPr>
          <a:xfrm>
            <a:off x="0" y="452450"/>
            <a:ext cx="9144000" cy="46911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 name="Google Shape;65;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42</a:t>
            </a:fld>
            <a:endParaRPr>
              <a:solidFill>
                <a:schemeClr val="lt1"/>
              </a:solidFill>
            </a:endParaRPr>
          </a:p>
        </p:txBody>
      </p:sp>
      <p:sp>
        <p:nvSpPr>
          <p:cNvPr id="66" name="Google Shape;66;p14"/>
          <p:cNvSpPr txBox="1">
            <a:spLocks noGrp="1"/>
          </p:cNvSpPr>
          <p:nvPr>
            <p:ph type="ctrTitle"/>
          </p:nvPr>
        </p:nvSpPr>
        <p:spPr>
          <a:xfrm>
            <a:off x="0" y="1622003"/>
            <a:ext cx="9144000" cy="1256856"/>
          </a:xfrm>
          <a:prstGeom prst="rect">
            <a:avLst/>
          </a:prstGeom>
        </p:spPr>
        <p:txBody>
          <a:bodyPr spcFirstLastPara="1" wrap="square" lIns="91425" tIns="91425" rIns="91425" bIns="91425" anchor="b" anchorCtr="0">
            <a:normAutofit/>
          </a:bodyPr>
          <a:lstStyle/>
          <a:p>
            <a:pPr lvl="0"/>
            <a:r>
              <a:rPr lang="ru-RU" b="1" dirty="0" err="1">
                <a:solidFill>
                  <a:schemeClr val="lt1"/>
                </a:solidFill>
                <a:latin typeface="Nunito"/>
                <a:ea typeface="Nunito"/>
                <a:cs typeface="Nunito"/>
                <a:sym typeface="Nunito"/>
              </a:rPr>
              <a:t>Датасет</a:t>
            </a:r>
            <a:r>
              <a:rPr lang="ru-RU" b="1" dirty="0">
                <a:solidFill>
                  <a:schemeClr val="lt1"/>
                </a:solidFill>
                <a:latin typeface="Nunito"/>
                <a:ea typeface="Nunito"/>
                <a:cs typeface="Nunito"/>
                <a:sym typeface="Nunito"/>
              </a:rPr>
              <a:t> </a:t>
            </a:r>
            <a:r>
              <a:rPr lang="en-US" b="1" dirty="0" err="1">
                <a:solidFill>
                  <a:schemeClr val="lt1"/>
                </a:solidFill>
                <a:latin typeface="Nunito"/>
                <a:ea typeface="Nunito"/>
                <a:cs typeface="Nunito"/>
                <a:sym typeface="Nunito"/>
              </a:rPr>
              <a:t>SARscope</a:t>
            </a:r>
            <a:endParaRPr lang="ru-RU" b="1" dirty="0">
              <a:solidFill>
                <a:schemeClr val="lt1"/>
              </a:solidFill>
              <a:latin typeface="Nunito"/>
              <a:ea typeface="Nunito"/>
              <a:cs typeface="Nunito"/>
              <a:sym typeface="Nunito"/>
            </a:endParaRPr>
          </a:p>
        </p:txBody>
      </p:sp>
      <p:pic>
        <p:nvPicPr>
          <p:cNvPr id="67" name="Google Shape;67;p14"/>
          <p:cNvPicPr preferRelativeResize="0"/>
          <p:nvPr/>
        </p:nvPicPr>
        <p:blipFill rotWithShape="1">
          <a:blip r:embed="rId3">
            <a:alphaModFix/>
          </a:blip>
          <a:srcRect l="30316" t="32807" r="29285" b="24140"/>
          <a:stretch/>
        </p:blipFill>
        <p:spPr>
          <a:xfrm>
            <a:off x="2865625" y="3973562"/>
            <a:ext cx="1015825" cy="1082575"/>
          </a:xfrm>
          <a:prstGeom prst="rect">
            <a:avLst/>
          </a:prstGeom>
          <a:noFill/>
          <a:ln>
            <a:noFill/>
          </a:ln>
        </p:spPr>
      </p:pic>
      <p:pic>
        <p:nvPicPr>
          <p:cNvPr id="68" name="Google Shape;68;p14"/>
          <p:cNvPicPr preferRelativeResize="0"/>
          <p:nvPr/>
        </p:nvPicPr>
        <p:blipFill rotWithShape="1">
          <a:blip r:embed="rId4">
            <a:alphaModFix/>
          </a:blip>
          <a:srcRect l="3410" t="59058" r="2904" b="6827"/>
          <a:stretch/>
        </p:blipFill>
        <p:spPr>
          <a:xfrm>
            <a:off x="205475" y="4048412"/>
            <a:ext cx="2561601" cy="932900"/>
          </a:xfrm>
          <a:prstGeom prst="rect">
            <a:avLst/>
          </a:prstGeom>
          <a:noFill/>
          <a:ln>
            <a:noFill/>
          </a:ln>
        </p:spPr>
      </p:pic>
    </p:spTree>
    <p:extLst>
      <p:ext uri="{BB962C8B-B14F-4D97-AF65-F5344CB8AC3E}">
        <p14:creationId xmlns:p14="http://schemas.microsoft.com/office/powerpoint/2010/main" val="35392176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13696"/>
            <a:ext cx="8520600" cy="572700"/>
          </a:xfrm>
          <a:prstGeom prst="rect">
            <a:avLst/>
          </a:prstGeom>
        </p:spPr>
        <p:txBody>
          <a:bodyPr spcFirstLastPara="1" wrap="square" lIns="91425" tIns="91425" rIns="91425" bIns="91425" anchor="t" anchorCtr="0">
            <a:normAutofit fontScale="90000"/>
          </a:bodyPr>
          <a:lstStyle/>
          <a:p>
            <a:pPr lvl="0"/>
            <a:r>
              <a:rPr lang="ru-RU" b="1" dirty="0" err="1">
                <a:latin typeface="Nunito"/>
                <a:ea typeface="Nunito"/>
                <a:cs typeface="Nunito"/>
                <a:sym typeface="Nunito"/>
              </a:rPr>
              <a:t>Датасет</a:t>
            </a:r>
            <a:r>
              <a:rPr lang="ru-RU" b="1" dirty="0">
                <a:latin typeface="Nunito"/>
                <a:ea typeface="Nunito"/>
                <a:cs typeface="Nunito"/>
                <a:sym typeface="Nunito"/>
              </a:rPr>
              <a:t> </a:t>
            </a:r>
            <a:r>
              <a:rPr lang="en-US" b="1" dirty="0" err="1">
                <a:latin typeface="Nunito"/>
                <a:ea typeface="Nunito"/>
                <a:cs typeface="Nunito"/>
                <a:sym typeface="Nunito"/>
              </a:rPr>
              <a:t>SARscope</a:t>
            </a:r>
            <a:endParaRPr b="1" dirty="0">
              <a:latin typeface="Nunito"/>
              <a:ea typeface="Nunito"/>
              <a:cs typeface="Nunito"/>
              <a:sym typeface="Nunito"/>
            </a:endParaRPr>
          </a:p>
        </p:txBody>
      </p:sp>
      <p:sp>
        <p:nvSpPr>
          <p:cNvPr id="86" name="Google Shape;86;p16"/>
          <p:cNvSpPr txBox="1">
            <a:spLocks noGrp="1"/>
          </p:cNvSpPr>
          <p:nvPr>
            <p:ph type="body" idx="1"/>
          </p:nvPr>
        </p:nvSpPr>
        <p:spPr>
          <a:xfrm>
            <a:off x="311700" y="686396"/>
            <a:ext cx="8520600" cy="3882454"/>
          </a:xfrm>
          <a:prstGeom prst="rect">
            <a:avLst/>
          </a:prstGeom>
        </p:spPr>
        <p:txBody>
          <a:bodyPr spcFirstLastPara="1" wrap="square" lIns="91425" tIns="91425" rIns="91425" bIns="91425" anchor="t" anchorCtr="0">
            <a:normAutofit/>
          </a:bodyPr>
          <a:lstStyle/>
          <a:p>
            <a:pPr marL="107950" indent="0">
              <a:spcAft>
                <a:spcPts val="600"/>
              </a:spcAft>
              <a:buClr>
                <a:schemeClr val="dk1"/>
              </a:buClr>
              <a:buSzPts val="1900"/>
              <a:buNone/>
            </a:pPr>
            <a:r>
              <a:rPr lang="ru-RU" b="1" dirty="0" err="1">
                <a:solidFill>
                  <a:schemeClr val="dk1"/>
                </a:solidFill>
                <a:latin typeface="Nunito"/>
                <a:ea typeface="Nunito"/>
                <a:cs typeface="Nunito"/>
                <a:sym typeface="Nunito"/>
              </a:rPr>
              <a:t>SARscope</a:t>
            </a:r>
            <a:r>
              <a:rPr lang="ru-RU" dirty="0">
                <a:solidFill>
                  <a:schemeClr val="dk1"/>
                </a:solidFill>
                <a:latin typeface="Nunito"/>
                <a:ea typeface="Nunito"/>
                <a:cs typeface="Nunito"/>
                <a:sym typeface="Nunito"/>
              </a:rPr>
              <a:t> — это размеченный набор данных, содержащий морские </a:t>
            </a:r>
            <a:r>
              <a:rPr lang="en-US" dirty="0">
                <a:solidFill>
                  <a:schemeClr val="dk1"/>
                </a:solidFill>
                <a:latin typeface="Nunito"/>
                <a:ea typeface="Nunito"/>
                <a:cs typeface="Nunito"/>
                <a:sym typeface="Nunito"/>
              </a:rPr>
              <a:t>SAR</a:t>
            </a:r>
            <a:r>
              <a:rPr lang="ru-RU" dirty="0">
                <a:solidFill>
                  <a:schemeClr val="dk1"/>
                </a:solidFill>
                <a:latin typeface="Nunito"/>
                <a:ea typeface="Nunito"/>
                <a:cs typeface="Nunito"/>
                <a:sym typeface="Nunito"/>
              </a:rPr>
              <a:t> изображения с кораблями и портовыми сооружениями. </a:t>
            </a:r>
            <a:endParaRPr lang="en-US" dirty="0">
              <a:solidFill>
                <a:schemeClr val="dk1"/>
              </a:solidFill>
              <a:latin typeface="Nunito"/>
              <a:ea typeface="Nunito"/>
              <a:cs typeface="Nunito"/>
              <a:sym typeface="Nunito"/>
            </a:endParaRPr>
          </a:p>
          <a:p>
            <a:pPr marL="107950" indent="0">
              <a:spcAft>
                <a:spcPts val="600"/>
              </a:spcAft>
              <a:buClr>
                <a:schemeClr val="dk1"/>
              </a:buClr>
              <a:buSzPts val="1900"/>
              <a:buNone/>
            </a:pPr>
            <a:r>
              <a:rPr lang="ru-RU" b="1" dirty="0">
                <a:solidFill>
                  <a:schemeClr val="dk1"/>
                </a:solidFill>
                <a:latin typeface="Nunito"/>
                <a:ea typeface="Nunito"/>
                <a:cs typeface="Nunito"/>
                <a:sym typeface="Nunito"/>
              </a:rPr>
              <a:t>Количество данных</a:t>
            </a:r>
            <a:r>
              <a:rPr lang="ru-RU" dirty="0">
                <a:solidFill>
                  <a:schemeClr val="dk1"/>
                </a:solidFill>
                <a:latin typeface="Nunito"/>
                <a:ea typeface="Nunito"/>
                <a:cs typeface="Nunito"/>
                <a:sym typeface="Nunito"/>
              </a:rPr>
              <a:t>: 6735 снимков SAR с высоким разрешением с 17708 кораблями, с поляризациями VV и VH.</a:t>
            </a:r>
          </a:p>
          <a:p>
            <a:pPr marL="107950" indent="0">
              <a:spcAft>
                <a:spcPts val="600"/>
              </a:spcAft>
              <a:buClr>
                <a:schemeClr val="dk1"/>
              </a:buClr>
              <a:buSzPts val="1900"/>
              <a:buNone/>
            </a:pPr>
            <a:r>
              <a:rPr lang="ru-RU" b="1" dirty="0">
                <a:solidFill>
                  <a:schemeClr val="dk1"/>
                </a:solidFill>
                <a:latin typeface="Nunito"/>
                <a:ea typeface="Nunito"/>
                <a:cs typeface="Nunito"/>
                <a:sym typeface="Nunito"/>
              </a:rPr>
              <a:t>Размер изображений</a:t>
            </a:r>
            <a:r>
              <a:rPr lang="ru-RU" dirty="0">
                <a:solidFill>
                  <a:schemeClr val="dk1"/>
                </a:solidFill>
                <a:latin typeface="Nunito"/>
                <a:ea typeface="Nunito"/>
                <a:cs typeface="Nunito"/>
                <a:sym typeface="Nunito"/>
              </a:rPr>
              <a:t>: </a:t>
            </a:r>
            <a:r>
              <a:rPr lang="en-US" dirty="0">
                <a:solidFill>
                  <a:schemeClr val="dk1"/>
                </a:solidFill>
                <a:latin typeface="Nunito"/>
                <a:ea typeface="Nunito"/>
                <a:cs typeface="Nunito"/>
                <a:sym typeface="Nunito"/>
              </a:rPr>
              <a:t>640x640</a:t>
            </a:r>
            <a:r>
              <a:rPr lang="ru-RU" dirty="0">
                <a:solidFill>
                  <a:schemeClr val="dk1"/>
                </a:solidFill>
                <a:latin typeface="Nunito"/>
                <a:ea typeface="Nunito"/>
                <a:cs typeface="Nunito"/>
                <a:sym typeface="Nunito"/>
              </a:rPr>
              <a:t>.</a:t>
            </a:r>
            <a:endParaRPr lang="en-US" dirty="0">
              <a:solidFill>
                <a:schemeClr val="dk1"/>
              </a:solidFill>
              <a:latin typeface="Nunito"/>
              <a:ea typeface="Nunito"/>
              <a:cs typeface="Nunito"/>
              <a:sym typeface="Nunito"/>
            </a:endParaRPr>
          </a:p>
          <a:p>
            <a:pPr marL="107950" indent="0">
              <a:spcAft>
                <a:spcPts val="600"/>
              </a:spcAft>
              <a:buClr>
                <a:schemeClr val="dk1"/>
              </a:buClr>
              <a:buSzPts val="1900"/>
              <a:buNone/>
            </a:pPr>
            <a:r>
              <a:rPr lang="ru-RU" b="1" dirty="0">
                <a:solidFill>
                  <a:schemeClr val="dk1"/>
                </a:solidFill>
                <a:latin typeface="Nunito"/>
                <a:ea typeface="Nunito"/>
                <a:cs typeface="Nunito"/>
                <a:sym typeface="Nunito"/>
              </a:rPr>
              <a:t>Формат</a:t>
            </a:r>
            <a:r>
              <a:rPr lang="en-US" b="1" dirty="0">
                <a:solidFill>
                  <a:schemeClr val="dk1"/>
                </a:solidFill>
                <a:latin typeface="Nunito"/>
                <a:ea typeface="Nunito"/>
                <a:cs typeface="Nunito"/>
                <a:sym typeface="Nunito"/>
              </a:rPr>
              <a:t> </a:t>
            </a:r>
            <a:r>
              <a:rPr lang="ru-RU" b="1" dirty="0">
                <a:solidFill>
                  <a:schemeClr val="dk1"/>
                </a:solidFill>
                <a:latin typeface="Nunito"/>
                <a:ea typeface="Nunito"/>
                <a:cs typeface="Nunito"/>
                <a:sym typeface="Nunito"/>
              </a:rPr>
              <a:t>разметки</a:t>
            </a:r>
            <a:r>
              <a:rPr lang="ru-RU" dirty="0">
                <a:solidFill>
                  <a:schemeClr val="dk1"/>
                </a:solidFill>
                <a:latin typeface="Nunito"/>
                <a:ea typeface="Nunito"/>
                <a:cs typeface="Nunito"/>
                <a:sym typeface="Nunito"/>
              </a:rPr>
              <a:t>: COCO-</a:t>
            </a:r>
            <a:r>
              <a:rPr lang="ru-RU" dirty="0" err="1">
                <a:solidFill>
                  <a:schemeClr val="dk1"/>
                </a:solidFill>
                <a:latin typeface="Nunito"/>
                <a:ea typeface="Nunito"/>
                <a:cs typeface="Nunito"/>
                <a:sym typeface="Nunito"/>
              </a:rPr>
              <a:t>MMDetection</a:t>
            </a:r>
            <a:r>
              <a:rPr lang="ru-RU" dirty="0">
                <a:solidFill>
                  <a:schemeClr val="dk1"/>
                </a:solidFill>
                <a:latin typeface="Nunito"/>
                <a:ea typeface="Nunito"/>
                <a:cs typeface="Nunito"/>
                <a:sym typeface="Nunito"/>
              </a:rPr>
              <a:t>.</a:t>
            </a:r>
          </a:p>
          <a:p>
            <a:pPr marL="107950" indent="0">
              <a:spcAft>
                <a:spcPts val="600"/>
              </a:spcAft>
              <a:buClr>
                <a:schemeClr val="dk1"/>
              </a:buClr>
              <a:buSzPts val="1900"/>
              <a:buNone/>
            </a:pPr>
            <a:r>
              <a:rPr lang="ru-RU" b="1" dirty="0">
                <a:solidFill>
                  <a:schemeClr val="dk1"/>
                </a:solidFill>
                <a:latin typeface="Nunito"/>
                <a:ea typeface="Nunito"/>
                <a:cs typeface="Nunito"/>
                <a:sym typeface="Nunito"/>
              </a:rPr>
              <a:t>Ожидаемые задачи</a:t>
            </a:r>
            <a:r>
              <a:rPr lang="ru-RU" dirty="0">
                <a:solidFill>
                  <a:schemeClr val="dk1"/>
                </a:solidFill>
                <a:latin typeface="Nunito"/>
                <a:ea typeface="Nunito"/>
                <a:cs typeface="Nunito"/>
                <a:sym typeface="Nunito"/>
              </a:rPr>
              <a:t>: обнаружение и сегментация.</a:t>
            </a:r>
          </a:p>
          <a:p>
            <a:pPr marL="107950" indent="0">
              <a:spcAft>
                <a:spcPts val="600"/>
              </a:spcAft>
              <a:buClr>
                <a:schemeClr val="dk1"/>
              </a:buClr>
              <a:buSzPts val="1900"/>
              <a:buNone/>
            </a:pPr>
            <a:r>
              <a:rPr lang="ru-RU" b="1" dirty="0">
                <a:solidFill>
                  <a:schemeClr val="dk1"/>
                </a:solidFill>
                <a:latin typeface="Nunito"/>
                <a:ea typeface="Nunito"/>
                <a:cs typeface="Nunito"/>
                <a:sym typeface="Nunito"/>
              </a:rPr>
              <a:t>Разбиение на выборки</a:t>
            </a:r>
            <a:r>
              <a:rPr lang="ru-RU" dirty="0">
                <a:solidFill>
                  <a:schemeClr val="dk1"/>
                </a:solidFill>
                <a:latin typeface="Nunito"/>
                <a:ea typeface="Nunito"/>
                <a:cs typeface="Nunito"/>
                <a:sym typeface="Nunito"/>
              </a:rPr>
              <a:t>: обучение 70% / валидация 20% / тест 10%</a:t>
            </a:r>
            <a:endParaRPr lang="en-US" dirty="0">
              <a:solidFill>
                <a:schemeClr val="dk1"/>
              </a:solidFill>
              <a:latin typeface="Nunito"/>
              <a:ea typeface="Nunito"/>
              <a:cs typeface="Nunito"/>
              <a:sym typeface="Nunito"/>
            </a:endParaRPr>
          </a:p>
          <a:p>
            <a:pPr marL="107950" indent="0">
              <a:buClr>
                <a:schemeClr val="dk1"/>
              </a:buClr>
              <a:buSzPts val="1900"/>
              <a:buNone/>
            </a:pPr>
            <a:endParaRPr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43</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spTree>
    <p:extLst>
      <p:ext uri="{BB962C8B-B14F-4D97-AF65-F5344CB8AC3E}">
        <p14:creationId xmlns:p14="http://schemas.microsoft.com/office/powerpoint/2010/main" val="2165744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13696"/>
            <a:ext cx="8520600" cy="572700"/>
          </a:xfrm>
          <a:prstGeom prst="rect">
            <a:avLst/>
          </a:prstGeom>
        </p:spPr>
        <p:txBody>
          <a:bodyPr spcFirstLastPara="1" wrap="square" lIns="91425" tIns="91425" rIns="91425" bIns="91425" anchor="t" anchorCtr="0">
            <a:normAutofit fontScale="90000"/>
          </a:bodyPr>
          <a:lstStyle/>
          <a:p>
            <a:pPr lvl="0"/>
            <a:r>
              <a:rPr lang="ru-RU" b="1" dirty="0" err="1">
                <a:latin typeface="Nunito"/>
                <a:ea typeface="Nunito"/>
                <a:cs typeface="Nunito"/>
                <a:sym typeface="Nunito"/>
              </a:rPr>
              <a:t>Датасет</a:t>
            </a:r>
            <a:r>
              <a:rPr lang="ru-RU" b="1" dirty="0">
                <a:latin typeface="Nunito"/>
                <a:ea typeface="Nunito"/>
                <a:cs typeface="Nunito"/>
                <a:sym typeface="Nunito"/>
              </a:rPr>
              <a:t> </a:t>
            </a:r>
            <a:r>
              <a:rPr lang="en-US" b="1" dirty="0" err="1">
                <a:latin typeface="Nunito"/>
                <a:ea typeface="Nunito"/>
                <a:cs typeface="Nunito"/>
                <a:sym typeface="Nunito"/>
              </a:rPr>
              <a:t>SARscope</a:t>
            </a:r>
            <a:endParaRPr b="1" dirty="0">
              <a:latin typeface="Nunito"/>
              <a:ea typeface="Nunito"/>
              <a:cs typeface="Nunito"/>
              <a:sym typeface="Nunito"/>
            </a:endParaRPr>
          </a:p>
        </p:txBody>
      </p:sp>
      <p:sp>
        <p:nvSpPr>
          <p:cNvPr id="86" name="Google Shape;86;p16"/>
          <p:cNvSpPr txBox="1">
            <a:spLocks noGrp="1"/>
          </p:cNvSpPr>
          <p:nvPr>
            <p:ph type="body" idx="1"/>
          </p:nvPr>
        </p:nvSpPr>
        <p:spPr>
          <a:xfrm>
            <a:off x="3140625" y="559371"/>
            <a:ext cx="8520600" cy="3882454"/>
          </a:xfrm>
          <a:prstGeom prst="rect">
            <a:avLst/>
          </a:prstGeom>
        </p:spPr>
        <p:txBody>
          <a:bodyPr spcFirstLastPara="1" wrap="square" lIns="91425" tIns="91425" rIns="91425" bIns="91425" anchor="t" anchorCtr="0">
            <a:normAutofit/>
          </a:bodyPr>
          <a:lstStyle/>
          <a:p>
            <a:pPr marL="107950" indent="0">
              <a:spcAft>
                <a:spcPts val="600"/>
              </a:spcAft>
              <a:buClr>
                <a:schemeClr val="dk1"/>
              </a:buClr>
              <a:buSzPts val="1900"/>
              <a:buNone/>
            </a:pPr>
            <a:r>
              <a:rPr lang="ru-RU" b="1" dirty="0">
                <a:solidFill>
                  <a:schemeClr val="dk1"/>
                </a:solidFill>
                <a:latin typeface="Nunito"/>
                <a:ea typeface="Nunito"/>
                <a:cs typeface="Nunito"/>
                <a:sym typeface="Nunito"/>
              </a:rPr>
              <a:t>Примеры изображений </a:t>
            </a:r>
            <a:endParaRPr lang="ru-RU" dirty="0">
              <a:solidFill>
                <a:schemeClr val="dk1"/>
              </a:solidFill>
              <a:latin typeface="Nunito"/>
              <a:ea typeface="Nunito"/>
              <a:cs typeface="Nunito"/>
              <a:sym typeface="Nunito"/>
            </a:endParaRPr>
          </a:p>
          <a:p>
            <a:pPr marL="107950" indent="0">
              <a:buClr>
                <a:schemeClr val="dk1"/>
              </a:buClr>
              <a:buSzPts val="1900"/>
              <a:buNone/>
            </a:pPr>
            <a:endParaRPr lang="en-US" dirty="0">
              <a:solidFill>
                <a:schemeClr val="dk1"/>
              </a:solidFill>
              <a:latin typeface="Nunito"/>
              <a:ea typeface="Nunito"/>
              <a:cs typeface="Nunito"/>
              <a:sym typeface="Nunito"/>
            </a:endParaRPr>
          </a:p>
          <a:p>
            <a:pPr marL="107950" indent="0">
              <a:buClr>
                <a:schemeClr val="dk1"/>
              </a:buClr>
              <a:buSzPts val="1900"/>
              <a:buNone/>
            </a:pPr>
            <a:endParaRPr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44</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pic>
        <p:nvPicPr>
          <p:cNvPr id="2050" name="Picture 2">
            <a:extLst>
              <a:ext uri="{FF2B5EF4-FFF2-40B4-BE49-F238E27FC236}">
                <a16:creationId xmlns:a16="http://schemas.microsoft.com/office/drawing/2014/main" id="{1F24CC68-F281-4C56-97AD-60A6E4F06AA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0727" b="53717"/>
          <a:stretch/>
        </p:blipFill>
        <p:spPr bwMode="auto">
          <a:xfrm>
            <a:off x="427817" y="1104653"/>
            <a:ext cx="3706033" cy="3330226"/>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a:extLst>
              <a:ext uri="{FF2B5EF4-FFF2-40B4-BE49-F238E27FC236}">
                <a16:creationId xmlns:a16="http://schemas.microsoft.com/office/drawing/2014/main" id="{2A6C76C1-CB9F-4154-AF79-1C58DF26DAA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18" t="46703" r="418" b="17742"/>
          <a:stretch/>
        </p:blipFill>
        <p:spPr bwMode="auto">
          <a:xfrm>
            <a:off x="5149407" y="1126878"/>
            <a:ext cx="3706033" cy="3330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13303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13696"/>
            <a:ext cx="8520600" cy="572700"/>
          </a:xfrm>
          <a:prstGeom prst="rect">
            <a:avLst/>
          </a:prstGeom>
        </p:spPr>
        <p:txBody>
          <a:bodyPr spcFirstLastPara="1" wrap="square" lIns="91425" tIns="91425" rIns="91425" bIns="91425" anchor="t" anchorCtr="0">
            <a:normAutofit fontScale="90000"/>
          </a:bodyPr>
          <a:lstStyle/>
          <a:p>
            <a:pPr lvl="0"/>
            <a:r>
              <a:rPr lang="ru-RU" b="1" dirty="0" err="1">
                <a:latin typeface="Nunito"/>
                <a:ea typeface="Nunito"/>
                <a:cs typeface="Nunito"/>
                <a:sym typeface="Nunito"/>
              </a:rPr>
              <a:t>Датасет</a:t>
            </a:r>
            <a:r>
              <a:rPr lang="ru-RU" b="1" dirty="0">
                <a:latin typeface="Nunito"/>
                <a:ea typeface="Nunito"/>
                <a:cs typeface="Nunito"/>
                <a:sym typeface="Nunito"/>
              </a:rPr>
              <a:t> </a:t>
            </a:r>
            <a:r>
              <a:rPr lang="en-US" b="1" dirty="0" err="1">
                <a:latin typeface="Nunito"/>
                <a:ea typeface="Nunito"/>
                <a:cs typeface="Nunito"/>
                <a:sym typeface="Nunito"/>
              </a:rPr>
              <a:t>SARscope</a:t>
            </a:r>
            <a:endParaRPr b="1" dirty="0">
              <a:latin typeface="Nunito"/>
              <a:ea typeface="Nunito"/>
              <a:cs typeface="Nunito"/>
              <a:sym typeface="Nunito"/>
            </a:endParaRPr>
          </a:p>
        </p:txBody>
      </p:sp>
      <p:sp>
        <p:nvSpPr>
          <p:cNvPr id="86" name="Google Shape;86;p16"/>
          <p:cNvSpPr txBox="1">
            <a:spLocks noGrp="1"/>
          </p:cNvSpPr>
          <p:nvPr>
            <p:ph type="body" idx="1"/>
          </p:nvPr>
        </p:nvSpPr>
        <p:spPr>
          <a:xfrm>
            <a:off x="480844" y="729802"/>
            <a:ext cx="5345281" cy="813247"/>
          </a:xfrm>
          <a:prstGeom prst="rect">
            <a:avLst/>
          </a:prstGeom>
        </p:spPr>
        <p:txBody>
          <a:bodyPr spcFirstLastPara="1" wrap="square" lIns="91425" tIns="91425" rIns="91425" bIns="91425" anchor="t" anchorCtr="0">
            <a:normAutofit/>
          </a:bodyPr>
          <a:lstStyle/>
          <a:p>
            <a:pPr marL="107950" indent="0">
              <a:spcAft>
                <a:spcPts val="600"/>
              </a:spcAft>
              <a:buClr>
                <a:schemeClr val="dk1"/>
              </a:buClr>
              <a:buSzPts val="1900"/>
              <a:buNone/>
            </a:pPr>
            <a:r>
              <a:rPr lang="ru-RU" b="1" dirty="0">
                <a:solidFill>
                  <a:schemeClr val="dk1"/>
                </a:solidFill>
                <a:latin typeface="Nunito"/>
                <a:ea typeface="Nunito"/>
                <a:cs typeface="Nunito"/>
                <a:sym typeface="Nunito"/>
              </a:rPr>
              <a:t>Ожидаемый результат работы модели</a:t>
            </a:r>
            <a:endParaRPr lang="en-US" dirty="0">
              <a:solidFill>
                <a:schemeClr val="dk1"/>
              </a:solidFill>
              <a:latin typeface="Nunito"/>
              <a:ea typeface="Nunito"/>
              <a:cs typeface="Nunito"/>
              <a:sym typeface="Nunito"/>
            </a:endParaRPr>
          </a:p>
          <a:p>
            <a:pPr marL="107950" indent="0">
              <a:buClr>
                <a:schemeClr val="dk1"/>
              </a:buClr>
              <a:buSzPts val="1900"/>
              <a:buNone/>
            </a:pPr>
            <a:endParaRPr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45</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pic>
        <p:nvPicPr>
          <p:cNvPr id="3074" name="Picture 2" descr="LiO0AAAAASUVORK5CYII= (640×640)">
            <a:extLst>
              <a:ext uri="{FF2B5EF4-FFF2-40B4-BE49-F238E27FC236}">
                <a16:creationId xmlns:a16="http://schemas.microsoft.com/office/drawing/2014/main" id="{798477B2-4FE1-48A7-B08C-E1CF9F6B23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689" y="1993294"/>
            <a:ext cx="2489200" cy="24892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ZBSApJC4MEINwriL4h1EFmIIZBAg1iBLA7RiBxBEBGIR5iYmCD1K7yWgpQhkIUgEEdCWiSQNhxkdA1iO8RMiO2Q8gdiMnIKh8QORA3ERuQYQQsZ5EiBWAFRAGFDvAYYJEbgJMR8iI2QdgNEMUQcHk2QIIXEI0QQ4nhIQMGTBMT9kPYcRArSMIIogJAQZ0B8BFEPF4EwIBohjoHYCyEhHocHAjyxQRbkQtwGT3uQWIanaojJEBIAcTyfoVsY9WYAAAAASUVORK5CYII= (640×640)">
            <a:extLst>
              <a:ext uri="{FF2B5EF4-FFF2-40B4-BE49-F238E27FC236}">
                <a16:creationId xmlns:a16="http://schemas.microsoft.com/office/drawing/2014/main" id="{A85AFCDB-2BC2-4B36-A115-6E6DA35DE40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08188" y="1993294"/>
            <a:ext cx="2489200" cy="24892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QSyCGwhRCRkqh7gTogCekCAOgCQ2SNUIiURIaxISDpBpXciYB8RkiCGQ+IKIQFIyxJGQTARRAyEhXoCwQRUteLQEUnBBwgeSUwDqxvzaIStJ6AAAAABJRU5ErkJggg== (640×640)">
            <a:extLst>
              <a:ext uri="{FF2B5EF4-FFF2-40B4-BE49-F238E27FC236}">
                <a16:creationId xmlns:a16="http://schemas.microsoft.com/office/drawing/2014/main" id="{FBC15785-6AB7-42FF-9EFF-1D400517E59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65687" y="1993295"/>
            <a:ext cx="2489199" cy="248919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12313FF-44D8-4B10-8AEF-7B070D890C19}"/>
              </a:ext>
            </a:extLst>
          </p:cNvPr>
          <p:cNvSpPr txBox="1"/>
          <p:nvPr/>
        </p:nvSpPr>
        <p:spPr>
          <a:xfrm>
            <a:off x="606264" y="1310831"/>
            <a:ext cx="2233304" cy="369332"/>
          </a:xfrm>
          <a:prstGeom prst="rect">
            <a:avLst/>
          </a:prstGeom>
          <a:noFill/>
        </p:spPr>
        <p:txBody>
          <a:bodyPr wrap="none" rtlCol="0">
            <a:spAutoFit/>
          </a:bodyPr>
          <a:lstStyle/>
          <a:p>
            <a:r>
              <a:rPr lang="ru-RU" sz="1800" b="1" dirty="0">
                <a:latin typeface="Nunito" panose="020B0604020202020204" charset="-52"/>
              </a:rPr>
              <a:t>Цель</a:t>
            </a:r>
            <a:r>
              <a:rPr lang="ru-RU" sz="1800" dirty="0">
                <a:latin typeface="Nunito" panose="020B0604020202020204" charset="-52"/>
              </a:rPr>
              <a:t>: </a:t>
            </a:r>
            <a:r>
              <a:rPr lang="en-US" sz="1800" dirty="0">
                <a:latin typeface="Nunito" panose="020B0604020202020204" charset="-52"/>
              </a:rPr>
              <a:t>mAP50</a:t>
            </a:r>
            <a:r>
              <a:rPr lang="ru-RU" sz="1800" dirty="0">
                <a:latin typeface="Nunito" panose="020B0604020202020204" charset="-52"/>
              </a:rPr>
              <a:t> </a:t>
            </a:r>
            <a:r>
              <a:rPr lang="en-US" sz="1800" dirty="0">
                <a:latin typeface="Nunito" panose="020B0604020202020204" charset="-52"/>
              </a:rPr>
              <a:t>&gt; 0.5</a:t>
            </a:r>
            <a:endParaRPr lang="ru-RU" sz="1800" dirty="0">
              <a:latin typeface="Nunito" panose="020B0604020202020204" charset="-52"/>
            </a:endParaRPr>
          </a:p>
        </p:txBody>
      </p:sp>
    </p:spTree>
    <p:extLst>
      <p:ext uri="{BB962C8B-B14F-4D97-AF65-F5344CB8AC3E}">
        <p14:creationId xmlns:p14="http://schemas.microsoft.com/office/powerpoint/2010/main" val="30518694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p:nvPr/>
        </p:nvSpPr>
        <p:spPr>
          <a:xfrm>
            <a:off x="0" y="4663225"/>
            <a:ext cx="9144000" cy="480300"/>
          </a:xfrm>
          <a:prstGeom prst="rect">
            <a:avLst/>
          </a:prstGeom>
          <a:solidFill>
            <a:srgbClr val="006DB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6"/>
          <p:cNvSpPr txBox="1">
            <a:spLocks noGrp="1"/>
          </p:cNvSpPr>
          <p:nvPr>
            <p:ph type="title"/>
          </p:nvPr>
        </p:nvSpPr>
        <p:spPr>
          <a:xfrm>
            <a:off x="311700" y="113696"/>
            <a:ext cx="8520600" cy="572700"/>
          </a:xfrm>
          <a:prstGeom prst="rect">
            <a:avLst/>
          </a:prstGeom>
        </p:spPr>
        <p:txBody>
          <a:bodyPr spcFirstLastPara="1" wrap="square" lIns="91425" tIns="91425" rIns="91425" bIns="91425" anchor="t" anchorCtr="0">
            <a:normAutofit fontScale="90000"/>
          </a:bodyPr>
          <a:lstStyle/>
          <a:p>
            <a:pPr lvl="0"/>
            <a:r>
              <a:rPr lang="ru-RU" b="1" dirty="0" err="1">
                <a:latin typeface="Nunito"/>
                <a:ea typeface="Nunito"/>
                <a:cs typeface="Nunito"/>
                <a:sym typeface="Nunito"/>
              </a:rPr>
              <a:t>Датасет</a:t>
            </a:r>
            <a:r>
              <a:rPr lang="ru-RU" b="1" dirty="0">
                <a:latin typeface="Nunito"/>
                <a:ea typeface="Nunito"/>
                <a:cs typeface="Nunito"/>
                <a:sym typeface="Nunito"/>
              </a:rPr>
              <a:t> </a:t>
            </a:r>
            <a:r>
              <a:rPr lang="en-US" b="1" dirty="0" err="1">
                <a:latin typeface="Nunito"/>
                <a:ea typeface="Nunito"/>
                <a:cs typeface="Nunito"/>
                <a:sym typeface="Nunito"/>
              </a:rPr>
              <a:t>SARscope</a:t>
            </a:r>
            <a:endParaRPr b="1" dirty="0">
              <a:latin typeface="Nunito"/>
              <a:ea typeface="Nunito"/>
              <a:cs typeface="Nunito"/>
              <a:sym typeface="Nunito"/>
            </a:endParaRPr>
          </a:p>
        </p:txBody>
      </p:sp>
      <p:sp>
        <p:nvSpPr>
          <p:cNvPr id="86" name="Google Shape;86;p16"/>
          <p:cNvSpPr txBox="1">
            <a:spLocks noGrp="1"/>
          </p:cNvSpPr>
          <p:nvPr>
            <p:ph type="body" idx="1"/>
          </p:nvPr>
        </p:nvSpPr>
        <p:spPr>
          <a:xfrm>
            <a:off x="311700" y="686396"/>
            <a:ext cx="8520600" cy="3882454"/>
          </a:xfrm>
          <a:prstGeom prst="rect">
            <a:avLst/>
          </a:prstGeom>
        </p:spPr>
        <p:txBody>
          <a:bodyPr spcFirstLastPara="1" wrap="square" lIns="91425" tIns="91425" rIns="91425" bIns="91425" anchor="t" anchorCtr="0">
            <a:normAutofit lnSpcReduction="10000"/>
          </a:bodyPr>
          <a:lstStyle/>
          <a:p>
            <a:pPr marL="107950" indent="0">
              <a:buClr>
                <a:schemeClr val="dk1"/>
              </a:buClr>
              <a:buSzPts val="1900"/>
              <a:buNone/>
            </a:pPr>
            <a:r>
              <a:rPr lang="ru-RU" b="1" dirty="0">
                <a:solidFill>
                  <a:schemeClr val="dk1"/>
                </a:solidFill>
                <a:latin typeface="Nunito"/>
                <a:ea typeface="Nunito"/>
                <a:cs typeface="Nunito"/>
                <a:sym typeface="Nunito"/>
              </a:rPr>
              <a:t>Почему такая цель?</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В бенчмарках изображений из «обычного мира» (COCO) часто ориентируются на </a:t>
            </a:r>
            <a:r>
              <a:rPr lang="ru-RU" b="1" dirty="0">
                <a:solidFill>
                  <a:schemeClr val="dk1"/>
                </a:solidFill>
                <a:latin typeface="Nunito"/>
                <a:ea typeface="Nunito"/>
                <a:cs typeface="Nunito"/>
                <a:sym typeface="Nunito"/>
              </a:rPr>
              <a:t>mAP50-95</a:t>
            </a:r>
            <a:r>
              <a:rPr lang="ru-RU" dirty="0">
                <a:solidFill>
                  <a:schemeClr val="dk1"/>
                </a:solidFill>
                <a:latin typeface="Nunito"/>
                <a:ea typeface="Nunito"/>
                <a:cs typeface="Nunito"/>
                <a:sym typeface="Nunito"/>
              </a:rPr>
              <a:t> — это жёсткий критерий, требующий очень точного совпадения рамок</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Для SAR-</a:t>
            </a:r>
            <a:r>
              <a:rPr lang="ru-RU" dirty="0" err="1">
                <a:solidFill>
                  <a:schemeClr val="dk1"/>
                </a:solidFill>
                <a:latin typeface="Nunito"/>
                <a:ea typeface="Nunito"/>
                <a:cs typeface="Nunito"/>
                <a:sym typeface="Nunito"/>
              </a:rPr>
              <a:t>детекции</a:t>
            </a:r>
            <a:r>
              <a:rPr lang="ru-RU" dirty="0">
                <a:solidFill>
                  <a:schemeClr val="dk1"/>
                </a:solidFill>
                <a:latin typeface="Nunito"/>
                <a:ea typeface="Nunito"/>
                <a:cs typeface="Nunito"/>
                <a:sym typeface="Nunito"/>
              </a:rPr>
              <a:t> даже сама разметка «истинной» рамки менее однозначна, чем для оптических изображений: границы объекта на зашумлённом </a:t>
            </a:r>
            <a:r>
              <a:rPr lang="ru-RU" dirty="0" err="1">
                <a:solidFill>
                  <a:schemeClr val="dk1"/>
                </a:solidFill>
                <a:latin typeface="Nunito"/>
                <a:ea typeface="Nunito"/>
                <a:cs typeface="Nunito"/>
                <a:sym typeface="Nunito"/>
              </a:rPr>
              <a:t>спекл</a:t>
            </a:r>
            <a:r>
              <a:rPr lang="ru-RU" dirty="0">
                <a:solidFill>
                  <a:schemeClr val="dk1"/>
                </a:solidFill>
                <a:latin typeface="Nunito"/>
                <a:ea typeface="Nunito"/>
                <a:cs typeface="Nunito"/>
                <a:sym typeface="Nunito"/>
              </a:rPr>
              <a:t>-шумом изображении визуально размыты — требовать от модели </a:t>
            </a:r>
            <a:r>
              <a:rPr lang="ru-RU" dirty="0" err="1">
                <a:solidFill>
                  <a:schemeClr val="dk1"/>
                </a:solidFill>
                <a:latin typeface="Nunito"/>
                <a:ea typeface="Nunito"/>
                <a:cs typeface="Nunito"/>
                <a:sym typeface="Nunito"/>
              </a:rPr>
              <a:t>IoU</a:t>
            </a:r>
            <a:r>
              <a:rPr lang="ru-RU" dirty="0">
                <a:solidFill>
                  <a:schemeClr val="dk1"/>
                </a:solidFill>
                <a:latin typeface="Nunito"/>
                <a:ea typeface="Nunito"/>
                <a:cs typeface="Nunito"/>
                <a:sym typeface="Nunito"/>
              </a:rPr>
              <a:t> выше 0.75 означает требовать точности, которой не всегда достигает и сама разметка</a:t>
            </a:r>
          </a:p>
          <a:p>
            <a:pPr marL="393700" indent="-285750">
              <a:buClr>
                <a:schemeClr val="dk1"/>
              </a:buClr>
              <a:buSzPts val="1900"/>
              <a:buFont typeface="Arial" panose="020B0604020202020204" pitchFamily="34" charset="0"/>
              <a:buChar char="•"/>
            </a:pPr>
            <a:r>
              <a:rPr lang="ru-RU" dirty="0">
                <a:solidFill>
                  <a:schemeClr val="dk1"/>
                </a:solidFill>
                <a:latin typeface="Nunito"/>
                <a:ea typeface="Nunito"/>
                <a:cs typeface="Nunito"/>
                <a:sym typeface="Nunito"/>
              </a:rPr>
              <a:t>Как итог, </a:t>
            </a:r>
            <a:r>
              <a:rPr lang="ru-RU" b="1" dirty="0">
                <a:solidFill>
                  <a:schemeClr val="dk1"/>
                </a:solidFill>
                <a:latin typeface="Nunito"/>
                <a:ea typeface="Nunito"/>
                <a:cs typeface="Nunito"/>
                <a:sym typeface="Nunito"/>
              </a:rPr>
              <a:t>mAP50</a:t>
            </a:r>
            <a:r>
              <a:rPr lang="ru-RU" dirty="0">
                <a:solidFill>
                  <a:schemeClr val="dk1"/>
                </a:solidFill>
                <a:latin typeface="Nunito"/>
                <a:ea typeface="Nunito"/>
                <a:cs typeface="Nunito"/>
                <a:sym typeface="Nunito"/>
              </a:rPr>
              <a:t> — более реалистичная и распространённая в SAR-литературе цель;  обнаружение в более чем 50% случаев при </a:t>
            </a:r>
            <a:r>
              <a:rPr lang="ru-RU" dirty="0" err="1">
                <a:solidFill>
                  <a:schemeClr val="dk1"/>
                </a:solidFill>
                <a:latin typeface="Nunito"/>
                <a:ea typeface="Nunito"/>
                <a:cs typeface="Nunito"/>
                <a:sym typeface="Nunito"/>
              </a:rPr>
              <a:t>IoU</a:t>
            </a:r>
            <a:r>
              <a:rPr lang="ru-RU" dirty="0">
                <a:solidFill>
                  <a:schemeClr val="dk1"/>
                </a:solidFill>
                <a:latin typeface="Nunito"/>
                <a:ea typeface="Nunito"/>
                <a:cs typeface="Nunito"/>
                <a:sym typeface="Nunito"/>
              </a:rPr>
              <a:t> выше 0.5 — крепкий базовый результат именно для этой задачи</a:t>
            </a:r>
            <a:endParaRPr dirty="0">
              <a:solidFill>
                <a:schemeClr val="dk1"/>
              </a:solidFill>
              <a:latin typeface="Nunito"/>
              <a:ea typeface="Nunito"/>
              <a:cs typeface="Nunito"/>
              <a:sym typeface="Nunito"/>
            </a:endParaRPr>
          </a:p>
        </p:txBody>
      </p:sp>
      <p:sp>
        <p:nvSpPr>
          <p:cNvPr id="87" name="Google Shape;8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solidFill>
                  <a:schemeClr val="lt1"/>
                </a:solidFill>
              </a:rPr>
              <a:t>46</a:t>
            </a:fld>
            <a:endParaRPr>
              <a:solidFill>
                <a:schemeClr val="lt1"/>
              </a:solidFill>
              <a:highlight>
                <a:schemeClr val="lt1"/>
              </a:highlight>
            </a:endParaRPr>
          </a:p>
        </p:txBody>
      </p:sp>
      <p:pic>
        <p:nvPicPr>
          <p:cNvPr id="88" name="Google Shape;88;p16"/>
          <p:cNvPicPr preferRelativeResize="0"/>
          <p:nvPr/>
        </p:nvPicPr>
        <p:blipFill rotWithShape="1">
          <a:blip r:embed="rId3">
            <a:alphaModFix/>
          </a:blip>
          <a:srcRect l="30316" t="32807" r="29285" b="24140"/>
          <a:stretch/>
        </p:blipFill>
        <p:spPr>
          <a:xfrm>
            <a:off x="0" y="4663227"/>
            <a:ext cx="450689" cy="480300"/>
          </a:xfrm>
          <a:prstGeom prst="rect">
            <a:avLst/>
          </a:prstGeom>
          <a:noFill/>
          <a:ln>
            <a:noFill/>
          </a:ln>
        </p:spPr>
      </p:pic>
      <p:pic>
        <p:nvPicPr>
          <p:cNvPr id="89" name="Google Shape;89;p16"/>
          <p:cNvPicPr preferRelativeResize="0"/>
          <p:nvPr/>
        </p:nvPicPr>
        <p:blipFill rotWithShape="1">
          <a:blip r:embed="rId4">
            <a:alphaModFix/>
          </a:blip>
          <a:srcRect l="3410" t="59058" r="2904" b="6827"/>
          <a:stretch/>
        </p:blipFill>
        <p:spPr>
          <a:xfrm>
            <a:off x="569750" y="4663225"/>
            <a:ext cx="1318847" cy="480300"/>
          </a:xfrm>
          <a:prstGeom prst="rect">
            <a:avLst/>
          </a:prstGeom>
          <a:noFill/>
          <a:ln>
            <a:noFill/>
          </a:ln>
        </p:spPr>
      </p:pic>
    </p:spTree>
    <p:extLst>
      <p:ext uri="{BB962C8B-B14F-4D97-AF65-F5344CB8AC3E}">
        <p14:creationId xmlns:p14="http://schemas.microsoft.com/office/powerpoint/2010/main" val="287802364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5524</TotalTime>
  <Words>3377</Words>
  <Application>Microsoft Office PowerPoint</Application>
  <PresentationFormat>Экран (16:9)</PresentationFormat>
  <Paragraphs>295</Paragraphs>
  <Slides>46</Slides>
  <Notes>46</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46</vt:i4>
      </vt:variant>
    </vt:vector>
  </HeadingPairs>
  <TitlesOfParts>
    <vt:vector size="50" baseType="lpstr">
      <vt:lpstr>Arial</vt:lpstr>
      <vt:lpstr>Cambria Math</vt:lpstr>
      <vt:lpstr>Nunito</vt:lpstr>
      <vt:lpstr>Simple Light</vt:lpstr>
      <vt:lpstr> МФТИ, ПИШ РПИ Осень 2026/2027</vt:lpstr>
      <vt:lpstr>Темы на сегодня</vt:lpstr>
      <vt:lpstr>Что такое SAR изображения</vt:lpstr>
      <vt:lpstr>Что такое SAR изображения</vt:lpstr>
      <vt:lpstr>Что такое SAR изображения</vt:lpstr>
      <vt:lpstr>Что такое SAR изображения</vt:lpstr>
      <vt:lpstr>Что такое SAR изображения</vt:lpstr>
      <vt:lpstr>Задачи, решаемые при помощи SAR</vt:lpstr>
      <vt:lpstr>Задачи, решаемые при помощи SAR</vt:lpstr>
      <vt:lpstr>Задачи, решаемые при помощи SAR</vt:lpstr>
      <vt:lpstr>Полный пайплайн обучения ML-модели</vt:lpstr>
      <vt:lpstr>Полный пайплайн обучения ML-модели</vt:lpstr>
      <vt:lpstr>Полный пайплайн обучения ML-модели</vt:lpstr>
      <vt:lpstr>Полный пайплайн обучения ML-модели</vt:lpstr>
      <vt:lpstr>Полный пайплайн обучения ML-модели</vt:lpstr>
      <vt:lpstr>Полный пайплайн обучения ML-модели</vt:lpstr>
      <vt:lpstr>Полный пайплайн обучения ML-модели</vt:lpstr>
      <vt:lpstr>Полный пайплайн обучения ML-модели</vt:lpstr>
      <vt:lpstr>Полный пайплайн обучения ML-модели</vt:lpstr>
      <vt:lpstr>Полный пайплайн обучения ML-модели</vt:lpstr>
      <vt:lpstr>Полный пайплайн обучения ML-модели</vt:lpstr>
      <vt:lpstr>Полный пайплайн обучения ML-модели</vt:lpstr>
      <vt:lpstr>Свёртки и свёрточные нейронные сети</vt:lpstr>
      <vt:lpstr>Свёртки и свёрточные нейронные сети</vt:lpstr>
      <vt:lpstr>Свёртки и свёрточные нейронные сети</vt:lpstr>
      <vt:lpstr>Свёртки и свёрточные нейронные сети</vt:lpstr>
      <vt:lpstr>Свёртки и свёрточные нейронные сети</vt:lpstr>
      <vt:lpstr>Свёртки и свёрточные нейронные сети</vt:lpstr>
      <vt:lpstr>Свёртки и свёрточные нейронные сети</vt:lpstr>
      <vt:lpstr>Свёртки и свёрточные нейронные сети</vt:lpstr>
      <vt:lpstr>Свёртки и свёрточные нейронные сети</vt:lpstr>
      <vt:lpstr>Свёртки и свёрточные нейронные сети</vt:lpstr>
      <vt:lpstr>Разведочный анализ данных для обнаружения</vt:lpstr>
      <vt:lpstr>Разведочный анализ данных для обнаружения</vt:lpstr>
      <vt:lpstr>Разведочный анализ данных для обнаружения</vt:lpstr>
      <vt:lpstr>Особенности подготовки  SAR изображений</vt:lpstr>
      <vt:lpstr>Особенности подготовки SAR изображений</vt:lpstr>
      <vt:lpstr>Особенности подготовки SAR изображений</vt:lpstr>
      <vt:lpstr>Особенности подготовки SAR изображений</vt:lpstr>
      <vt:lpstr>Особенности подготовки SAR изображений</vt:lpstr>
      <vt:lpstr>Особенности подготовки SAR изображений</vt:lpstr>
      <vt:lpstr>Датасет SARscope</vt:lpstr>
      <vt:lpstr>Датасет SARscope</vt:lpstr>
      <vt:lpstr>Датасет SARscope</vt:lpstr>
      <vt:lpstr>Датасет SARscope</vt:lpstr>
      <vt:lpstr>Датасет SARscope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 Вводная Лекция   Песоцкая Алиса МФТИ, ПИШ РПИ Осень 2026/2027</dc:title>
  <dc:creator>Михаил Гнатов</dc:creator>
  <cp:lastModifiedBy>Михаил Гнатов</cp:lastModifiedBy>
  <cp:revision>72</cp:revision>
  <dcterms:modified xsi:type="dcterms:W3CDTF">2026-09-18T16:58:03Z</dcterms:modified>
</cp:coreProperties>
</file>