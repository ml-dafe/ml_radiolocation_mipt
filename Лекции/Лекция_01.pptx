
<file path=[Content_Types].xml><?xml version="1.0" encoding="utf-8"?>
<Types xmlns="http://schemas.openxmlformats.org/package/2006/content-types">
  <Default Extension="fntdata" ContentType="application/x-fontdata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87" r:id="rId4"/>
    <p:sldId id="259" r:id="rId5"/>
    <p:sldId id="271" r:id="rId6"/>
    <p:sldId id="266" r:id="rId7"/>
    <p:sldId id="285" r:id="rId8"/>
    <p:sldId id="286" r:id="rId9"/>
    <p:sldId id="261" r:id="rId10"/>
    <p:sldId id="288" r:id="rId11"/>
    <p:sldId id="278" r:id="rId12"/>
    <p:sldId id="282" r:id="rId13"/>
    <p:sldId id="283" r:id="rId14"/>
    <p:sldId id="279" r:id="rId15"/>
    <p:sldId id="281" r:id="rId16"/>
    <p:sldId id="276" r:id="rId17"/>
    <p:sldId id="268" r:id="rId18"/>
    <p:sldId id="289" r:id="rId19"/>
    <p:sldId id="291" r:id="rId20"/>
    <p:sldId id="290" r:id="rId21"/>
    <p:sldId id="292" r:id="rId22"/>
    <p:sldId id="284" r:id="rId23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5"/>
    </p:embeddedFont>
    <p:embeddedFont>
      <p:font typeface="Nunito" panose="020B0604020202020204" charset="-52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Владимир Д" initials="ВД" lastIdx="13" clrIdx="0">
    <p:extLst>
      <p:ext uri="{19B8F6BF-5375-455C-9EA6-DF929625EA0E}">
        <p15:presenceInfo xmlns:p15="http://schemas.microsoft.com/office/powerpoint/2012/main" userId="9d447c9bbd4df12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B0B6F39-8058-48A1-B1E6-BB775B942AAB}">
  <a:tblStyle styleId="{2B0B6F39-8058-48A1-B1E6-BB775B942A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660" y="1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68ea1e0c8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68ea1e0c8_0_2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4481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72186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19854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35419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68ea1e0c8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68ea1e0c8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7769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68ea1e0c8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68ea1e0c8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595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4993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67066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9127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57760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68ea1e0c8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68ea1e0c8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516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298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89015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452684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33262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39086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255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f68ea1e0c8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f68ea1e0c8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1652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mailto:gnatov.ma@phystech.edu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ml-dafe/ML_radiolocation_MIPT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microsoft.com/office/2007/relationships/media" Target="../media/media2.mp4"/><Relationship Id="rId7" Type="http://schemas.openxmlformats.org/officeDocument/2006/relationships/image" Target="../media/image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20.xml"/><Relationship Id="rId5" Type="http://schemas.openxmlformats.org/officeDocument/2006/relationships/slideLayout" Target="../slideLayouts/slideLayout3.xml"/><Relationship Id="rId10" Type="http://schemas.openxmlformats.org/officeDocument/2006/relationships/image" Target="../media/image17.png"/><Relationship Id="rId4" Type="http://schemas.openxmlformats.org/officeDocument/2006/relationships/video" Target="../media/media2.mp4"/><Relationship Id="rId9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0" y="2359958"/>
            <a:ext cx="9144000" cy="2783691"/>
          </a:xfrm>
          <a:prstGeom prst="rect">
            <a:avLst/>
          </a:prstGeom>
          <a:solidFill>
            <a:srgbClr val="0069B4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871950"/>
            <a:ext cx="8520600" cy="13625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-GB" sz="4400" dirty="0" err="1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Машинное</a:t>
            </a:r>
            <a:r>
              <a:rPr lang="en-GB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 </a:t>
            </a:r>
            <a:r>
              <a:rPr lang="ru-RU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о</a:t>
            </a:r>
            <a:r>
              <a:rPr lang="en-GB" sz="4400" dirty="0" err="1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бучение</a:t>
            </a:r>
            <a:endParaRPr lang="ru-RU" sz="4400" dirty="0">
              <a:solidFill>
                <a:schemeClr val="dk1"/>
              </a:solidFill>
              <a:latin typeface="Nunito" panose="020B0604020202020204" charset="-52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ru-RU" sz="4400" dirty="0">
                <a:solidFill>
                  <a:schemeClr val="dk1"/>
                </a:solidFill>
                <a:latin typeface="Nunito" panose="020B0604020202020204" charset="-52"/>
                <a:ea typeface="Nunito"/>
                <a:cs typeface="Nunito"/>
                <a:sym typeface="Nunito"/>
              </a:rPr>
              <a:t>в задачах радиолокации</a:t>
            </a:r>
            <a:endParaRPr sz="4400" dirty="0">
              <a:latin typeface="Nunito" panose="020B0604020202020204" charset="-52"/>
              <a:ea typeface="Nunito"/>
              <a:cs typeface="Nunito"/>
              <a:sym typeface="Nunito"/>
            </a:endParaRPr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3">
            <a:alphaModFix/>
          </a:blip>
          <a:srcRect t="31266" b="27950"/>
          <a:stretch/>
        </p:blipFill>
        <p:spPr>
          <a:xfrm>
            <a:off x="153000" y="147925"/>
            <a:ext cx="1775250" cy="72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53282" y="202886"/>
            <a:ext cx="801467" cy="7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311700" y="4271550"/>
            <a:ext cx="2359959" cy="78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b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en-GB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МФТИ, ПИШ РПИ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Осень</a:t>
            </a:r>
            <a:r>
              <a:rPr lang="en-GB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2026/2027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C68BDA-96CA-4ADC-BAD7-9D151CF9ADAA}"/>
              </a:ext>
            </a:extLst>
          </p:cNvPr>
          <p:cNvSpPr txBox="1"/>
          <p:nvPr/>
        </p:nvSpPr>
        <p:spPr>
          <a:xfrm>
            <a:off x="4276385" y="3324964"/>
            <a:ext cx="482055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Авторы:</a:t>
            </a:r>
          </a:p>
          <a:p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Гнатов Михаил Андреевич</a:t>
            </a:r>
          </a:p>
          <a:p>
            <a:r>
              <a:rPr lang="ru-RU" sz="2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Доброжанский</a:t>
            </a:r>
            <a:r>
              <a:rPr lang="ru-RU" sz="2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Владимир Алексеевич</a:t>
            </a:r>
            <a:endParaRPr lang="ru-RU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BFBCDC-6F83-4920-A6D3-701104C497C5}"/>
              </a:ext>
            </a:extLst>
          </p:cNvPr>
          <p:cNvSpPr txBox="1"/>
          <p:nvPr/>
        </p:nvSpPr>
        <p:spPr>
          <a:xfrm>
            <a:off x="1973370" y="2491606"/>
            <a:ext cx="51972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#</a:t>
            </a:r>
            <a:r>
              <a:rPr lang="ru-RU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1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: </a:t>
            </a:r>
            <a:r>
              <a:rPr lang="en-GB" sz="4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Вводная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ru-RU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л</a:t>
            </a:r>
            <a:r>
              <a:rPr lang="en-GB" sz="4000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екция</a:t>
            </a:r>
            <a:r>
              <a:rPr lang="en-GB" sz="4000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lang="ru-RU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ctrTitle"/>
          </p:nvPr>
        </p:nvSpPr>
        <p:spPr>
          <a:xfrm>
            <a:off x="0" y="2002050"/>
            <a:ext cx="9144000" cy="1139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Информация</a:t>
            </a:r>
            <a:r>
              <a:rPr lang="en-GB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 о </a:t>
            </a: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к</a:t>
            </a:r>
            <a:r>
              <a:rPr lang="en-GB" b="1" dirty="0" err="1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урсе</a:t>
            </a:r>
            <a:endParaRPr b="1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67" name="Google Shape;67;p14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чего нужен курс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053885"/>
            <a:ext cx="8520600" cy="3514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Познакомить с актуальными задачами радиолокации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Дать примеры применения методов машинного обучения на современных практических задачах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3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47010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 err="1">
                <a:latin typeface="Nunito"/>
                <a:ea typeface="Nunito"/>
                <a:cs typeface="Nunito"/>
                <a:sym typeface="Nunito"/>
              </a:rPr>
              <a:t>Программа</a:t>
            </a:r>
            <a:r>
              <a:rPr lang="en-GB" b="1" dirty="0"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GB" b="1" dirty="0" err="1">
                <a:latin typeface="Nunito"/>
                <a:ea typeface="Nunito"/>
                <a:cs typeface="Nunito"/>
                <a:sym typeface="Nunito"/>
              </a:rPr>
              <a:t>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1053885"/>
            <a:ext cx="8520600" cy="3514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Задачи машинного обучения в радиолокации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Виды радиолокационных данных</a:t>
            </a: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7200" lvl="0" indent="-3492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обнаружения</a:t>
            </a: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классификации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Микродоплеровский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эффект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Решения задачи сопровождения</a:t>
            </a: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Генерация реалистичных данных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4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3696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Ключевые навыки по окончанию 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42379"/>
            <a:ext cx="8520600" cy="35831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работать с учебными и реальными радиолокационными данными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применять классические методы и оценивать качество их работы в некоторых задачах радиолокации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Умение обучать современные 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ML-</a:t>
            </a: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модели и оценивать качество их работы в некоторых задачах радиолокации</a:t>
            </a:r>
          </a:p>
          <a:p>
            <a:pPr indent="-349250">
              <a:lnSpc>
                <a:spcPct val="120000"/>
              </a:lnSpc>
              <a:spcAft>
                <a:spcPts val="12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Понимание, когда нужно применять классические методы, а когда использовать машинное обучение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5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81389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Система оценивания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lvl="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Формат: дифференцированный зачёт</a:t>
            </a: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Домашнее задание 1 (ДЗ1): до 3 баллов</a:t>
            </a:r>
          </a:p>
          <a:p>
            <a:pPr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Домашнее задание 2 (ДЗ2): до 3 баллов </a:t>
            </a:r>
          </a:p>
          <a:p>
            <a:pPr indent="-349250">
              <a:lnSpc>
                <a:spcPct val="150000"/>
              </a:lnSpc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Зачет: до 4 баллов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Итоговая оценка = ДЗ1 + ДЗ2 + Зачёт</a:t>
            </a: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6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747101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Контакты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spcAft>
                <a:spcPts val="6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Почта: </a:t>
            </a:r>
            <a:r>
              <a:rPr lang="en-US" sz="1900" dirty="0">
                <a:solidFill>
                  <a:schemeClr val="dk1"/>
                </a:solidFill>
                <a:latin typeface="+mj-lt"/>
                <a:ea typeface="Nunito"/>
                <a:cs typeface="Nunito"/>
                <a:sym typeface="Nunito"/>
                <a:hlinkClick r:id="rId3"/>
              </a:rPr>
              <a:t>gnatov.ma@phystech.edu</a:t>
            </a:r>
            <a:endParaRPr lang="en-US" sz="1900" dirty="0">
              <a:solidFill>
                <a:schemeClr val="dk1"/>
              </a:solidFill>
              <a:latin typeface="+mj-lt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GitHub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курса: </a:t>
            </a:r>
            <a:r>
              <a:rPr lang="en-US" sz="1900" dirty="0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https://github.com/ml-dafe/ML</a:t>
            </a:r>
            <a:r>
              <a:rPr lang="ru-RU" sz="1900" dirty="0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_</a:t>
            </a:r>
            <a:r>
              <a:rPr lang="en-US" sz="1900" dirty="0" err="1">
                <a:solidFill>
                  <a:schemeClr val="dk1"/>
                </a:solidFill>
                <a:latin typeface="+mn-lt"/>
                <a:ea typeface="Nunito"/>
                <a:cs typeface="Nunito"/>
                <a:sym typeface="Nunito"/>
                <a:hlinkClick r:id="rId4"/>
              </a:rPr>
              <a:t>radiolocation_MIPT</a:t>
            </a:r>
            <a:endParaRPr sz="1900" dirty="0">
              <a:solidFill>
                <a:schemeClr val="dk1"/>
              </a:solidFill>
              <a:latin typeface="+mn-lt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7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5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6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96037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29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Необходимое ПО для прохождения курса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6" name="Google Shape;86;p16"/>
          <p:cNvSpPr txBox="1">
            <a:spLocks noGrp="1"/>
          </p:cNvSpPr>
          <p:nvPr>
            <p:ph type="body" idx="1"/>
          </p:nvPr>
        </p:nvSpPr>
        <p:spPr>
          <a:xfrm>
            <a:off x="311700" y="972750"/>
            <a:ext cx="8520600" cy="359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indent="-349250">
              <a:spcAft>
                <a:spcPts val="600"/>
              </a:spcAft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IDE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для работы с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ipynb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файлами </a:t>
            </a:r>
            <a:b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(например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Jupyter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/ PyCharm /</a:t>
            </a: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VS Code)</a:t>
            </a:r>
            <a:endParaRPr lang="ru-RU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r>
              <a:rPr lang="ru-RU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Доступ к любым вычислительным ресурсам для обучения нейросетей (локально или через 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Kaggle / Google </a:t>
            </a:r>
            <a:r>
              <a:rPr lang="en-US" sz="19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Colab</a:t>
            </a:r>
            <a:r>
              <a:rPr lang="en-US" sz="19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)</a:t>
            </a:r>
            <a:endParaRPr lang="ru-RU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endParaRPr lang="en-US"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lvl="0" indent="-349250">
              <a:buClr>
                <a:schemeClr val="dk1"/>
              </a:buClr>
              <a:buSzPts val="1900"/>
              <a:buFont typeface="Nunito"/>
              <a:buAutoNum type="arabicPeriod"/>
            </a:pPr>
            <a:endParaRPr sz="19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8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76969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9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106" name="Google Shape;106;p18"/>
          <p:cNvSpPr txBox="1">
            <a:spLocks noGrp="1"/>
          </p:cNvSpPr>
          <p:nvPr>
            <p:ph type="ctrTitle"/>
          </p:nvPr>
        </p:nvSpPr>
        <p:spPr>
          <a:xfrm>
            <a:off x="0" y="1574629"/>
            <a:ext cx="9144000" cy="15668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90"/>
              <a:buFont typeface="Arial"/>
              <a:buNone/>
            </a:pP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С какими задачами </a:t>
            </a:r>
            <a:b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будем работать?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-1" y="805607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10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569750" y="1841784"/>
            <a:ext cx="1862763" cy="5398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Обнаружение</a:t>
            </a:r>
            <a:endParaRPr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Google Shape;119;p19">
            <a:extLst>
              <a:ext uri="{FF2B5EF4-FFF2-40B4-BE49-F238E27FC236}">
                <a16:creationId xmlns:a16="http://schemas.microsoft.com/office/drawing/2014/main" id="{F84877F0-6A3D-4D73-A220-2F371444BC2F}"/>
              </a:ext>
            </a:extLst>
          </p:cNvPr>
          <p:cNvSpPr txBox="1">
            <a:spLocks/>
          </p:cNvSpPr>
          <p:nvPr/>
        </p:nvSpPr>
        <p:spPr>
          <a:xfrm>
            <a:off x="3501390" y="1790703"/>
            <a:ext cx="2141217" cy="538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 spc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07950" indent="0">
              <a:buClr>
                <a:schemeClr val="dk1"/>
              </a:buClr>
              <a:buSzPts val="1900"/>
              <a:buFont typeface="Arial"/>
              <a:buNone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Классификация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E1F7A62-F4C1-440C-A7A1-784DE937EEBF}"/>
              </a:ext>
            </a:extLst>
          </p:cNvPr>
          <p:cNvSpPr/>
          <p:nvPr/>
        </p:nvSpPr>
        <p:spPr>
          <a:xfrm>
            <a:off x="6502047" y="1876416"/>
            <a:ext cx="19704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Сопровождение</a:t>
            </a:r>
            <a:endParaRPr lang="ru-RU" sz="1800" dirty="0"/>
          </a:p>
        </p:txBody>
      </p:sp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Обзор типов задач в радиолокации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037EFF-79E1-4C1B-ABFA-214AC28B8D90}"/>
              </a:ext>
            </a:extLst>
          </p:cNvPr>
          <p:cNvSpPr txBox="1"/>
          <p:nvPr/>
        </p:nvSpPr>
        <p:spPr>
          <a:xfrm>
            <a:off x="311699" y="2519098"/>
            <a:ext cx="2532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Найти объект и указать его класс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8F7689DF-33C6-4738-82E4-9E1FA7EA26CE}"/>
              </a:ext>
            </a:extLst>
          </p:cNvPr>
          <p:cNvCxnSpPr>
            <a:stCxn id="114" idx="2"/>
            <a:endCxn id="119" idx="0"/>
          </p:cNvCxnSpPr>
          <p:nvPr/>
        </p:nvCxnSpPr>
        <p:spPr>
          <a:xfrm flipH="1">
            <a:off x="1501132" y="1378307"/>
            <a:ext cx="3070867" cy="463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03EBB046-9C5F-4854-A456-8CF69DC7BE19}"/>
              </a:ext>
            </a:extLst>
          </p:cNvPr>
          <p:cNvCxnSpPr>
            <a:endCxn id="13" idx="0"/>
          </p:cNvCxnSpPr>
          <p:nvPr/>
        </p:nvCxnSpPr>
        <p:spPr>
          <a:xfrm>
            <a:off x="4571998" y="1385611"/>
            <a:ext cx="1" cy="4050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0A5DDEBF-A3E5-4912-9804-7FEF4E4A84BD}"/>
              </a:ext>
            </a:extLst>
          </p:cNvPr>
          <p:cNvCxnSpPr>
            <a:endCxn id="8" idx="0"/>
          </p:cNvCxnSpPr>
          <p:nvPr/>
        </p:nvCxnSpPr>
        <p:spPr>
          <a:xfrm>
            <a:off x="4571998" y="1385611"/>
            <a:ext cx="2915255" cy="4908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15ACF48-2CAE-45C9-8878-C370910A584A}"/>
              </a:ext>
            </a:extLst>
          </p:cNvPr>
          <p:cNvSpPr txBox="1"/>
          <p:nvPr/>
        </p:nvSpPr>
        <p:spPr>
          <a:xfrm>
            <a:off x="3124953" y="2519058"/>
            <a:ext cx="3070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Принадлежность объекта к определённому классу</a:t>
            </a:r>
            <a:endParaRPr lang="ru-RU" sz="1800" dirty="0">
              <a:latin typeface="Nunito" panose="020B0604020202020204" charset="-5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0D8D3-4BA1-4ABF-B94A-88CE5845C47C}"/>
              </a:ext>
            </a:extLst>
          </p:cNvPr>
          <p:cNvSpPr txBox="1"/>
          <p:nvPr/>
        </p:nvSpPr>
        <p:spPr>
          <a:xfrm>
            <a:off x="6366210" y="2571750"/>
            <a:ext cx="25665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Nunito" panose="020B0604020202020204" charset="-52"/>
              </a:rPr>
              <a:t>Периодическая оценка параметров движения объекта</a:t>
            </a:r>
            <a:endParaRPr lang="ru-RU" sz="1800" dirty="0">
              <a:latin typeface="Nunito" panose="020B060402020202020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019079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обнаружения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Detection)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11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43746D5-601B-409B-9006-33AF94EF64A8}"/>
                  </a:ext>
                </a:extLst>
              </p:cNvPr>
              <p:cNvSpPr txBox="1"/>
              <p:nvPr/>
            </p:nvSpPr>
            <p:spPr>
              <a:xfrm>
                <a:off x="225344" y="985530"/>
                <a:ext cx="8292875" cy="3039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Цель: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 Определить наличие объекта в наблюдаемой области и сказать, что это за объект.</a:t>
                </a: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Формулировка как задачи бинарной классификации:</a:t>
                </a: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i="1" dirty="0">
                    <a:solidFill>
                      <a:schemeClr val="tx1"/>
                    </a:solidFill>
                    <a:latin typeface="Nunito" panose="020B0604020202020204" charset="-52"/>
                  </a:rPr>
                  <a:t>Гипотеза H0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​: цель отсутствует (только шум)</a:t>
                </a: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i="1" dirty="0">
                    <a:solidFill>
                      <a:schemeClr val="tx1"/>
                    </a:solidFill>
                    <a:latin typeface="Nunito" panose="020B0604020202020204" charset="-52"/>
                  </a:rPr>
                  <a:t>Гипотеза H1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​: цель присутствует (сигнал + шум)</a:t>
                </a: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Классический подход:</a:t>
                </a: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 </a:t>
                </a:r>
              </a:p>
              <a:p>
                <a:pPr marL="114300"/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Пороговое обнаружение по критерию Неймана-Пирсона: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0" smtClean="0">
                        <a:latin typeface="Cambria Math" panose="02040503050406030204" pitchFamily="18" charset="0"/>
                      </a:rPr>
                      <m:t>Λ</m:t>
                    </m:r>
                    <m:d>
                      <m:dPr>
                        <m:ctrlPr>
                          <a:rPr lang="el-G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sepChr m:val="∣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&gt; 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114300">
                  <a:lnSpc>
                    <a:spcPct val="150000"/>
                  </a:lnSpc>
                </a:pPr>
                <a:r>
                  <a:rPr lang="ru-RU" b="1" dirty="0">
                    <a:solidFill>
                      <a:schemeClr val="tx1"/>
                    </a:solidFill>
                    <a:latin typeface="Nunito" panose="020B0604020202020204" charset="-52"/>
                  </a:rPr>
                  <a:t>Метрики качества:</a:t>
                </a:r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Вероятность правильного обнаружения: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(решить 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1∣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1)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Nunito" panose="020B0604020202020204" charset="-52"/>
                </a:endParaRPr>
              </a:p>
              <a:p>
                <a:pPr marL="4000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tx1"/>
                    </a:solidFill>
                    <a:latin typeface="Nunito" panose="020B0604020202020204" charset="-52"/>
                  </a:rPr>
                  <a:t>Вероятность ложной тревоги: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ru-RU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𝐹𝐴</m:t>
                        </m:r>
                      </m:sub>
                    </m:sSub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(решить 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1∣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r>
                      <a:rPr lang="ru-RU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0)</m:t>
                    </m:r>
                  </m:oMath>
                </a14:m>
                <a:endParaRPr lang="ru-RU" dirty="0">
                  <a:solidFill>
                    <a:schemeClr val="tx1"/>
                  </a:solidFill>
                  <a:latin typeface="Nunito" panose="020B0604020202020204" charset="-52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43746D5-601B-409B-9006-33AF94EF6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344" y="985530"/>
                <a:ext cx="8292875" cy="3039935"/>
              </a:xfrm>
              <a:prstGeom prst="rect">
                <a:avLst/>
              </a:prstGeom>
              <a:blipFill>
                <a:blip r:embed="rId5"/>
                <a:stretch>
                  <a:fillRect b="-12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191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классификации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Classification)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12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Google Shape;119;p1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16976" y="908201"/>
                <a:ext cx="8311519" cy="372889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 lnSpcReduction="10000"/>
              </a:bodyPr>
              <a:lstStyle/>
              <a:p>
                <a:pPr marL="107950" indent="0">
                  <a:lnSpc>
                    <a:spcPct val="150000"/>
                  </a:lnSpc>
                  <a:buClr>
                    <a:schemeClr val="dk1"/>
                  </a:buClr>
                  <a:buSzPts val="1900"/>
                  <a:buNone/>
                </a:pPr>
                <a:r>
                  <a:rPr lang="ru-RU" sz="1400" b="1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Цель</a:t>
                </a: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: Определить тип объекта (самолёт, вертолёт, БПЛА, автомобиль и т.д.) на изображении или его локализованной области</a:t>
                </a:r>
              </a:p>
              <a:p>
                <a:pPr marL="107950" indent="0">
                  <a:lnSpc>
                    <a:spcPct val="150000"/>
                  </a:lnSpc>
                  <a:buClr>
                    <a:schemeClr val="dk1"/>
                  </a:buClr>
                  <a:buSzPts val="1900"/>
                  <a:buNone/>
                </a:pPr>
                <a:r>
                  <a:rPr lang="ru-RU" b="1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Классический подход</a:t>
                </a: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: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Извлечение признаков: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ЭПР (эффективная площадь рассеяния)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 err="1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Микродоплеровские</a:t>
                </a: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 сигнатуры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Спектральные характеристики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Геометрические параметры</a:t>
                </a:r>
              </a:p>
              <a:p>
                <a:pPr marL="850900" lvl="1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Траекторные признаки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dirty="0">
                    <a:solidFill>
                      <a:schemeClr val="dk1"/>
                    </a:solidFill>
                    <a:latin typeface="Nunito"/>
                    <a:ea typeface="Nunito"/>
                    <a:cs typeface="Nunito"/>
                    <a:sym typeface="Nunito"/>
                  </a:rPr>
                  <a:t>Классификация по ближайшему соседу, байесовские методы</a:t>
                </a:r>
              </a:p>
              <a:p>
                <a:pPr marL="393700" indent="-285750">
                  <a:lnSpc>
                    <a:spcPct val="150000"/>
                  </a:lnSpc>
                  <a:buClr>
                    <a:schemeClr val="dk1"/>
                  </a:buClr>
                  <a:buSzPct val="105000"/>
                  <a:buFont typeface="Arial" panose="020B0604020202020204" pitchFamily="34" charset="0"/>
                  <a:buChar char="•"/>
                </a:pPr>
                <a:r>
                  <a:rPr lang="ru-RU" sz="1400" b="1" dirty="0">
                    <a:solidFill>
                      <a:schemeClr val="tx1"/>
                    </a:solidFill>
                    <a:latin typeface="Nunito" panose="020B0604020202020204" charset="-52"/>
                  </a:rPr>
                  <a:t>Метрики качества: </a:t>
                </a:r>
                <a:r>
                  <a:rPr lang="ru-RU" sz="1400" dirty="0">
                    <a:solidFill>
                      <a:schemeClr val="tx1"/>
                    </a:solidFill>
                    <a:latin typeface="Nunito" panose="020B0604020202020204" charset="-52"/>
                  </a:rPr>
                  <a:t>Точность, полнота,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sub>
                    </m:sSub>
                  </m:oMath>
                </a14:m>
                <a:endParaRPr lang="en-US" sz="1400" dirty="0">
                  <a:solidFill>
                    <a:schemeClr val="tx1"/>
                  </a:solidFill>
                  <a:latin typeface="Nunito" panose="020B0604020202020204" charset="-52"/>
                </a:endParaRPr>
              </a:p>
            </p:txBody>
          </p:sp>
        </mc:Choice>
        <mc:Fallback xmlns="">
          <p:sp>
            <p:nvSpPr>
              <p:cNvPr id="119" name="Google Shape;119;p1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16976" y="908201"/>
                <a:ext cx="8311519" cy="372889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00201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Задача сопровождения (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Tracking)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13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311700" y="886561"/>
            <a:ext cx="8051185" cy="34778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Цель</a:t>
            </a: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 Периодическая оценка параметров движения объекта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Классический подход</a:t>
            </a: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: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Фильтр Калмана 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Метод ближайшего соседа 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Множественная гипотеза 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r>
              <a:rPr lang="ru-RU" sz="1400" b="1" dirty="0">
                <a:solidFill>
                  <a:schemeClr val="tx1"/>
                </a:solidFill>
                <a:latin typeface="Nunito" panose="020B0604020202020204" charset="-52"/>
              </a:rPr>
              <a:t>Метрики качества: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Точность и полнота отслеживания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Количество пропусков</a:t>
            </a: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  <a:latin typeface="Nunito" panose="020B0604020202020204" charset="-52"/>
              </a:rPr>
              <a:t>Количество восстановленных траекторий после потери объекта</a:t>
            </a:r>
            <a:endParaRPr lang="en-US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en-US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ru-RU" sz="1400" dirty="0">
              <a:solidFill>
                <a:schemeClr val="tx1"/>
              </a:solidFill>
              <a:latin typeface="Nunito" panose="020B0604020202020204" charset="-52"/>
            </a:endParaRPr>
          </a:p>
          <a:p>
            <a:pPr marL="393700" indent="-285750">
              <a:lnSpc>
                <a:spcPct val="150000"/>
              </a:lnSpc>
              <a:buClr>
                <a:schemeClr val="dk1"/>
              </a:buClr>
              <a:buSzPts val="1900"/>
            </a:pPr>
            <a:endParaRPr lang="ru-RU" sz="14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25254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Типы данных в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14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260740" y="976393"/>
            <a:ext cx="8520600" cy="30035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I/Q данные (комплексные отсчёты)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Матрицы дальность-скорость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Спектрограммы</a:t>
            </a: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Профили дальности высокого разрешения (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HRRP)</a:t>
            </a: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Изображения с радиолокационной синтезированной  апертуры </a:t>
            </a:r>
            <a:r>
              <a:rPr lang="en-US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(SAR)</a:t>
            </a: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450850">
              <a:lnSpc>
                <a:spcPct val="150000"/>
              </a:lnSpc>
              <a:buClr>
                <a:schemeClr val="dk1"/>
              </a:buClr>
              <a:buSzPts val="1900"/>
              <a:buFont typeface="+mj-lt"/>
              <a:buAutoNum type="arabicPeriod"/>
            </a:pPr>
            <a:r>
              <a:rPr lang="ru-RU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Траектории (временные последовательности)</a:t>
            </a:r>
          </a:p>
          <a:p>
            <a:pPr marL="107950" indent="0">
              <a:lnSpc>
                <a:spcPct val="150000"/>
              </a:lnSpc>
              <a:buClr>
                <a:schemeClr val="dk1"/>
              </a:buClr>
              <a:buSzPts val="1900"/>
              <a:buNone/>
            </a:pPr>
            <a:endParaRPr lang="ru-RU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8227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/>
          <p:nvPr/>
        </p:nvSpPr>
        <p:spPr>
          <a:xfrm>
            <a:off x="0" y="452450"/>
            <a:ext cx="9144000" cy="46911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15</a:t>
            </a:fld>
            <a:endParaRPr>
              <a:solidFill>
                <a:schemeClr val="lt1"/>
              </a:solidFill>
            </a:endParaRPr>
          </a:p>
        </p:txBody>
      </p:sp>
      <p:sp>
        <p:nvSpPr>
          <p:cNvPr id="106" name="Google Shape;106;p18"/>
          <p:cNvSpPr txBox="1">
            <a:spLocks noGrp="1"/>
          </p:cNvSpPr>
          <p:nvPr>
            <p:ph type="ctrTitle"/>
          </p:nvPr>
        </p:nvSpPr>
        <p:spPr>
          <a:xfrm>
            <a:off x="0" y="1577727"/>
            <a:ext cx="9144000" cy="156372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>
              <a:buSzPts val="990"/>
            </a:pPr>
            <a:r>
              <a:rPr lang="ru-RU" b="1" dirty="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  <a:endParaRPr sz="2000" dirty="0">
              <a:solidFill>
                <a:schemeClr val="lt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07" name="Google Shape;107;p18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2865625" y="3973562"/>
            <a:ext cx="1015825" cy="108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8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205475" y="4048412"/>
            <a:ext cx="2561601" cy="93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7325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Использование 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ML </a:t>
            </a: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задач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16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0A4A34F-2157-4E3B-B5E7-CB64697823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7478015"/>
              </p:ext>
            </p:extLst>
          </p:nvPr>
        </p:nvGraphicFramePr>
        <p:xfrm>
          <a:off x="311150" y="945398"/>
          <a:ext cx="8336904" cy="3335230"/>
        </p:xfrm>
        <a:graphic>
          <a:graphicData uri="http://schemas.openxmlformats.org/drawingml/2006/table">
            <a:tbl>
              <a:tblPr firstRow="1" bandRow="1">
                <a:tableStyleId>{3C2FFA5D-87B4-456A-9821-1D502468CF0F}</a:tableStyleId>
              </a:tblPr>
              <a:tblGrid>
                <a:gridCol w="2379356">
                  <a:extLst>
                    <a:ext uri="{9D8B030D-6E8A-4147-A177-3AD203B41FA5}">
                      <a16:colId xmlns:a16="http://schemas.microsoft.com/office/drawing/2014/main" val="1066603797"/>
                    </a:ext>
                  </a:extLst>
                </a:gridCol>
                <a:gridCol w="5957548">
                  <a:extLst>
                    <a:ext uri="{9D8B030D-6E8A-4147-A177-3AD203B41FA5}">
                      <a16:colId xmlns:a16="http://schemas.microsoft.com/office/drawing/2014/main" val="255226784"/>
                    </a:ext>
                  </a:extLst>
                </a:gridCol>
              </a:tblGrid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effectLst/>
                        </a:rPr>
                        <a:t>Задача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effectLst/>
                        </a:rPr>
                        <a:t>Практический пример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8124613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Обнаружение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Обсерватория: обнаружить метеорит при астрофизических наблюдениях</a:t>
                      </a: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62555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Классификация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>
                          <a:solidFill>
                            <a:schemeClr val="bg1"/>
                          </a:solidFill>
                          <a:effectLst/>
                        </a:rPr>
                        <a:t>Морской радар: отличить рыболовное судно от военного корабля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0264144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 dirty="0">
                          <a:solidFill>
                            <a:schemeClr val="bg1"/>
                          </a:solidFill>
                          <a:effectLst/>
                        </a:rPr>
                        <a:t>Сопровождение</a:t>
                      </a:r>
                      <a:endParaRPr lang="ru-RU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Авиадиспетчер: отслеживать траекторию самолёта в зоне аэропорта</a:t>
                      </a:r>
                    </a:p>
                  </a:txBody>
                  <a:tcPr anchor="ctr">
                    <a:solidFill>
                      <a:srgbClr val="006D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407171"/>
                  </a:ext>
                </a:extLst>
              </a:tr>
              <a:tr h="667046">
                <a:tc>
                  <a:txBody>
                    <a:bodyPr/>
                    <a:lstStyle/>
                    <a:p>
                      <a:pPr algn="ctr" rtl="0"/>
                      <a:r>
                        <a:rPr lang="ru-RU" b="1">
                          <a:solidFill>
                            <a:schemeClr val="bg1"/>
                          </a:solidFill>
                          <a:effectLst/>
                        </a:rPr>
                        <a:t>Комбинированная</a:t>
                      </a:r>
                      <a:endParaRPr lang="ru-RU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ru-RU" dirty="0">
                          <a:solidFill>
                            <a:schemeClr val="bg1"/>
                          </a:solidFill>
                          <a:effectLst/>
                        </a:rPr>
                        <a:t>Автономный автомобиль: радар обнаруживает пешехода, классифицирует, сопровождает</a:t>
                      </a:r>
                    </a:p>
                  </a:txBody>
                  <a:tcPr anchor="ctr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13240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79017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17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6135107D-33C9-4827-92D4-055FB78555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7" b="53717"/>
          <a:stretch/>
        </p:blipFill>
        <p:spPr bwMode="auto">
          <a:xfrm>
            <a:off x="595580" y="1918690"/>
            <a:ext cx="2927764" cy="2630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1000674" y="1278917"/>
            <a:ext cx="30345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Искать объекты на</a:t>
            </a:r>
            <a:b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</a:b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спутниковых снимках</a:t>
            </a:r>
            <a:endParaRPr lang="ru-RU" sz="16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D5119F32-5AA6-4252-B1C6-C6FED992E155}"/>
              </a:ext>
            </a:extLst>
          </p:cNvPr>
          <p:cNvSpPr/>
          <p:nvPr/>
        </p:nvSpPr>
        <p:spPr>
          <a:xfrm>
            <a:off x="4888747" y="1278916"/>
            <a:ext cx="4444849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Сопоставлять радиолокационные и оптические изображения</a:t>
            </a:r>
            <a:endParaRPr lang="ru-RU" sz="16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2837E65-8ED7-4D22-86D9-32F4D551E4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7347" y="2121302"/>
            <a:ext cx="1142152" cy="1142152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7902518-4E4B-4FD8-BAA9-47804197C1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7347" y="3377113"/>
            <a:ext cx="1142152" cy="1142152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F8DE996-4E36-45C2-9AFF-5764A23B41A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59854"/>
          <a:stretch/>
        </p:blipFill>
        <p:spPr>
          <a:xfrm>
            <a:off x="6159234" y="2046297"/>
            <a:ext cx="2480887" cy="253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412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18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174442"/>
            <a:ext cx="71632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Искать объекты на матрицах дальность-скорость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F752AF-D72D-4663-8AAE-6C42CF34FD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2191" y="1918573"/>
            <a:ext cx="3437525" cy="234305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10A32D8-AA69-4D4E-9D73-6DF558C48F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2166" y="2036360"/>
            <a:ext cx="1991348" cy="199134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4042AB-0FD6-4D0B-B053-FB1E8E002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700" y="2036360"/>
            <a:ext cx="1991348" cy="199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669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19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Машинное обучение в радиолокации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115085"/>
            <a:ext cx="716325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Отличать объекты по </a:t>
            </a:r>
            <a:r>
              <a:rPr lang="ru-RU" sz="1800" dirty="0" err="1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микродоплеровским</a:t>
            </a: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 сигнатурам 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0B4161E-9515-47FE-B053-EE02509A49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464" y="1878395"/>
            <a:ext cx="3252543" cy="248168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37934C9-76A2-422C-8F05-A1A6DF079B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0640" y="1916699"/>
            <a:ext cx="3188732" cy="244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584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20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7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8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>
                <a:latin typeface="Nunito"/>
                <a:ea typeface="Nunito"/>
                <a:cs typeface="Nunito"/>
                <a:sym typeface="Nunito"/>
              </a:rPr>
              <a:t>Обзор типов задач в радиолокации</a:t>
            </a:r>
            <a:endParaRPr lang="ru-RU"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533934"/>
            <a:ext cx="41552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Сопровождать объекты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4" name="video_from_inside">
            <a:hlinkClick r:id="" action="ppaction://media"/>
            <a:extLst>
              <a:ext uri="{FF2B5EF4-FFF2-40B4-BE49-F238E27FC236}">
                <a16:creationId xmlns:a16="http://schemas.microsoft.com/office/drawing/2014/main" id="{434ADA93-0E40-4445-8974-BCE84DF7B09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576813" y="2203859"/>
            <a:ext cx="2965298" cy="2223974"/>
          </a:xfrm>
          <a:prstGeom prst="rect">
            <a:avLst/>
          </a:prstGeom>
        </p:spPr>
      </p:pic>
      <p:pic>
        <p:nvPicPr>
          <p:cNvPr id="6" name="clip_39_annotated">
            <a:hlinkClick r:id="" action="ppaction://media"/>
            <a:extLst>
              <a:ext uri="{FF2B5EF4-FFF2-40B4-BE49-F238E27FC236}">
                <a16:creationId xmlns:a16="http://schemas.microsoft.com/office/drawing/2014/main" id="{2EE84020-52D5-4468-9B90-7288459581FB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4218087" y="1100709"/>
            <a:ext cx="4436165" cy="33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737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2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21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14;p19">
            <a:extLst>
              <a:ext uri="{FF2B5EF4-FFF2-40B4-BE49-F238E27FC236}">
                <a16:creationId xmlns:a16="http://schemas.microsoft.com/office/drawing/2014/main" id="{99D6CDC1-F0F9-416A-9A3B-5492B33EA9BD}"/>
              </a:ext>
            </a:extLst>
          </p:cNvPr>
          <p:cNvSpPr txBox="1">
            <a:spLocks/>
          </p:cNvSpPr>
          <p:nvPr/>
        </p:nvSpPr>
        <p:spPr>
          <a:xfrm>
            <a:off x="311700" y="11369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b="1">
                <a:latin typeface="Nunito"/>
                <a:ea typeface="Nunito"/>
                <a:cs typeface="Nunito"/>
                <a:sym typeface="Nunito"/>
              </a:rPr>
              <a:t>Обзор типов задач в радиолокации</a:t>
            </a:r>
            <a:endParaRPr lang="ru-RU"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59658A8-484E-45C4-BF46-A01C22ABF89E}"/>
              </a:ext>
            </a:extLst>
          </p:cNvPr>
          <p:cNvSpPr/>
          <p:nvPr/>
        </p:nvSpPr>
        <p:spPr>
          <a:xfrm>
            <a:off x="450689" y="1256504"/>
            <a:ext cx="415521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buClr>
                <a:schemeClr val="dk1"/>
              </a:buClr>
              <a:buSzPts val="1900"/>
            </a:pPr>
            <a:r>
              <a:rPr lang="ru-RU" sz="18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Генерировать новые изображения</a:t>
            </a:r>
            <a:endParaRPr lang="ru-RU" sz="1800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79A3C5B-5BC9-4CDB-ABFD-301BEDBBE0B9}"/>
              </a:ext>
            </a:extLst>
          </p:cNvPr>
          <p:cNvSpPr/>
          <p:nvPr/>
        </p:nvSpPr>
        <p:spPr>
          <a:xfrm>
            <a:off x="450689" y="745753"/>
            <a:ext cx="32175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b="1" dirty="0">
                <a:solidFill>
                  <a:schemeClr val="tx1"/>
                </a:solidFill>
                <a:latin typeface="Nunito" panose="020B0604020202020204" charset="-52"/>
              </a:rPr>
              <a:t>Что вообще будем делать?</a:t>
            </a:r>
            <a:endParaRPr lang="ru-RU" sz="1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5A38CF-60E9-472B-9E6F-F1D5310CE9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70969" y="1701996"/>
            <a:ext cx="2772652" cy="293087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1F9F6D6-B328-409C-9257-02D8E53DD1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921" y="1696914"/>
            <a:ext cx="2927146" cy="2939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517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/>
          <p:cNvSpPr/>
          <p:nvPr/>
        </p:nvSpPr>
        <p:spPr>
          <a:xfrm>
            <a:off x="0" y="4663225"/>
            <a:ext cx="9144000" cy="480300"/>
          </a:xfrm>
          <a:prstGeom prst="rect">
            <a:avLst/>
          </a:prstGeom>
          <a:solidFill>
            <a:srgbClr val="006DB6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/>
          </p:nvPr>
        </p:nvSpPr>
        <p:spPr>
          <a:xfrm>
            <a:off x="311700" y="113696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Использование </a:t>
            </a:r>
            <a:r>
              <a:rPr lang="en-US" b="1" dirty="0">
                <a:latin typeface="Nunito"/>
                <a:ea typeface="Nunito"/>
                <a:cs typeface="Nunito"/>
                <a:sym typeface="Nunito"/>
              </a:rPr>
              <a:t>ML </a:t>
            </a:r>
            <a:r>
              <a:rPr lang="ru-RU" b="1" dirty="0">
                <a:latin typeface="Nunito"/>
                <a:ea typeface="Nunito"/>
                <a:cs typeface="Nunito"/>
                <a:sym typeface="Nunito"/>
              </a:rPr>
              <a:t>для задач радиолокации</a:t>
            </a:r>
            <a:endParaRPr b="1" dirty="0"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>
                <a:solidFill>
                  <a:schemeClr val="lt1"/>
                </a:solidFill>
              </a:rPr>
              <a:t>22</a:t>
            </a:fld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pic>
        <p:nvPicPr>
          <p:cNvPr id="116" name="Google Shape;116;p19"/>
          <p:cNvPicPr preferRelativeResize="0"/>
          <p:nvPr/>
        </p:nvPicPr>
        <p:blipFill rotWithShape="1">
          <a:blip r:embed="rId3">
            <a:alphaModFix/>
          </a:blip>
          <a:srcRect l="30316" t="32807" r="29285" b="24140"/>
          <a:stretch/>
        </p:blipFill>
        <p:spPr>
          <a:xfrm>
            <a:off x="0" y="4663227"/>
            <a:ext cx="450689" cy="48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9"/>
          <p:cNvPicPr preferRelativeResize="0"/>
          <p:nvPr/>
        </p:nvPicPr>
        <p:blipFill rotWithShape="1">
          <a:blip r:embed="rId4">
            <a:alphaModFix/>
          </a:blip>
          <a:srcRect l="3410" t="59058" r="2904" b="6827"/>
          <a:stretch/>
        </p:blipFill>
        <p:spPr>
          <a:xfrm>
            <a:off x="569750" y="4663225"/>
            <a:ext cx="1318847" cy="48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9"/>
          <p:cNvSpPr txBox="1">
            <a:spLocks noGrp="1"/>
          </p:cNvSpPr>
          <p:nvPr>
            <p:ph type="body" idx="1"/>
          </p:nvPr>
        </p:nvSpPr>
        <p:spPr>
          <a:xfrm>
            <a:off x="569749" y="686396"/>
            <a:ext cx="7579260" cy="39768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Преимущества: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Автоматическое извлечение признаков из сырых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Устойчивость к сложным помехам и адаптивность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Обработка больших объёмов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Потенциально лучшее качество работы по сравнению с классическими методами</a:t>
            </a:r>
          </a:p>
          <a:p>
            <a:pPr marL="393700" indent="-285750">
              <a:buClr>
                <a:schemeClr val="dk1"/>
              </a:buClr>
              <a:buSzPts val="1900"/>
            </a:pPr>
            <a:endParaRPr lang="ru-RU" sz="16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  <a:p>
            <a:pPr marL="107950" indent="0">
              <a:buClr>
                <a:schemeClr val="dk1"/>
              </a:buClr>
              <a:buSzPts val="1900"/>
              <a:buNone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Вызовы: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Мало размеченных и открытых данных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Дисбаланс классов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Интерпретируемость 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Вычислительная сложность </a:t>
            </a:r>
          </a:p>
          <a:p>
            <a:pPr marL="393700" indent="-285750">
              <a:buClr>
                <a:schemeClr val="dk1"/>
              </a:buClr>
              <a:buSzPts val="1900"/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chemeClr val="dk1"/>
                </a:solidFill>
                <a:latin typeface="Nunito"/>
                <a:ea typeface="Nunito"/>
                <a:cs typeface="Nunito"/>
                <a:sym typeface="Nunito"/>
              </a:rPr>
              <a:t>Физическая согласованность</a:t>
            </a:r>
          </a:p>
          <a:p>
            <a:pPr marL="107950" indent="0">
              <a:buClr>
                <a:schemeClr val="dk1"/>
              </a:buClr>
              <a:buSzPts val="1900"/>
              <a:buNone/>
            </a:pPr>
            <a:endParaRPr sz="1600" dirty="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" name="AutoShape 2" descr="Picture background">
            <a:extLst>
              <a:ext uri="{FF2B5EF4-FFF2-40B4-BE49-F238E27FC236}">
                <a16:creationId xmlns:a16="http://schemas.microsoft.com/office/drawing/2014/main" id="{CAA9AF63-E48E-4477-96E6-E1E8454FFC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" name="AutoShape 4" descr="Picture background">
            <a:extLst>
              <a:ext uri="{FF2B5EF4-FFF2-40B4-BE49-F238E27FC236}">
                <a16:creationId xmlns:a16="http://schemas.microsoft.com/office/drawing/2014/main" id="{D02C7DB8-760C-481F-8FE7-90F9C12841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1999" y="1385613"/>
            <a:ext cx="1490937" cy="14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07993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673</TotalTime>
  <Words>682</Words>
  <Application>Microsoft Office PowerPoint</Application>
  <PresentationFormat>Экран (16:9)</PresentationFormat>
  <Paragraphs>147</Paragraphs>
  <Slides>22</Slides>
  <Notes>22</Notes>
  <HiddenSlides>0</HiddenSlides>
  <MMClips>2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6" baseType="lpstr">
      <vt:lpstr>Arial</vt:lpstr>
      <vt:lpstr>Cambria Math</vt:lpstr>
      <vt:lpstr>Nunito</vt:lpstr>
      <vt:lpstr>Simple Light</vt:lpstr>
      <vt:lpstr> МФТИ, ПИШ РПИ Осень 2026/2027</vt:lpstr>
      <vt:lpstr>Информация о курсе </vt:lpstr>
      <vt:lpstr>Для чего нужен курс</vt:lpstr>
      <vt:lpstr>Программа курса</vt:lpstr>
      <vt:lpstr>Ключевые навыки по окончанию курса</vt:lpstr>
      <vt:lpstr>Система оценивания</vt:lpstr>
      <vt:lpstr>Контакты</vt:lpstr>
      <vt:lpstr>Необходимое ПО для прохождения курса</vt:lpstr>
      <vt:lpstr>С какими задачами  будем работать?</vt:lpstr>
      <vt:lpstr>Задачи</vt:lpstr>
      <vt:lpstr>Задача обнаружения (Detection)</vt:lpstr>
      <vt:lpstr>Задача классификации (Classification)</vt:lpstr>
      <vt:lpstr>Задача сопровождения (Tracking)</vt:lpstr>
      <vt:lpstr>Типы данных в радиолокации</vt:lpstr>
      <vt:lpstr>Машинное обучение в радиолокации</vt:lpstr>
      <vt:lpstr>Использование ML для задач радиолокации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Использование ML для задач радиолокации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#0: Вводная Лекция   Песоцкая Алиса МФТИ, ПИШ РПИ Осень 2026/2027</dc:title>
  <dc:creator>Михаил Гнатов</dc:creator>
  <cp:lastModifiedBy>Михаил Гнатов</cp:lastModifiedBy>
  <cp:revision>50</cp:revision>
  <dcterms:modified xsi:type="dcterms:W3CDTF">2026-09-02T09:56:23Z</dcterms:modified>
</cp:coreProperties>
</file>