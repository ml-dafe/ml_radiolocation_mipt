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87" r:id="rId4"/>
    <p:sldId id="259" r:id="rId5"/>
    <p:sldId id="271" r:id="rId6"/>
    <p:sldId id="266" r:id="rId7"/>
    <p:sldId id="285" r:id="rId8"/>
    <p:sldId id="286" r:id="rId9"/>
    <p:sldId id="261" r:id="rId10"/>
    <p:sldId id="268" r:id="rId11"/>
    <p:sldId id="278" r:id="rId12"/>
    <p:sldId id="282" r:id="rId13"/>
    <p:sldId id="283" r:id="rId14"/>
    <p:sldId id="281" r:id="rId15"/>
    <p:sldId id="284" r:id="rId16"/>
    <p:sldId id="279" r:id="rId17"/>
    <p:sldId id="276" r:id="rId18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0"/>
    </p:embeddedFont>
    <p:embeddedFont>
      <p:font typeface="Nunito" panose="020B0604020202020204" charset="-52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ладимир Д" initials="ВД" lastIdx="13" clrIdx="0">
    <p:extLst>
      <p:ext uri="{19B8F6BF-5375-455C-9EA6-DF929625EA0E}">
        <p15:presenceInfo xmlns:p15="http://schemas.microsoft.com/office/powerpoint/2012/main" userId="9d447c9bbd4df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B0B6F39-8058-48A1-B1E6-BB775B942AAB}">
  <a:tblStyle styleId="{2B0B6F39-8058-48A1-B1E6-BB775B942A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5" d="100"/>
          <a:sy n="205" d="100"/>
        </p:scale>
        <p:origin x="520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8-19T10:11:02.050" idx="13">
    <p:pos x="5564" y="72"/>
    <p:text>А что в заключении? :)
В целом, по количеству слайдов, как мне кажется - рассказ тут минут на 40-50. Может быть и нормально для первого занятия, может стоит сразу привести какие-то примеры применения машинного обучения в радиолокации, например. С картинками, чтобы студентам было нагляднее и про которые можно поговорить еще.
Может быть добавить слайд про важность выбора ML-архитектуры в зависимости от платформы, на которой необходимо решать задачу (может быть не в эту лекцию?)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68ea1e0c8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68ea1e0c8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48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72186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985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5419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8ea1e0c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68ea1e0c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77692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8ea1e0c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8ea1e0c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17040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8ea1e0c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8ea1e0c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8499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8ea1e0c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8ea1e0c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6706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8ea1e0c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8ea1e0c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127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8ea1e0c8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68ea1e0c8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5164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8ea1e0c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8ea1e0c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16522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8ea1e0c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8ea1e0c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5776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8ea1e0c8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68ea1e0c8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512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gnatov.ma@phystech.edu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comments" Target="../comments/commen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2359958"/>
            <a:ext cx="9144000" cy="2783691"/>
          </a:xfrm>
          <a:prstGeom prst="rect">
            <a:avLst/>
          </a:prstGeom>
          <a:solidFill>
            <a:srgbClr val="0069B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871950"/>
            <a:ext cx="8520600" cy="13625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Машинное</a:t>
            </a:r>
            <a:r>
              <a:rPr lang="en-GB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 </a:t>
            </a:r>
            <a:r>
              <a:rPr lang="ru-RU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о</a:t>
            </a:r>
            <a:r>
              <a:rPr lang="en-GB" sz="4400" dirty="0" err="1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бучение</a:t>
            </a:r>
            <a:endParaRPr lang="ru-RU" sz="4400" dirty="0">
              <a:solidFill>
                <a:schemeClr val="dk1"/>
              </a:solidFill>
              <a:latin typeface="Nunito" panose="020B0604020202020204" charset="-52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ru-RU" sz="4400" dirty="0">
                <a:solidFill>
                  <a:schemeClr val="dk1"/>
                </a:solidFill>
                <a:latin typeface="Nunito" panose="020B0604020202020204" charset="-52"/>
                <a:ea typeface="Nunito"/>
                <a:cs typeface="Nunito"/>
                <a:sym typeface="Nunito"/>
              </a:rPr>
              <a:t>в задачах радиолокации</a:t>
            </a:r>
            <a:endParaRPr sz="4400" dirty="0">
              <a:latin typeface="Nunito" panose="020B0604020202020204" charset="-52"/>
              <a:ea typeface="Nunito"/>
              <a:cs typeface="Nunito"/>
              <a:sym typeface="Nunit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t="31266" b="27950"/>
          <a:stretch/>
        </p:blipFill>
        <p:spPr>
          <a:xfrm>
            <a:off x="153000" y="147925"/>
            <a:ext cx="1775250" cy="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3282" y="202886"/>
            <a:ext cx="801467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11700" y="4271550"/>
            <a:ext cx="2359959" cy="78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b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МФТИ, ПИШ РПИ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Осень</a:t>
            </a:r>
            <a:r>
              <a:rPr lang="en-GB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2026/2027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68BDA-96CA-4ADC-BAD7-9D151CF9ADAA}"/>
              </a:ext>
            </a:extLst>
          </p:cNvPr>
          <p:cNvSpPr txBox="1"/>
          <p:nvPr/>
        </p:nvSpPr>
        <p:spPr>
          <a:xfrm>
            <a:off x="4276385" y="3324964"/>
            <a:ext cx="48205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Авторы:</a:t>
            </a:r>
          </a:p>
          <a:p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Гнатов Михаил Андреевич</a:t>
            </a:r>
          </a:p>
          <a:p>
            <a:r>
              <a:rPr lang="ru-RU" sz="2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Доброжанский</a:t>
            </a:r>
            <a:r>
              <a:rPr lang="ru-RU" sz="2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Владимир Алексеевич</a:t>
            </a:r>
            <a:endParaRPr lang="ru-RU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FBCDC-6F83-4920-A6D3-701104C497C5}"/>
              </a:ext>
            </a:extLst>
          </p:cNvPr>
          <p:cNvSpPr txBox="1"/>
          <p:nvPr/>
        </p:nvSpPr>
        <p:spPr>
          <a:xfrm>
            <a:off x="1973370" y="2491606"/>
            <a:ext cx="51972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#</a:t>
            </a:r>
            <a:r>
              <a:rPr lang="ru-RU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r>
              <a:rPr lang="en-GB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lang="en-GB" sz="4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Вводная</a:t>
            </a:r>
            <a:r>
              <a:rPr lang="en-GB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л</a:t>
            </a:r>
            <a:r>
              <a:rPr lang="en-GB" sz="4000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екция</a:t>
            </a:r>
            <a:r>
              <a:rPr lang="en-GB" sz="40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lang="ru-RU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2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ctrTitle"/>
          </p:nvPr>
        </p:nvSpPr>
        <p:spPr>
          <a:xfrm>
            <a:off x="0" y="2002050"/>
            <a:ext cx="9144000" cy="113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Информация</a:t>
            </a:r>
            <a:r>
              <a:rPr lang="en-GB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о </a:t>
            </a: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к</a:t>
            </a:r>
            <a:r>
              <a:rPr lang="en-GB" b="1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урсе</a:t>
            </a:r>
            <a:endParaRPr b="1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3696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Для чего нужен курс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53885"/>
            <a:ext cx="8520600" cy="3514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Познакомить с актуальными задачами радиолокации</a:t>
            </a:r>
          </a:p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Дать примеры применения методов машинного обучения на современных практических задачах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7010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3696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Программа</a:t>
            </a:r>
            <a:r>
              <a:rPr lang="en-GB" b="1" dirty="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GB" b="1" dirty="0" err="1">
                <a:latin typeface="Nunito"/>
                <a:ea typeface="Nunito"/>
                <a:cs typeface="Nunito"/>
                <a:sym typeface="Nunito"/>
              </a:rPr>
              <a:t>курса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053885"/>
            <a:ext cx="8520600" cy="35149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Задачи машинного обучения в радиолокации</a:t>
            </a:r>
          </a:p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Виды радиолокационных данных</a:t>
            </a:r>
            <a:endParaRPr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7200" lvl="0" indent="-3492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Решения задачи обнаружения</a:t>
            </a:r>
            <a:endParaRPr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Решения задачи классификации</a:t>
            </a:r>
          </a:p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Микро</a:t>
            </a: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допплеровский эффект</a:t>
            </a:r>
          </a:p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Решения задачи сопровождения</a:t>
            </a:r>
          </a:p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Генерация реалистичных данных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4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36967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Ключевые навыки по окончанию курса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942379"/>
            <a:ext cx="8520600" cy="35831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indent="-349250">
              <a:lnSpc>
                <a:spcPct val="120000"/>
              </a:lnSpc>
              <a:spcAft>
                <a:spcPts val="1200"/>
              </a:spcAft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Умение работать с учебными и реальными радиолокационными данными</a:t>
            </a:r>
          </a:p>
          <a:p>
            <a:pPr indent="-349250">
              <a:lnSpc>
                <a:spcPct val="120000"/>
              </a:lnSpc>
              <a:spcAft>
                <a:spcPts val="1200"/>
              </a:spcAft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Умение применять классические методы и оценивать качество их работы в некоторых задачах радиолокации</a:t>
            </a:r>
          </a:p>
          <a:p>
            <a:pPr indent="-349250">
              <a:lnSpc>
                <a:spcPct val="120000"/>
              </a:lnSpc>
              <a:spcAft>
                <a:spcPts val="1200"/>
              </a:spcAft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Умение обучать современные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ML-</a:t>
            </a: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модели и оценивать качество их работы в некоторых задачах радиолокации</a:t>
            </a:r>
          </a:p>
          <a:p>
            <a:pPr indent="-349250">
              <a:lnSpc>
                <a:spcPct val="120000"/>
              </a:lnSpc>
              <a:spcAft>
                <a:spcPts val="1200"/>
              </a:spcAft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Понимание, когда нужно применять классические методы, а когда использовать машинное обучение</a:t>
            </a: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81389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9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Система оценивания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972750"/>
            <a:ext cx="8520600" cy="35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lvl="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Формат: дифференцированный зачёт</a:t>
            </a:r>
            <a:endParaRPr lang="en-US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lvl="0"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Домашнее задание 1 (ДЗ1): до 3 баллов</a:t>
            </a:r>
          </a:p>
          <a:p>
            <a:pPr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Домашнее задание 2 (ДЗ2): до 3 баллов </a:t>
            </a:r>
          </a:p>
          <a:p>
            <a:pPr indent="-349250">
              <a:lnSpc>
                <a:spcPct val="150000"/>
              </a:lnSpc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Зачет: до 4 баллов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Итоговая оценка = ДЗ1 + ДЗ2 + Зачёт</a:t>
            </a:r>
            <a:endParaRPr lang="en-US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4710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9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Контакты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972750"/>
            <a:ext cx="8520600" cy="35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49250"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Чат в телеграмм: ?</a:t>
            </a:r>
          </a:p>
          <a:p>
            <a:pPr lvl="0" indent="-349250"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Почта: </a:t>
            </a: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gnatov.ma@phystech.edu</a:t>
            </a:r>
            <a:endParaRPr lang="en-US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lvl="0" indent="-349250"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GitHub </a:t>
            </a: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курса: ?</a:t>
            </a:r>
            <a:endParaRPr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4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5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6037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9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Необходимое ПО для прохождения курса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972750"/>
            <a:ext cx="8520600" cy="35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49250">
              <a:buClr>
                <a:schemeClr val="dk1"/>
              </a:buClr>
              <a:buSzPts val="1900"/>
              <a:buFont typeface="Nunito"/>
              <a:buAutoNum type="arabicPeriod"/>
            </a:pP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IDE </a:t>
            </a: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для работы с </a:t>
            </a:r>
            <a:r>
              <a:rPr lang="en-US" sz="19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ipynb</a:t>
            </a: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файлами </a:t>
            </a:r>
            <a:b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(например </a:t>
            </a:r>
            <a:r>
              <a:rPr lang="en-US" sz="19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Jupyter</a:t>
            </a: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/ Google </a:t>
            </a:r>
            <a:r>
              <a:rPr lang="en-US" sz="1900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Colab</a:t>
            </a: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/ PyCharm /</a:t>
            </a:r>
            <a:r>
              <a:rPr lang="ru-RU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9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VS Code)</a:t>
            </a:r>
            <a:endParaRPr lang="ru-RU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lvl="0" indent="-349250">
              <a:buClr>
                <a:schemeClr val="dk1"/>
              </a:buClr>
              <a:buSzPts val="1900"/>
              <a:buFont typeface="Nunito"/>
              <a:buAutoNum type="arabicPeriod"/>
            </a:pPr>
            <a:endParaRPr lang="en-US"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lvl="0" indent="-349250">
              <a:buClr>
                <a:schemeClr val="dk1"/>
              </a:buClr>
              <a:buSzPts val="1900"/>
              <a:buFont typeface="Nunito"/>
              <a:buAutoNum type="arabicPeriod"/>
            </a:pPr>
            <a:endParaRPr sz="19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8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7696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9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574629"/>
            <a:ext cx="9144000" cy="15668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С какими задачами </a:t>
            </a:r>
            <a:b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будем работать?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-1" y="805607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Задачи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10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569750" y="1841784"/>
            <a:ext cx="1862763" cy="5398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buClr>
                <a:schemeClr val="dk1"/>
              </a:buClr>
              <a:buSzPts val="1900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Обнаружение</a:t>
            </a:r>
            <a:endParaRPr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" name="AutoShape 4" descr="Picture background">
            <a:extLst>
              <a:ext uri="{FF2B5EF4-FFF2-40B4-BE49-F238E27FC236}">
                <a16:creationId xmlns:a16="http://schemas.microsoft.com/office/drawing/2014/main" id="{D02C7DB8-760C-481F-8FE7-90F9C1284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1385613"/>
            <a:ext cx="1490937" cy="14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" name="Google Shape;119;p19">
            <a:extLst>
              <a:ext uri="{FF2B5EF4-FFF2-40B4-BE49-F238E27FC236}">
                <a16:creationId xmlns:a16="http://schemas.microsoft.com/office/drawing/2014/main" id="{F84877F0-6A3D-4D73-A220-2F371444BC2F}"/>
              </a:ext>
            </a:extLst>
          </p:cNvPr>
          <p:cNvSpPr txBox="1">
            <a:spLocks/>
          </p:cNvSpPr>
          <p:nvPr/>
        </p:nvSpPr>
        <p:spPr>
          <a:xfrm>
            <a:off x="3501390" y="1790703"/>
            <a:ext cx="2141217" cy="538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07950" indent="0">
              <a:buClr>
                <a:schemeClr val="dk1"/>
              </a:buClr>
              <a:buSzPts val="1900"/>
              <a:buFont typeface="Arial"/>
              <a:buNone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Классификация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1F7A62-F4C1-440C-A7A1-784DE937EEBF}"/>
              </a:ext>
            </a:extLst>
          </p:cNvPr>
          <p:cNvSpPr/>
          <p:nvPr/>
        </p:nvSpPr>
        <p:spPr>
          <a:xfrm>
            <a:off x="6502047" y="1876416"/>
            <a:ext cx="19704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Сопровождение</a:t>
            </a:r>
            <a:endParaRPr lang="ru-RU" sz="1800" dirty="0"/>
          </a:p>
        </p:txBody>
      </p:sp>
      <p:sp>
        <p:nvSpPr>
          <p:cNvPr id="16" name="Google Shape;114;p19">
            <a:extLst>
              <a:ext uri="{FF2B5EF4-FFF2-40B4-BE49-F238E27FC236}">
                <a16:creationId xmlns:a16="http://schemas.microsoft.com/office/drawing/2014/main" id="{99D6CDC1-F0F9-416A-9A3B-5492B33EA9BD}"/>
              </a:ext>
            </a:extLst>
          </p:cNvPr>
          <p:cNvSpPr txBox="1">
            <a:spLocks/>
          </p:cNvSpPr>
          <p:nvPr/>
        </p:nvSpPr>
        <p:spPr>
          <a:xfrm>
            <a:off x="311700" y="11369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Обзор типов задач в радиолокации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037EFF-79E1-4C1B-ABFA-214AC28B8D90}"/>
              </a:ext>
            </a:extLst>
          </p:cNvPr>
          <p:cNvSpPr txBox="1"/>
          <p:nvPr/>
        </p:nvSpPr>
        <p:spPr>
          <a:xfrm>
            <a:off x="311699" y="2519098"/>
            <a:ext cx="2532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Nunito" panose="020B0604020202020204" charset="-52"/>
              </a:rPr>
              <a:t>Наличие или отсутствие объекта в заданной области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8F7689DF-33C6-4738-82E4-9E1FA7EA26CE}"/>
              </a:ext>
            </a:extLst>
          </p:cNvPr>
          <p:cNvCxnSpPr>
            <a:stCxn id="114" idx="2"/>
            <a:endCxn id="119" idx="0"/>
          </p:cNvCxnSpPr>
          <p:nvPr/>
        </p:nvCxnSpPr>
        <p:spPr>
          <a:xfrm flipH="1">
            <a:off x="1501132" y="1378307"/>
            <a:ext cx="3070867" cy="4634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3EBB046-9C5F-4854-A456-8CF69DC7BE19}"/>
              </a:ext>
            </a:extLst>
          </p:cNvPr>
          <p:cNvCxnSpPr>
            <a:endCxn id="13" idx="0"/>
          </p:cNvCxnSpPr>
          <p:nvPr/>
        </p:nvCxnSpPr>
        <p:spPr>
          <a:xfrm>
            <a:off x="4571998" y="1385611"/>
            <a:ext cx="1" cy="405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0A5DDEBF-A3E5-4912-9804-7FEF4E4A84BD}"/>
              </a:ext>
            </a:extLst>
          </p:cNvPr>
          <p:cNvCxnSpPr>
            <a:endCxn id="8" idx="0"/>
          </p:cNvCxnSpPr>
          <p:nvPr/>
        </p:nvCxnSpPr>
        <p:spPr>
          <a:xfrm>
            <a:off x="4571998" y="1385611"/>
            <a:ext cx="2915255" cy="490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15ACF48-2CAE-45C9-8878-C370910A584A}"/>
              </a:ext>
            </a:extLst>
          </p:cNvPr>
          <p:cNvSpPr txBox="1"/>
          <p:nvPr/>
        </p:nvSpPr>
        <p:spPr>
          <a:xfrm>
            <a:off x="3124953" y="2519058"/>
            <a:ext cx="3070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Nunito" panose="020B0604020202020204" charset="-52"/>
              </a:rPr>
              <a:t>Принадлежность обнаруженного объекта к определённому классу</a:t>
            </a:r>
            <a:endParaRPr lang="ru-RU" sz="1800" dirty="0">
              <a:latin typeface="Nunito" panose="020B0604020202020204" charset="-5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00D8D3-4BA1-4ABF-B94A-88CE5845C47C}"/>
              </a:ext>
            </a:extLst>
          </p:cNvPr>
          <p:cNvSpPr txBox="1"/>
          <p:nvPr/>
        </p:nvSpPr>
        <p:spPr>
          <a:xfrm>
            <a:off x="6366210" y="2571750"/>
            <a:ext cx="2566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Nunito" panose="020B0604020202020204" charset="-52"/>
              </a:rPr>
              <a:t>Периодическая оценка параметров движения объекта</a:t>
            </a:r>
            <a:endParaRPr lang="ru-RU" sz="1800" dirty="0">
              <a:latin typeface="Nunito" panose="020B060402020202020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28132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Задача обнаружения (</a:t>
            </a:r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Detection)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CAA9AF63-E48E-4477-96E6-E1E8454FF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Picture background">
            <a:extLst>
              <a:ext uri="{FF2B5EF4-FFF2-40B4-BE49-F238E27FC236}">
                <a16:creationId xmlns:a16="http://schemas.microsoft.com/office/drawing/2014/main" id="{D02C7DB8-760C-481F-8FE7-90F9C1284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1385613"/>
            <a:ext cx="1490937" cy="14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3746D5-601B-409B-9006-33AF94EF64A8}"/>
                  </a:ext>
                </a:extLst>
              </p:cNvPr>
              <p:cNvSpPr txBox="1"/>
              <p:nvPr/>
            </p:nvSpPr>
            <p:spPr>
              <a:xfrm>
                <a:off x="225344" y="985530"/>
                <a:ext cx="8292875" cy="30399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14300">
                  <a:lnSpc>
                    <a:spcPct val="150000"/>
                  </a:lnSpc>
                </a:pPr>
                <a:r>
                  <a:rPr lang="ru-RU" b="1" dirty="0">
                    <a:solidFill>
                      <a:schemeClr val="tx1"/>
                    </a:solidFill>
                    <a:latin typeface="Nunito" panose="020B0604020202020204" charset="-52"/>
                  </a:rPr>
                  <a:t>Цель:</a:t>
                </a:r>
                <a:r>
                  <a:rPr lang="ru-RU" dirty="0">
                    <a:solidFill>
                      <a:schemeClr val="tx1"/>
                    </a:solidFill>
                    <a:latin typeface="Nunito" panose="020B0604020202020204" charset="-52"/>
                  </a:rPr>
                  <a:t> Определить наличие объекта в наблюдаемой области.</a:t>
                </a:r>
              </a:p>
              <a:p>
                <a:pPr marL="114300">
                  <a:lnSpc>
                    <a:spcPct val="150000"/>
                  </a:lnSpc>
                </a:pPr>
                <a:r>
                  <a:rPr lang="ru-RU" b="1" dirty="0">
                    <a:solidFill>
                      <a:schemeClr val="tx1"/>
                    </a:solidFill>
                    <a:latin typeface="Nunito" panose="020B0604020202020204" charset="-52"/>
                  </a:rPr>
                  <a:t>Формулировка как задачи бинарной классификации:</a:t>
                </a:r>
              </a:p>
              <a:p>
                <a:pPr marL="4000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i="1" dirty="0">
                    <a:solidFill>
                      <a:schemeClr val="tx1"/>
                    </a:solidFill>
                    <a:latin typeface="Nunito" panose="020B0604020202020204" charset="-52"/>
                  </a:rPr>
                  <a:t>Гипотеза H0</a:t>
                </a:r>
                <a:r>
                  <a:rPr lang="ru-RU" dirty="0">
                    <a:solidFill>
                      <a:schemeClr val="tx1"/>
                    </a:solidFill>
                    <a:latin typeface="Nunito" panose="020B0604020202020204" charset="-52"/>
                  </a:rPr>
                  <a:t>​: цель отсутствует (только шум)</a:t>
                </a:r>
              </a:p>
              <a:p>
                <a:pPr marL="4000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i="1" dirty="0">
                    <a:solidFill>
                      <a:schemeClr val="tx1"/>
                    </a:solidFill>
                    <a:latin typeface="Nunito" panose="020B0604020202020204" charset="-52"/>
                  </a:rPr>
                  <a:t>Гипотеза H1</a:t>
                </a:r>
                <a:r>
                  <a:rPr lang="ru-RU" dirty="0">
                    <a:solidFill>
                      <a:schemeClr val="tx1"/>
                    </a:solidFill>
                    <a:latin typeface="Nunito" panose="020B0604020202020204" charset="-52"/>
                  </a:rPr>
                  <a:t>​: цель присутствует (сигнал + шум)</a:t>
                </a:r>
              </a:p>
              <a:p>
                <a:pPr marL="114300">
                  <a:lnSpc>
                    <a:spcPct val="150000"/>
                  </a:lnSpc>
                </a:pPr>
                <a:r>
                  <a:rPr lang="ru-RU" b="1" dirty="0">
                    <a:solidFill>
                      <a:schemeClr val="tx1"/>
                    </a:solidFill>
                    <a:latin typeface="Nunito" panose="020B0604020202020204" charset="-52"/>
                  </a:rPr>
                  <a:t>Классический подход:</a:t>
                </a:r>
                <a:r>
                  <a:rPr lang="ru-RU" dirty="0">
                    <a:solidFill>
                      <a:schemeClr val="tx1"/>
                    </a:solidFill>
                    <a:latin typeface="Nunito" panose="020B0604020202020204" charset="-52"/>
                  </a:rPr>
                  <a:t> </a:t>
                </a:r>
              </a:p>
              <a:p>
                <a:pPr marL="114300"/>
                <a:r>
                  <a:rPr lang="ru-RU" dirty="0">
                    <a:solidFill>
                      <a:schemeClr val="tx1"/>
                    </a:solidFill>
                    <a:latin typeface="Nunito" panose="020B0604020202020204" charset="-52"/>
                  </a:rPr>
                  <a:t>Пороговое обнаружение по критерию Неймана-Пирсона: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0" smtClean="0"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ctrlPr>
                          <a:rPr lang="el-G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sepChr m:val="∣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endParaRPr lang="ru-RU" dirty="0">
                  <a:solidFill>
                    <a:schemeClr val="tx1"/>
                  </a:solidFill>
                  <a:latin typeface="Nunito" panose="020B0604020202020204" charset="-52"/>
                </a:endParaRPr>
              </a:p>
              <a:p>
                <a:pPr marL="114300">
                  <a:lnSpc>
                    <a:spcPct val="150000"/>
                  </a:lnSpc>
                </a:pPr>
                <a:r>
                  <a:rPr lang="ru-RU" b="1" dirty="0">
                    <a:solidFill>
                      <a:schemeClr val="tx1"/>
                    </a:solidFill>
                    <a:latin typeface="Nunito" panose="020B0604020202020204" charset="-52"/>
                  </a:rPr>
                  <a:t>Метрики качества:</a:t>
                </a:r>
                <a:endParaRPr lang="ru-RU" dirty="0">
                  <a:solidFill>
                    <a:schemeClr val="tx1"/>
                  </a:solidFill>
                  <a:latin typeface="Nunito" panose="020B0604020202020204" charset="-52"/>
                </a:endParaRPr>
              </a:p>
              <a:p>
                <a:pPr marL="4000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tx1"/>
                    </a:solidFill>
                    <a:latin typeface="Nunito" panose="020B0604020202020204" charset="-52"/>
                  </a:rPr>
                  <a:t>Вероятность правильного обнаружения: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(решить 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1∣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1)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Nunito" panose="020B0604020202020204" charset="-52"/>
                </a:endParaRPr>
              </a:p>
              <a:p>
                <a:pPr marL="4000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tx1"/>
                    </a:solidFill>
                    <a:latin typeface="Nunito" panose="020B0604020202020204" charset="-52"/>
                  </a:rPr>
                  <a:t>Вероятность ложной тревоги: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ru-RU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sub>
                    </m:sSub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(решить 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1∣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ru-RU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0)</m:t>
                    </m:r>
                  </m:oMath>
                </a14:m>
                <a:endParaRPr lang="ru-RU" dirty="0">
                  <a:solidFill>
                    <a:schemeClr val="tx1"/>
                  </a:solidFill>
                  <a:latin typeface="Nunito" panose="020B0604020202020204" charset="-52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43746D5-601B-409B-9006-33AF94EF6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44" y="985530"/>
                <a:ext cx="8292875" cy="3039935"/>
              </a:xfrm>
              <a:prstGeom prst="rect">
                <a:avLst/>
              </a:prstGeom>
              <a:blipFill>
                <a:blip r:embed="rId5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191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Задача классификации (</a:t>
            </a:r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Classification)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12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Google Shape;119;p1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6976" y="908201"/>
                <a:ext cx="8311519" cy="3728892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marL="107950" indent="0">
                  <a:lnSpc>
                    <a:spcPct val="150000"/>
                  </a:lnSpc>
                  <a:buClr>
                    <a:schemeClr val="dk1"/>
                  </a:buClr>
                  <a:buSzPts val="1900"/>
                  <a:buNone/>
                </a:pPr>
                <a:r>
                  <a:rPr lang="ru-RU" sz="1400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Цель</a:t>
                </a:r>
                <a:r>
                  <a:rPr lang="ru-RU" sz="14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: Определить тип обнаруженного объекта (самолёт, вертолёт, БПЛА, автомобиль и т.д.)</a:t>
                </a:r>
              </a:p>
              <a:p>
                <a:pPr marL="107950" indent="0">
                  <a:lnSpc>
                    <a:spcPct val="150000"/>
                  </a:lnSpc>
                  <a:buClr>
                    <a:schemeClr val="dk1"/>
                  </a:buClr>
                  <a:buSzPts val="1900"/>
                  <a:buNone/>
                </a:pPr>
                <a:r>
                  <a:rPr lang="ru-RU" b="1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Классический подход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:</a:t>
                </a:r>
              </a:p>
              <a:p>
                <a:pPr marL="393700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sz="14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Извлечение признаков:</a:t>
                </a:r>
              </a:p>
              <a:p>
                <a:pPr marL="850900" lvl="1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ЭПР (эффективная площадь рассеяния)</a:t>
                </a:r>
              </a:p>
              <a:p>
                <a:pPr marL="850900" lvl="1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dirty="0" err="1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Микродоплеровские</a:t>
                </a: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 сигнатуры</a:t>
                </a:r>
              </a:p>
              <a:p>
                <a:pPr marL="850900" lvl="1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Спектральные характеристики</a:t>
                </a:r>
              </a:p>
              <a:p>
                <a:pPr marL="850900" lvl="1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Геометрические параметры</a:t>
                </a:r>
              </a:p>
              <a:p>
                <a:pPr marL="850900" lvl="1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Траекторные признаки</a:t>
                </a:r>
              </a:p>
              <a:p>
                <a:pPr marL="393700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sz="1400" dirty="0">
                    <a:solidFill>
                      <a:schemeClr val="dk1"/>
                    </a:solidFill>
                    <a:latin typeface="Nunito"/>
                    <a:ea typeface="Nunito"/>
                    <a:cs typeface="Nunito"/>
                    <a:sym typeface="Nunito"/>
                  </a:rPr>
                  <a:t>Классификация по ближайшему соседу, байесовские методы</a:t>
                </a:r>
              </a:p>
              <a:p>
                <a:pPr marL="393700" indent="-285750">
                  <a:lnSpc>
                    <a:spcPct val="150000"/>
                  </a:lnSpc>
                  <a:buClr>
                    <a:schemeClr val="dk1"/>
                  </a:buClr>
                  <a:buSzPct val="105000"/>
                  <a:buFont typeface="Arial" panose="020B0604020202020204" pitchFamily="34" charset="0"/>
                  <a:buChar char="•"/>
                </a:pPr>
                <a:r>
                  <a:rPr lang="ru-RU" sz="1400" b="1" dirty="0">
                    <a:solidFill>
                      <a:schemeClr val="tx1"/>
                    </a:solidFill>
                    <a:latin typeface="Nunito" panose="020B0604020202020204" charset="-52"/>
                  </a:rPr>
                  <a:t>Метрики качества: </a:t>
                </a:r>
                <a:r>
                  <a:rPr lang="ru-RU" sz="1400" dirty="0">
                    <a:solidFill>
                      <a:schemeClr val="tx1"/>
                    </a:solidFill>
                    <a:latin typeface="Nunito" panose="020B0604020202020204" charset="-52"/>
                  </a:rPr>
                  <a:t>Точность, полнота,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endParaRPr lang="en-US" sz="1400" dirty="0">
                  <a:solidFill>
                    <a:schemeClr val="tx1"/>
                  </a:solidFill>
                  <a:latin typeface="Nunito" panose="020B0604020202020204" charset="-52"/>
                </a:endParaRPr>
              </a:p>
            </p:txBody>
          </p:sp>
        </mc:Choice>
        <mc:Fallback xmlns="">
          <p:sp>
            <p:nvSpPr>
              <p:cNvPr id="119" name="Google Shape;119;p1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6976" y="908201"/>
                <a:ext cx="8311519" cy="37288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CAA9AF63-E48E-4477-96E6-E1E8454FF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Picture background">
            <a:extLst>
              <a:ext uri="{FF2B5EF4-FFF2-40B4-BE49-F238E27FC236}">
                <a16:creationId xmlns:a16="http://schemas.microsoft.com/office/drawing/2014/main" id="{D02C7DB8-760C-481F-8FE7-90F9C1284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1385613"/>
            <a:ext cx="1490937" cy="14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0020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Задача сопровождения (</a:t>
            </a:r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Tracking)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13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311700" y="886561"/>
            <a:ext cx="8051185" cy="34778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sz="14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Цель</a:t>
            </a:r>
            <a:r>
              <a:rPr lang="ru-RU" sz="14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Периодическая оценка параметров движения объекта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sz="14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Классический подход</a:t>
            </a:r>
            <a:r>
              <a:rPr lang="ru-RU" sz="14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Фильтр Калмана 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Метод ближайшего соседа 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Множественная гипотеза 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r>
              <a:rPr lang="ru-RU" sz="1400" b="1" dirty="0">
                <a:solidFill>
                  <a:schemeClr val="tx1"/>
                </a:solidFill>
                <a:latin typeface="Nunito" panose="020B0604020202020204" charset="-52"/>
              </a:rPr>
              <a:t>Метрики качества:</a:t>
            </a: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1"/>
                </a:solidFill>
                <a:latin typeface="Nunito" panose="020B0604020202020204" charset="-52"/>
              </a:rPr>
              <a:t>Точность и полнота отслеживания, количество пропусков, количество восстановленных траекторий после потери объекта</a:t>
            </a:r>
            <a:endParaRPr lang="en-US" sz="1400" dirty="0">
              <a:solidFill>
                <a:schemeClr val="tx1"/>
              </a:solidFill>
              <a:latin typeface="Nunito" panose="020B0604020202020204" charset="-52"/>
            </a:endParaRP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</a:pPr>
            <a:endParaRPr lang="en-US" sz="1400" dirty="0">
              <a:solidFill>
                <a:schemeClr val="tx1"/>
              </a:solidFill>
              <a:latin typeface="Nunito" panose="020B0604020202020204" charset="-52"/>
            </a:endParaRP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</a:pPr>
            <a:endParaRPr lang="ru-RU" sz="1400" dirty="0">
              <a:solidFill>
                <a:schemeClr val="tx1"/>
              </a:solidFill>
              <a:latin typeface="Nunito" panose="020B0604020202020204" charset="-52"/>
            </a:endParaRPr>
          </a:p>
          <a:p>
            <a:pPr marL="393700" indent="-285750">
              <a:lnSpc>
                <a:spcPct val="150000"/>
              </a:lnSpc>
              <a:buClr>
                <a:schemeClr val="dk1"/>
              </a:buClr>
              <a:buSzPts val="1900"/>
            </a:pPr>
            <a:endParaRPr lang="ru-RU" sz="14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CAA9AF63-E48E-4477-96E6-E1E8454FF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Picture background">
            <a:extLst>
              <a:ext uri="{FF2B5EF4-FFF2-40B4-BE49-F238E27FC236}">
                <a16:creationId xmlns:a16="http://schemas.microsoft.com/office/drawing/2014/main" id="{D02C7DB8-760C-481F-8FE7-90F9C1284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1385613"/>
            <a:ext cx="1490937" cy="14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252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0" y="452450"/>
            <a:ext cx="9144000" cy="46911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ctrTitle"/>
          </p:nvPr>
        </p:nvSpPr>
        <p:spPr>
          <a:xfrm>
            <a:off x="0" y="1577727"/>
            <a:ext cx="9144000" cy="15637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>
              <a:buSzPts val="990"/>
            </a:pPr>
            <a:r>
              <a:rPr lang="ru-RU" b="1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Машинное обучение в радиолокации</a:t>
            </a:r>
            <a:endParaRPr sz="2000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2865625" y="3973562"/>
            <a:ext cx="1015825" cy="108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205475" y="4048412"/>
            <a:ext cx="2561601" cy="932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325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Использование </a:t>
            </a:r>
            <a:r>
              <a:rPr lang="en-US" b="1" dirty="0">
                <a:latin typeface="Nunito"/>
                <a:ea typeface="Nunito"/>
                <a:cs typeface="Nunito"/>
                <a:sym typeface="Nunito"/>
              </a:rPr>
              <a:t>ML </a:t>
            </a: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для задач радиолокации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15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569749" y="686396"/>
            <a:ext cx="7579260" cy="3976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07950" indent="0"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Преимущества: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Автоматическое извлечение признаков из сырых данных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Устойчивость к сложным помехам и адаптивность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Обработка больших объёмов данных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Потенциально лучшее качество работы по сравнению с классическими методами</a:t>
            </a:r>
          </a:p>
          <a:p>
            <a:pPr marL="393700" indent="-285750">
              <a:buClr>
                <a:schemeClr val="dk1"/>
              </a:buClr>
              <a:buSzPts val="1900"/>
            </a:pPr>
            <a:endParaRPr lang="ru-RU"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107950" indent="0">
              <a:buClr>
                <a:schemeClr val="dk1"/>
              </a:buClr>
              <a:buSzPts val="1900"/>
              <a:buNone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Вызовы: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Мало размеченных и открытых данных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Дисбаланс классов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Интерпретируемость 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Вычислительная сложность </a:t>
            </a:r>
          </a:p>
          <a:p>
            <a:pPr marL="393700" indent="-285750">
              <a:buClr>
                <a:schemeClr val="dk1"/>
              </a:buClr>
              <a:buSzPts val="1900"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Физическая согласованность</a:t>
            </a:r>
          </a:p>
          <a:p>
            <a:pPr marL="107950" indent="0">
              <a:buClr>
                <a:schemeClr val="dk1"/>
              </a:buClr>
              <a:buSzPts val="1900"/>
              <a:buNone/>
            </a:pPr>
            <a:endParaRPr sz="160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CAA9AF63-E48E-4477-96E6-E1E8454FF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Picture background">
            <a:extLst>
              <a:ext uri="{FF2B5EF4-FFF2-40B4-BE49-F238E27FC236}">
                <a16:creationId xmlns:a16="http://schemas.microsoft.com/office/drawing/2014/main" id="{D02C7DB8-760C-481F-8FE7-90F9C1284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1385613"/>
            <a:ext cx="1490937" cy="14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5079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Типы данных в радиолокации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16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>
            <a:spLocks noGrp="1"/>
          </p:cNvSpPr>
          <p:nvPr>
            <p:ph type="body" idx="1"/>
          </p:nvPr>
        </p:nvSpPr>
        <p:spPr>
          <a:xfrm>
            <a:off x="260740" y="976393"/>
            <a:ext cx="8520600" cy="30035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I/Q данные (комплексные отсчёты)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Матрицы дальность-скорость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Спектрограммы</a:t>
            </a: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Профили дальности высокого разрешения (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HRRP)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Изображения с радиолокационной синтезированной  апертуры </a:t>
            </a:r>
            <a:r>
              <a:rPr lang="en-US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(SAR)</a:t>
            </a: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450850">
              <a:lnSpc>
                <a:spcPct val="150000"/>
              </a:lnSpc>
              <a:buClr>
                <a:schemeClr val="dk1"/>
              </a:buClr>
              <a:buSzPts val="1900"/>
              <a:buFont typeface="+mj-lt"/>
              <a:buAutoNum type="arabicPeriod"/>
            </a:pPr>
            <a:r>
              <a:rPr lang="ru-RU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Траектории (временные последовательности)</a:t>
            </a:r>
          </a:p>
          <a:p>
            <a:pPr marL="107950" indent="0">
              <a:lnSpc>
                <a:spcPct val="150000"/>
              </a:lnSpc>
              <a:buClr>
                <a:schemeClr val="dk1"/>
              </a:buClr>
              <a:buSzPts val="1900"/>
              <a:buNone/>
            </a:pPr>
            <a:endParaRPr lang="ru-RU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" name="AutoShape 2" descr="Picture background">
            <a:extLst>
              <a:ext uri="{FF2B5EF4-FFF2-40B4-BE49-F238E27FC236}">
                <a16:creationId xmlns:a16="http://schemas.microsoft.com/office/drawing/2014/main" id="{CAA9AF63-E48E-4477-96E6-E1E8454FFC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4" descr="Picture background">
            <a:extLst>
              <a:ext uri="{FF2B5EF4-FFF2-40B4-BE49-F238E27FC236}">
                <a16:creationId xmlns:a16="http://schemas.microsoft.com/office/drawing/2014/main" id="{D02C7DB8-760C-481F-8FE7-90F9C12841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1385613"/>
            <a:ext cx="1490937" cy="1490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227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4663225"/>
            <a:ext cx="9144000" cy="480300"/>
          </a:xfrm>
          <a:prstGeom prst="rect">
            <a:avLst/>
          </a:prstGeom>
          <a:solidFill>
            <a:srgbClr val="006DB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311700" y="1136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Nunito"/>
                <a:ea typeface="Nunito"/>
                <a:cs typeface="Nunito"/>
                <a:sym typeface="Nunito"/>
              </a:rPr>
              <a:t>Заключение</a:t>
            </a:r>
            <a:endParaRPr b="1" dirty="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" name="Google Shape;11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lt1"/>
                </a:solidFill>
              </a:rPr>
              <a:t>17</a:t>
            </a:fld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 rotWithShape="1">
          <a:blip r:embed="rId3">
            <a:alphaModFix/>
          </a:blip>
          <a:srcRect l="30316" t="32807" r="29285" b="24140"/>
          <a:stretch/>
        </p:blipFill>
        <p:spPr>
          <a:xfrm>
            <a:off x="0" y="4663227"/>
            <a:ext cx="450689" cy="4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/>
          <p:cNvPicPr preferRelativeResize="0"/>
          <p:nvPr/>
        </p:nvPicPr>
        <p:blipFill rotWithShape="1">
          <a:blip r:embed="rId4">
            <a:alphaModFix/>
          </a:blip>
          <a:srcRect l="3410" t="59058" r="2904" b="6827"/>
          <a:stretch/>
        </p:blipFill>
        <p:spPr>
          <a:xfrm>
            <a:off x="569750" y="4663225"/>
            <a:ext cx="1318847" cy="48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79017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532</Words>
  <Application>Microsoft Office PowerPoint</Application>
  <PresentationFormat>Экран (16:9)</PresentationFormat>
  <Paragraphs>114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Cambria Math</vt:lpstr>
      <vt:lpstr>Nunito</vt:lpstr>
      <vt:lpstr>Simple Light</vt:lpstr>
      <vt:lpstr> МФТИ, ПИШ РПИ Осень 2026/2027</vt:lpstr>
      <vt:lpstr>Информация о курсе </vt:lpstr>
      <vt:lpstr>Для чего нужен курс</vt:lpstr>
      <vt:lpstr>Программа курса</vt:lpstr>
      <vt:lpstr>Ключевые навыки по окончанию курса</vt:lpstr>
      <vt:lpstr>Система оценивания</vt:lpstr>
      <vt:lpstr>Контакты</vt:lpstr>
      <vt:lpstr>Необходимое ПО для прохождения курса</vt:lpstr>
      <vt:lpstr>С какими задачами  будем работать?</vt:lpstr>
      <vt:lpstr>Задачи</vt:lpstr>
      <vt:lpstr>Задача обнаружения (Detection)</vt:lpstr>
      <vt:lpstr>Задача классификации (Classification)</vt:lpstr>
      <vt:lpstr>Задача сопровождения (Tracking)</vt:lpstr>
      <vt:lpstr>Машинное обучение в радиолокации</vt:lpstr>
      <vt:lpstr>Использование ML для задач радиолокации</vt:lpstr>
      <vt:lpstr>Типы данных в радиолокации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#0: Вводная Лекция   Песоцкая Алиса МФТИ, ПИШ РПИ Осень 2026/2027</dc:title>
  <dc:creator>Михаил Гнатов</dc:creator>
  <cp:lastModifiedBy>Михаил Гнатов</cp:lastModifiedBy>
  <cp:revision>40</cp:revision>
  <dcterms:modified xsi:type="dcterms:W3CDTF">2026-08-25T12:28:23Z</dcterms:modified>
</cp:coreProperties>
</file>